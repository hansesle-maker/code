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26"/>
  </p:notesMasterIdLst>
  <p:handoutMasterIdLst>
    <p:handoutMasterId r:id="rId27"/>
  </p:handoutMasterIdLst>
  <p:sldIdLst>
    <p:sldId id="512" r:id="rId2"/>
    <p:sldId id="514" r:id="rId3"/>
    <p:sldId id="532" r:id="rId4"/>
    <p:sldId id="516" r:id="rId5"/>
    <p:sldId id="522" r:id="rId6"/>
    <p:sldId id="523" r:id="rId7"/>
    <p:sldId id="524" r:id="rId8"/>
    <p:sldId id="537" r:id="rId9"/>
    <p:sldId id="494" r:id="rId10"/>
    <p:sldId id="538" r:id="rId11"/>
    <p:sldId id="487" r:id="rId12"/>
    <p:sldId id="526" r:id="rId13"/>
    <p:sldId id="527" r:id="rId14"/>
    <p:sldId id="528" r:id="rId15"/>
    <p:sldId id="488" r:id="rId16"/>
    <p:sldId id="529" r:id="rId17"/>
    <p:sldId id="530" r:id="rId18"/>
    <p:sldId id="531" r:id="rId19"/>
    <p:sldId id="502" r:id="rId20"/>
    <p:sldId id="506" r:id="rId21"/>
    <p:sldId id="492" r:id="rId22"/>
    <p:sldId id="493" r:id="rId23"/>
    <p:sldId id="535" r:id="rId24"/>
    <p:sldId id="536" r:id="rId25"/>
  </p:sldIdLst>
  <p:sldSz cx="9144000" cy="6858000" type="screen4x3"/>
  <p:notesSz cx="6797675" cy="9926638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Violette RATAJCZAK" initials="VR" lastIdx="2" clrIdx="0">
    <p:extLst>
      <p:ext uri="{19B8F6BF-5375-455C-9EA6-DF929625EA0E}">
        <p15:presenceInfo xmlns:p15="http://schemas.microsoft.com/office/powerpoint/2012/main" userId="S-1-5-21-2500856291-355074790-2691697830-83893" providerId="AD"/>
      </p:ext>
    </p:extLst>
  </p:cmAuthor>
  <p:cmAuthor id="2" name="Nesrine Yahi" initials="NY" lastIdx="6" clrIdx="1">
    <p:extLst>
      <p:ext uri="{19B8F6BF-5375-455C-9EA6-DF929625EA0E}">
        <p15:presenceInfo xmlns:p15="http://schemas.microsoft.com/office/powerpoint/2012/main" userId="S-1-5-21-2052205201-80174691-1714775081-369724" providerId="AD"/>
      </p:ext>
    </p:extLst>
  </p:cmAuthor>
  <p:cmAuthor id="3" name="Guillaume Brunet-moret" initials="GB" lastIdx="2" clrIdx="2">
    <p:extLst>
      <p:ext uri="{19B8F6BF-5375-455C-9EA6-DF929625EA0E}">
        <p15:presenceInfo xmlns:p15="http://schemas.microsoft.com/office/powerpoint/2012/main" userId="S-1-5-21-2052205201-80174691-1714775081-280951" providerId="AD"/>
      </p:ext>
    </p:extLst>
  </p:cmAuthor>
  <p:cmAuthor id="4" name="Valerie Quint" initials="VQ" lastIdx="12" clrIdx="3">
    <p:extLst>
      <p:ext uri="{19B8F6BF-5375-455C-9EA6-DF929625EA0E}">
        <p15:presenceInfo xmlns:p15="http://schemas.microsoft.com/office/powerpoint/2012/main" userId="Valerie Quint" providerId="None"/>
      </p:ext>
    </p:extLst>
  </p:cmAuthor>
  <p:cmAuthor id="5" name="PAGE Florence" initials="PF" lastIdx="14" clrIdx="4">
    <p:extLst>
      <p:ext uri="{19B8F6BF-5375-455C-9EA6-DF929625EA0E}">
        <p15:presenceInfo xmlns:p15="http://schemas.microsoft.com/office/powerpoint/2012/main" userId="S-1-5-21-4147346910-969577421-708852614-2529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23F87"/>
    <a:srgbClr val="234088"/>
    <a:srgbClr val="F5A9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90A578D-EDCA-4A07-A540-373AC2A3B854}" v="2" dt="2025-01-13T06:29:39.24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35" autoAdjust="0"/>
    <p:restoredTop sz="96433" autoAdjust="0"/>
  </p:normalViewPr>
  <p:slideViewPr>
    <p:cSldViewPr snapToGrid="0">
      <p:cViewPr varScale="1">
        <p:scale>
          <a:sx n="86" d="100"/>
          <a:sy n="86" d="100"/>
        </p:scale>
        <p:origin x="965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49" d="100"/>
          <a:sy n="49" d="100"/>
        </p:scale>
        <p:origin x="2748" y="52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handoutMaster" Target="handoutMasters/handoutMaster1.xml"/><Relationship Id="rId28" Type="http://schemas.openxmlformats.org/officeDocument/2006/relationships/commentAuthors" Target="commentAuthors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Relationship Id="rId33" Type="http://schemas.microsoft.com/office/2016/11/relationships/changesInfo" Target="changesInfos/changesInfo1.xml"/><Relationship Id="rId3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n-Seok Hong" userId="3e0537da-f05e-418a-81d6-d2991637d3d8" providerId="ADAL" clId="{C11D6297-0061-4A99-91B9-731276EC46D9}"/>
    <pc:docChg chg="undo custSel modSld">
      <pc:chgData name="In-Seok Hong" userId="3e0537da-f05e-418a-81d6-d2991637d3d8" providerId="ADAL" clId="{C11D6297-0061-4A99-91B9-731276EC46D9}" dt="2021-12-20T07:21:48.272" v="177" actId="20577"/>
      <pc:docMkLst>
        <pc:docMk/>
      </pc:docMkLst>
      <pc:sldChg chg="modSp mod">
        <pc:chgData name="In-Seok Hong" userId="3e0537da-f05e-418a-81d6-d2991637d3d8" providerId="ADAL" clId="{C11D6297-0061-4A99-91B9-731276EC46D9}" dt="2021-12-20T07:20:17.804" v="114" actId="20577"/>
        <pc:sldMkLst>
          <pc:docMk/>
          <pc:sldMk cId="3553683870" sldId="512"/>
        </pc:sldMkLst>
      </pc:sldChg>
      <pc:sldChg chg="modSp mod">
        <pc:chgData name="In-Seok Hong" userId="3e0537da-f05e-418a-81d6-d2991637d3d8" providerId="ADAL" clId="{C11D6297-0061-4A99-91B9-731276EC46D9}" dt="2021-12-20T07:21:14.288" v="147" actId="20577"/>
        <pc:sldMkLst>
          <pc:docMk/>
          <pc:sldMk cId="3149543154" sldId="529"/>
        </pc:sldMkLst>
      </pc:sldChg>
      <pc:sldChg chg="modSp mod">
        <pc:chgData name="In-Seok Hong" userId="3e0537da-f05e-418a-81d6-d2991637d3d8" providerId="ADAL" clId="{C11D6297-0061-4A99-91B9-731276EC46D9}" dt="2021-12-20T07:21:48.272" v="177" actId="20577"/>
        <pc:sldMkLst>
          <pc:docMk/>
          <pc:sldMk cId="388184459" sldId="530"/>
        </pc:sldMkLst>
      </pc:sldChg>
    </pc:docChg>
  </pc:docChgLst>
  <pc:docChgLst>
    <pc:chgData name="Hyun-Ho Shim" userId="771ed496-9792-47a7-b137-0d219edd9b02" providerId="ADAL" clId="{E90A578D-EDCA-4A07-A540-373AC2A3B854}"/>
    <pc:docChg chg="custSel modSld modMainMaster">
      <pc:chgData name="Hyun-Ho Shim" userId="771ed496-9792-47a7-b137-0d219edd9b02" providerId="ADAL" clId="{E90A578D-EDCA-4A07-A540-373AC2A3B854}" dt="2025-01-13T06:29:48.558" v="10" actId="1076"/>
      <pc:docMkLst>
        <pc:docMk/>
      </pc:docMkLst>
      <pc:sldChg chg="modSp mod">
        <pc:chgData name="Hyun-Ho Shim" userId="771ed496-9792-47a7-b137-0d219edd9b02" providerId="ADAL" clId="{E90A578D-EDCA-4A07-A540-373AC2A3B854}" dt="2025-01-13T06:29:05.447" v="1" actId="20577"/>
        <pc:sldMkLst>
          <pc:docMk/>
          <pc:sldMk cId="3553683870" sldId="512"/>
        </pc:sldMkLst>
        <pc:spChg chg="mod">
          <ac:chgData name="Hyun-Ho Shim" userId="771ed496-9792-47a7-b137-0d219edd9b02" providerId="ADAL" clId="{E90A578D-EDCA-4A07-A540-373AC2A3B854}" dt="2025-01-13T06:29:05.447" v="1" actId="20577"/>
          <ac:spMkLst>
            <pc:docMk/>
            <pc:sldMk cId="3553683870" sldId="512"/>
            <ac:spMk id="4" creationId="{00000000-0000-0000-0000-000000000000}"/>
          </ac:spMkLst>
        </pc:spChg>
      </pc:sldChg>
      <pc:sldMasterChg chg="modSldLayout">
        <pc:chgData name="Hyun-Ho Shim" userId="771ed496-9792-47a7-b137-0d219edd9b02" providerId="ADAL" clId="{E90A578D-EDCA-4A07-A540-373AC2A3B854}" dt="2025-01-13T06:29:48.558" v="10" actId="1076"/>
        <pc:sldMasterMkLst>
          <pc:docMk/>
          <pc:sldMasterMk cId="997669380" sldId="2147483660"/>
        </pc:sldMasterMkLst>
        <pc:sldLayoutChg chg="addSp delSp modSp mod">
          <pc:chgData name="Hyun-Ho Shim" userId="771ed496-9792-47a7-b137-0d219edd9b02" providerId="ADAL" clId="{E90A578D-EDCA-4A07-A540-373AC2A3B854}" dt="2025-01-13T06:29:48.558" v="10" actId="1076"/>
          <pc:sldLayoutMkLst>
            <pc:docMk/>
            <pc:sldMasterMk cId="997669380" sldId="2147483660"/>
            <pc:sldLayoutMk cId="1379273984" sldId="2147483662"/>
          </pc:sldLayoutMkLst>
          <pc:picChg chg="del">
            <ac:chgData name="Hyun-Ho Shim" userId="771ed496-9792-47a7-b137-0d219edd9b02" providerId="ADAL" clId="{E90A578D-EDCA-4A07-A540-373AC2A3B854}" dt="2025-01-13T06:29:47.153" v="9" actId="478"/>
            <ac:picMkLst>
              <pc:docMk/>
              <pc:sldMasterMk cId="997669380" sldId="2147483660"/>
              <pc:sldLayoutMk cId="1379273984" sldId="2147483662"/>
              <ac:picMk id="4" creationId="{EE032594-EB55-D6DD-9D47-24DCC1B39735}"/>
            </ac:picMkLst>
          </pc:picChg>
          <pc:picChg chg="add mod">
            <ac:chgData name="Hyun-Ho Shim" userId="771ed496-9792-47a7-b137-0d219edd9b02" providerId="ADAL" clId="{E90A578D-EDCA-4A07-A540-373AC2A3B854}" dt="2025-01-13T06:29:48.558" v="10" actId="1076"/>
            <ac:picMkLst>
              <pc:docMk/>
              <pc:sldMasterMk cId="997669380" sldId="2147483660"/>
              <pc:sldLayoutMk cId="1379273984" sldId="2147483662"/>
              <ac:picMk id="5" creationId="{205D900A-F2F9-9177-3793-59BFC2EB8345}"/>
            </ac:picMkLst>
          </pc:picChg>
        </pc:sldLayoutChg>
        <pc:sldLayoutChg chg="addSp delSp modSp mod">
          <pc:chgData name="Hyun-Ho Shim" userId="771ed496-9792-47a7-b137-0d219edd9b02" providerId="ADAL" clId="{E90A578D-EDCA-4A07-A540-373AC2A3B854}" dt="2025-01-13T06:29:37.080" v="5" actId="1076"/>
          <pc:sldLayoutMkLst>
            <pc:docMk/>
            <pc:sldMasterMk cId="997669380" sldId="2147483660"/>
            <pc:sldLayoutMk cId="3731207513" sldId="2147483685"/>
          </pc:sldLayoutMkLst>
          <pc:picChg chg="del">
            <ac:chgData name="Hyun-Ho Shim" userId="771ed496-9792-47a7-b137-0d219edd9b02" providerId="ADAL" clId="{E90A578D-EDCA-4A07-A540-373AC2A3B854}" dt="2025-01-13T06:29:18.481" v="2" actId="478"/>
            <ac:picMkLst>
              <pc:docMk/>
              <pc:sldMasterMk cId="997669380" sldId="2147483660"/>
              <pc:sldLayoutMk cId="3731207513" sldId="2147483685"/>
              <ac:picMk id="2" creationId="{0330D844-44D3-6E2F-E798-7CF211453230}"/>
            </ac:picMkLst>
          </pc:picChg>
          <pc:picChg chg="add mod">
            <ac:chgData name="Hyun-Ho Shim" userId="771ed496-9792-47a7-b137-0d219edd9b02" providerId="ADAL" clId="{E90A578D-EDCA-4A07-A540-373AC2A3B854}" dt="2025-01-13T06:29:37.080" v="5" actId="1076"/>
            <ac:picMkLst>
              <pc:docMk/>
              <pc:sldMasterMk cId="997669380" sldId="2147483660"/>
              <pc:sldLayoutMk cId="3731207513" sldId="2147483685"/>
              <ac:picMk id="3" creationId="{446B6AB2-C3B0-FA51-61A2-9609F0E97FCA}"/>
            </ac:picMkLst>
          </pc:picChg>
        </pc:sldLayoutChg>
      </pc:sldMasterChg>
    </pc:docChg>
  </pc:docChgLst>
  <pc:docChgLst>
    <pc:chgData name="Hyun-Ho.Shim" userId="5169ee9a-32fd-42d4-9548-4bf731d14225" providerId="ADAL" clId="{F5466B14-E2F8-4041-982D-F592C8D6C2A6}"/>
    <pc:docChg chg="undo custSel modSld modMainMaster">
      <pc:chgData name="Hyun-Ho.Shim" userId="5169ee9a-32fd-42d4-9548-4bf731d14225" providerId="ADAL" clId="{F5466B14-E2F8-4041-982D-F592C8D6C2A6}" dt="2022-12-20T03:57:46.621" v="13" actId="478"/>
      <pc:docMkLst>
        <pc:docMk/>
      </pc:docMkLst>
      <pc:sldChg chg="modSp mod modClrScheme chgLayout">
        <pc:chgData name="Hyun-Ho.Shim" userId="5169ee9a-32fd-42d4-9548-4bf731d14225" providerId="ADAL" clId="{F5466B14-E2F8-4041-982D-F592C8D6C2A6}" dt="2022-12-20T03:55:10.747" v="3" actId="700"/>
        <pc:sldMkLst>
          <pc:docMk/>
          <pc:sldMk cId="3553683870" sldId="512"/>
        </pc:sldMkLst>
      </pc:sldChg>
      <pc:sldMasterChg chg="modSldLayout">
        <pc:chgData name="Hyun-Ho.Shim" userId="5169ee9a-32fd-42d4-9548-4bf731d14225" providerId="ADAL" clId="{F5466B14-E2F8-4041-982D-F592C8D6C2A6}" dt="2022-12-20T03:57:46.621" v="13" actId="478"/>
        <pc:sldMasterMkLst>
          <pc:docMk/>
          <pc:sldMasterMk cId="997669380" sldId="2147483660"/>
        </pc:sldMasterMkLst>
        <pc:sldLayoutChg chg="addSp delSp modSp mod">
          <pc:chgData name="Hyun-Ho.Shim" userId="5169ee9a-32fd-42d4-9548-4bf731d14225" providerId="ADAL" clId="{F5466B14-E2F8-4041-982D-F592C8D6C2A6}" dt="2022-12-20T03:57:13.454" v="9" actId="478"/>
          <pc:sldLayoutMkLst>
            <pc:docMk/>
            <pc:sldMasterMk cId="997669380" sldId="2147483660"/>
            <pc:sldLayoutMk cId="1379273984" sldId="2147483662"/>
          </pc:sldLayoutMkLst>
        </pc:sldLayoutChg>
        <pc:sldLayoutChg chg="addSp delSp modSp mod">
          <pc:chgData name="Hyun-Ho.Shim" userId="5169ee9a-32fd-42d4-9548-4bf731d14225" providerId="ADAL" clId="{F5466B14-E2F8-4041-982D-F592C8D6C2A6}" dt="2022-12-20T03:57:46.621" v="13" actId="478"/>
          <pc:sldLayoutMkLst>
            <pc:docMk/>
            <pc:sldMasterMk cId="997669380" sldId="2147483660"/>
            <pc:sldLayoutMk cId="3731207513" sldId="2147483685"/>
          </pc:sldLayoutMkLst>
        </pc:sldLayoutChg>
      </pc:sldMaster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6" y="3"/>
            <a:ext cx="2946065" cy="497410"/>
          </a:xfrm>
          <a:prstGeom prst="rect">
            <a:avLst/>
          </a:prstGeom>
        </p:spPr>
        <p:txBody>
          <a:bodyPr vert="horz" lIns="88195" tIns="44098" rIns="88195" bIns="44098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50095" y="3"/>
            <a:ext cx="2946065" cy="497410"/>
          </a:xfrm>
          <a:prstGeom prst="rect">
            <a:avLst/>
          </a:prstGeom>
        </p:spPr>
        <p:txBody>
          <a:bodyPr vert="horz" lIns="88195" tIns="44098" rIns="88195" bIns="44098" rtlCol="0"/>
          <a:lstStyle>
            <a:lvl1pPr algn="r">
              <a:defRPr sz="1200"/>
            </a:lvl1pPr>
          </a:lstStyle>
          <a:p>
            <a:fld id="{1BCD8D13-0B5D-4F04-BBB0-52C5DD19F761}" type="datetimeFigureOut">
              <a:rPr lang="fr-FR" smtClean="0"/>
              <a:t>13/01/2025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6" y="9429231"/>
            <a:ext cx="2946065" cy="497409"/>
          </a:xfrm>
          <a:prstGeom prst="rect">
            <a:avLst/>
          </a:prstGeom>
        </p:spPr>
        <p:txBody>
          <a:bodyPr vert="horz" lIns="88195" tIns="44098" rIns="88195" bIns="44098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50095" y="9429231"/>
            <a:ext cx="2946065" cy="497409"/>
          </a:xfrm>
          <a:prstGeom prst="rect">
            <a:avLst/>
          </a:prstGeom>
        </p:spPr>
        <p:txBody>
          <a:bodyPr vert="horz" lIns="88195" tIns="44098" rIns="88195" bIns="44098" rtlCol="0" anchor="b"/>
          <a:lstStyle>
            <a:lvl1pPr algn="r">
              <a:defRPr sz="1200"/>
            </a:lvl1pPr>
          </a:lstStyle>
          <a:p>
            <a:fld id="{CFF2EFC9-3F1A-4234-8845-EF8689C9A2CB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99480292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5" y="3"/>
            <a:ext cx="2945659" cy="498055"/>
          </a:xfrm>
          <a:prstGeom prst="rect">
            <a:avLst/>
          </a:prstGeom>
        </p:spPr>
        <p:txBody>
          <a:bodyPr vert="horz" lIns="95543" tIns="47771" rIns="95543" bIns="47771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50446" y="3"/>
            <a:ext cx="2945659" cy="498055"/>
          </a:xfrm>
          <a:prstGeom prst="rect">
            <a:avLst/>
          </a:prstGeom>
        </p:spPr>
        <p:txBody>
          <a:bodyPr vert="horz" lIns="95543" tIns="47771" rIns="95543" bIns="47771" rtlCol="0"/>
          <a:lstStyle>
            <a:lvl1pPr algn="r">
              <a:defRPr sz="1300"/>
            </a:lvl1pPr>
          </a:lstStyle>
          <a:p>
            <a:fld id="{E304A71C-ABE2-484B-B3F4-860A85DCF5E3}" type="datetimeFigureOut">
              <a:rPr lang="en-US" smtClean="0"/>
              <a:t>1/13/2025</a:t>
            </a:fld>
            <a:endParaRPr lang="en-US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66813" y="1241425"/>
            <a:ext cx="4464050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5543" tIns="47771" rIns="95543" bIns="47771" rtlCol="0" anchor="ctr"/>
          <a:lstStyle/>
          <a:p>
            <a:endParaRPr lang="en-US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79769" y="4777198"/>
            <a:ext cx="5438140" cy="3908614"/>
          </a:xfrm>
          <a:prstGeom prst="rect">
            <a:avLst/>
          </a:prstGeom>
        </p:spPr>
        <p:txBody>
          <a:bodyPr vert="horz" lIns="95543" tIns="47771" rIns="95543" bIns="47771" rtlCol="0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5" y="9428584"/>
            <a:ext cx="2945659" cy="498054"/>
          </a:xfrm>
          <a:prstGeom prst="rect">
            <a:avLst/>
          </a:prstGeom>
        </p:spPr>
        <p:txBody>
          <a:bodyPr vert="horz" lIns="95543" tIns="47771" rIns="95543" bIns="47771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50446" y="9428584"/>
            <a:ext cx="2945659" cy="498054"/>
          </a:xfrm>
          <a:prstGeom prst="rect">
            <a:avLst/>
          </a:prstGeom>
        </p:spPr>
        <p:txBody>
          <a:bodyPr vert="horz" lIns="95543" tIns="47771" rIns="95543" bIns="47771" rtlCol="0" anchor="b"/>
          <a:lstStyle>
            <a:lvl1pPr algn="r">
              <a:defRPr sz="1300"/>
            </a:lvl1pPr>
          </a:lstStyle>
          <a:p>
            <a:fld id="{30A3260B-A680-47D7-8E0F-EA878FDCA9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8574072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587324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189405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798199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957254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4243722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0178115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6429738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7675288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4633146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0715146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9056949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8264811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565937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9938127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5299115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14640984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microsoft.com/office/2007/relationships/hdphoto" Target="../media/hdphoto1.wdp"/><Relationship Id="rId4" Type="http://schemas.openxmlformats.org/officeDocument/2006/relationships/hyperlink" Target="https://www.forvismazars.com/kr" TargetMode="External"/><Relationship Id="rId5" Type="http://schemas.openxmlformats.org/officeDocument/2006/relationships/image" Target="../media/image8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2700337" y="6482400"/>
            <a:ext cx="2057400" cy="365125"/>
          </a:xfrm>
        </p:spPr>
        <p:txBody>
          <a:bodyPr/>
          <a:lstStyle/>
          <a:p>
            <a:fld id="{661E6E57-A11E-4CD0-AED6-15B700CC2E98}" type="slidenum">
              <a:rPr lang="fr-FR" smtClean="0"/>
              <a:t>‹#›</a:t>
            </a:fld>
            <a:endParaRPr lang="fr-FR" dirty="0"/>
          </a:p>
        </p:txBody>
      </p:sp>
      <p:pic>
        <p:nvPicPr>
          <p:cNvPr id="25" name="Image 24"/>
          <p:cNvPicPr>
            <a:picLocks noChangeAspect="1"/>
          </p:cNvPicPr>
          <p:nvPr/>
        </p:nvPicPr>
        <p:blipFill rotWithShape="1">
          <a:blip r:embed="rId2"/>
          <a:srcRect l="4366" r="6729"/>
          <a:stretch/>
        </p:blipFill>
        <p:spPr>
          <a:xfrm>
            <a:off x="94947" y="2677858"/>
            <a:ext cx="4204068" cy="2268828"/>
          </a:xfrm>
          <a:prstGeom prst="rect">
            <a:avLst/>
          </a:prstGeom>
        </p:spPr>
      </p:pic>
      <p:pic>
        <p:nvPicPr>
          <p:cNvPr id="26" name="Image 2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52" y="76861"/>
            <a:ext cx="4202562" cy="2520258"/>
          </a:xfrm>
          <a:prstGeom prst="rect">
            <a:avLst/>
          </a:prstGeom>
        </p:spPr>
      </p:pic>
      <p:pic>
        <p:nvPicPr>
          <p:cNvPr id="27" name="Image 26"/>
          <p:cNvPicPr>
            <a:picLocks noChangeAspect="1"/>
          </p:cNvPicPr>
          <p:nvPr/>
        </p:nvPicPr>
        <p:blipFill rotWithShape="1">
          <a:blip r:embed="rId4"/>
          <a:srcRect b="21521"/>
          <a:stretch/>
        </p:blipFill>
        <p:spPr>
          <a:xfrm>
            <a:off x="4363174" y="2411989"/>
            <a:ext cx="4663148" cy="2534018"/>
          </a:xfrm>
          <a:prstGeom prst="rect">
            <a:avLst/>
          </a:prstGeom>
        </p:spPr>
      </p:pic>
      <p:pic>
        <p:nvPicPr>
          <p:cNvPr id="28" name="Image 27"/>
          <p:cNvPicPr>
            <a:picLocks noChangeAspect="1"/>
          </p:cNvPicPr>
          <p:nvPr/>
        </p:nvPicPr>
        <p:blipFill rotWithShape="1">
          <a:blip r:embed="rId5"/>
          <a:srcRect l="4185" r="26501"/>
          <a:stretch/>
        </p:blipFill>
        <p:spPr>
          <a:xfrm>
            <a:off x="4363174" y="76862"/>
            <a:ext cx="4654080" cy="2267986"/>
          </a:xfrm>
          <a:prstGeom prst="rect">
            <a:avLst/>
          </a:prstGeom>
        </p:spPr>
      </p:pic>
      <p:pic>
        <p:nvPicPr>
          <p:cNvPr id="29" name="Image 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15270" y="2201148"/>
            <a:ext cx="1798619" cy="619692"/>
          </a:xfrm>
          <a:prstGeom prst="rect">
            <a:avLst/>
          </a:prstGeom>
          <a:solidFill>
            <a:srgbClr val="223F87"/>
          </a:solidFill>
          <a:ln>
            <a:noFill/>
          </a:ln>
        </p:spPr>
      </p:pic>
      <p:cxnSp>
        <p:nvCxnSpPr>
          <p:cNvPr id="30" name="Connecteur droit 29"/>
          <p:cNvCxnSpPr/>
          <p:nvPr/>
        </p:nvCxnSpPr>
        <p:spPr>
          <a:xfrm>
            <a:off x="96452" y="4173693"/>
            <a:ext cx="8920803" cy="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cteur droit 30"/>
          <p:cNvCxnSpPr/>
          <p:nvPr/>
        </p:nvCxnSpPr>
        <p:spPr>
          <a:xfrm>
            <a:off x="94946" y="4941723"/>
            <a:ext cx="8920803" cy="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necteur droit 31"/>
          <p:cNvCxnSpPr/>
          <p:nvPr/>
        </p:nvCxnSpPr>
        <p:spPr>
          <a:xfrm>
            <a:off x="113054" y="3429798"/>
            <a:ext cx="8920803" cy="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necteur droit 32"/>
          <p:cNvCxnSpPr/>
          <p:nvPr/>
        </p:nvCxnSpPr>
        <p:spPr>
          <a:xfrm>
            <a:off x="102497" y="1708135"/>
            <a:ext cx="8920803" cy="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necteur droit 33"/>
          <p:cNvCxnSpPr/>
          <p:nvPr/>
        </p:nvCxnSpPr>
        <p:spPr>
          <a:xfrm>
            <a:off x="102497" y="902370"/>
            <a:ext cx="8920803" cy="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necteur droit 34"/>
          <p:cNvCxnSpPr/>
          <p:nvPr/>
        </p:nvCxnSpPr>
        <p:spPr>
          <a:xfrm>
            <a:off x="1020858" y="86734"/>
            <a:ext cx="0" cy="5491703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necteur droit 36"/>
          <p:cNvCxnSpPr/>
          <p:nvPr/>
        </p:nvCxnSpPr>
        <p:spPr>
          <a:xfrm flipH="1">
            <a:off x="3252332" y="74668"/>
            <a:ext cx="2991" cy="552283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necteur droit 37"/>
          <p:cNvCxnSpPr/>
          <p:nvPr/>
        </p:nvCxnSpPr>
        <p:spPr>
          <a:xfrm flipH="1">
            <a:off x="5535750" y="82215"/>
            <a:ext cx="33608" cy="4858438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necteur droit 38"/>
          <p:cNvCxnSpPr/>
          <p:nvPr/>
        </p:nvCxnSpPr>
        <p:spPr>
          <a:xfrm flipH="1">
            <a:off x="6756451" y="71657"/>
            <a:ext cx="33608" cy="4858438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necteur droit 39"/>
          <p:cNvCxnSpPr/>
          <p:nvPr/>
        </p:nvCxnSpPr>
        <p:spPr>
          <a:xfrm flipH="1">
            <a:off x="7951510" y="80708"/>
            <a:ext cx="33608" cy="4858438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necteur droit 42"/>
          <p:cNvCxnSpPr/>
          <p:nvPr userDrawn="1"/>
        </p:nvCxnSpPr>
        <p:spPr>
          <a:xfrm flipH="1">
            <a:off x="2162528" y="80420"/>
            <a:ext cx="2991" cy="552283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그림 2">
            <a:extLst>
              <a:ext uri="{FF2B5EF4-FFF2-40B4-BE49-F238E27FC236}">
                <a16:creationId xmlns:a16="http://schemas.microsoft.com/office/drawing/2014/main" id="{446B6AB2-C3B0-FA51-61A2-9609F0E97FCA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7857633" y="6170796"/>
            <a:ext cx="1286367" cy="695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120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8798" y="96612"/>
            <a:ext cx="228600" cy="554495"/>
          </a:xfrm>
          <a:prstGeom prst="rect">
            <a:avLst/>
          </a:prstGeom>
          <a:solidFill>
            <a:srgbClr val="223F87"/>
          </a:solidFill>
        </p:spPr>
      </p:pic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2700337" y="6482398"/>
            <a:ext cx="2057400" cy="365125"/>
          </a:xfrm>
        </p:spPr>
        <p:txBody>
          <a:bodyPr/>
          <a:lstStyle/>
          <a:p>
            <a:fld id="{661E6E57-A11E-4CD0-AED6-15B700CC2E98}" type="slidenum">
              <a:rPr lang="fr-FR" smtClean="0"/>
              <a:t>‹#›</a:t>
            </a:fld>
            <a:endParaRPr lang="fr-FR" dirty="0"/>
          </a:p>
        </p:txBody>
      </p:sp>
      <p:pic>
        <p:nvPicPr>
          <p:cNvPr id="5" name="그림 4" descr="Blue text on a black background&#10;&#10;Description automatically generated">
            <a:hlinkClick r:id="rId4"/>
            <a:extLst>
              <a:ext uri="{FF2B5EF4-FFF2-40B4-BE49-F238E27FC236}">
                <a16:creationId xmlns:a16="http://schemas.microsoft.com/office/drawing/2014/main" id="{205D900A-F2F9-9177-3793-59BFC2EB8345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650" y="6192203"/>
            <a:ext cx="1287780" cy="69342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7927398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1E6E57-A11E-4CD0-AED6-15B700CC2E9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976693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62" r:id="rId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1E6E57-A11E-4CD0-AED6-15B700CC2E98}" type="slidenum">
              <a:rPr lang="fr-FR" smtClean="0"/>
              <a:t>1</a:t>
            </a:fld>
            <a:endParaRPr lang="fr-FR" dirty="0"/>
          </a:p>
        </p:txBody>
      </p:sp>
      <p:sp>
        <p:nvSpPr>
          <p:cNvPr id="3" name="Sous-titre 2"/>
          <p:cNvSpPr txBox="1">
            <a:spLocks/>
          </p:cNvSpPr>
          <p:nvPr/>
        </p:nvSpPr>
        <p:spPr>
          <a:xfrm>
            <a:off x="4300397" y="5080291"/>
            <a:ext cx="4608214" cy="833121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Closing : 31 / 12 / 2026</a:t>
            </a:r>
          </a:p>
        </p:txBody>
      </p:sp>
      <p:sp>
        <p:nvSpPr>
          <p:cNvPr id="4" name="ZoneTexte 3"/>
          <p:cNvSpPr txBox="1"/>
          <p:nvPr/>
        </p:nvSpPr>
        <p:spPr>
          <a:xfrm>
            <a:off x="235389" y="5097405"/>
            <a:ext cx="522384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b="1" dirty="0">
                <a:solidFill>
                  <a:srgbClr val="223F87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2026  </a:t>
            </a:r>
            <a:r>
              <a:rPr lang="en-US" sz="1600" b="1" dirty="0">
                <a:solidFill>
                  <a:srgbClr val="223F87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Year-End</a:t>
            </a:r>
            <a:r>
              <a:rPr lang="ko-KR" altLang="en-US" sz="1600" b="1" dirty="0">
                <a:solidFill>
                  <a:srgbClr val="223F87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ko-KR" sz="1600" b="1" dirty="0">
                <a:solidFill>
                  <a:srgbClr val="223F87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Audit</a:t>
            </a:r>
            <a:r>
              <a:rPr lang="ko-KR" altLang="en-US" sz="1600" b="1" dirty="0">
                <a:solidFill>
                  <a:srgbClr val="223F87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fr-FR" sz="1600" b="1" dirty="0">
              <a:solidFill>
                <a:srgbClr val="223F87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fr-FR" sz="1600" b="1" dirty="0">
                <a:solidFill>
                  <a:srgbClr val="223F87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/>
            </a:r>
            <a:r>
              <a:rPr lang="en-US" sz="1600" b="1" dirty="0">
                <a:solidFill>
                  <a:srgbClr val="223F87"/>
                </a:solidFill>
                <a:latin typeface="+mj-lt"/>
              </a:rPr>
              <a:t>Summary</a:t>
            </a:r>
            <a:r>
              <a:rPr lang="fr-FR" sz="1600" b="1" dirty="0">
                <a:solidFill>
                  <a:srgbClr val="223F87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/>
            </a:r>
            <a:r>
              <a:rPr lang="en-US" sz="1600" b="1" dirty="0">
                <a:solidFill>
                  <a:srgbClr val="223F87"/>
                </a:solidFill>
                <a:latin typeface="+mj-lt"/>
              </a:rPr>
              <a:t> Memorandum 2026</a:t>
            </a:r>
          </a:p>
          <a:p>
            <a:r>
              <a:rPr lang="fr-FR" sz="1200" b="1" dirty="0">
                <a:solidFill>
                  <a:srgbClr val="223F87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/>
            </a:r>
            <a:r>
              <a:rPr lang="fr-FR" sz="1200" b="1" dirty="0" err="1">
                <a:solidFill>
                  <a:srgbClr val="223F87"/>
                </a:solidFill>
                <a:latin typeface="+mj-lt"/>
              </a:rPr>
              <a:t>IN04</a:t>
            </a:r>
            <a:r>
              <a:rPr lang="fr-FR" sz="1200" b="1" dirty="0">
                <a:solidFill>
                  <a:srgbClr val="223F87"/>
                </a:solidFill>
                <a:latin typeface="+mj-lt"/>
              </a:rPr>
              <a:t/>
            </a:r>
            <a:r>
              <a:rPr lang="fr-FR" sz="1200" b="1" dirty="0">
                <a:solidFill>
                  <a:srgbClr val="223F87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/>
            </a:r>
          </a:p>
          <a:p>
            <a:r>
              <a:rPr lang="fr-FR" sz="1200" b="1" dirty="0">
                <a:solidFill>
                  <a:srgbClr val="223F87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[</a:t>
            </a:r>
            <a:r>
              <a:rPr lang="fr-FR" sz="1200" b="1" dirty="0">
                <a:solidFill>
                  <a:srgbClr val="223F87"/>
                </a:solidFill>
                <a:latin typeface="+mj-lt"/>
              </a:rPr>
              <a:t>Business Group</a:t>
            </a:r>
            <a:r>
              <a:rPr lang="fr-FR" sz="1200" b="1" dirty="0">
                <a:solidFill>
                  <a:srgbClr val="223F87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]</a:t>
            </a:r>
          </a:p>
          <a:p>
            <a:endParaRPr lang="fr-FR" sz="1200" b="1" dirty="0">
              <a:solidFill>
                <a:srgbClr val="223F87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600" b="1" i="1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For discussion purposes</a:t>
            </a:r>
          </a:p>
        </p:txBody>
      </p:sp>
    </p:spTree>
    <p:extLst>
      <p:ext uri="{BB962C8B-B14F-4D97-AF65-F5344CB8AC3E}">
        <p14:creationId xmlns:p14="http://schemas.microsoft.com/office/powerpoint/2010/main" val="35536838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1"/>
          <p:cNvSpPr txBox="1">
            <a:spLocks/>
          </p:cNvSpPr>
          <p:nvPr/>
        </p:nvSpPr>
        <p:spPr>
          <a:xfrm>
            <a:off x="323528" y="50376"/>
            <a:ext cx="8554658" cy="850106"/>
          </a:xfrm>
          <a:prstGeom prst="rect">
            <a:avLst/>
          </a:prstGeom>
        </p:spPr>
        <p:txBody>
          <a:bodyPr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700" b="1" dirty="0">
                <a:solidFill>
                  <a:prstClr val="black"/>
                </a:solidFill>
              </a:rPr>
              <a:t>Summary</a:t>
            </a:r>
          </a:p>
          <a:p>
            <a:pPr algn="l"/>
            <a:endParaRPr lang="en-US" sz="1600" b="1" dirty="0">
              <a:solidFill>
                <a:prstClr val="black"/>
              </a:solidFill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>
          <a:xfrm>
            <a:off x="2700337" y="6482398"/>
            <a:ext cx="2057400" cy="365125"/>
          </a:xfrm>
        </p:spPr>
        <p:txBody>
          <a:bodyPr/>
          <a:lstStyle/>
          <a:p>
            <a:fld id="{661E6E57-A11E-4CD0-AED6-15B700CC2E98}" type="slidenum">
              <a:rPr lang="fr-FR" smtClean="0">
                <a:latin typeface="EYInterstate Light" panose="02000506000000020004" pitchFamily="2" charset="0"/>
              </a:rPr>
              <a:t>2</a:t>
            </a:fld>
            <a:endParaRPr lang="fr-FR" dirty="0">
              <a:latin typeface="EYInterstate Light" panose="02000506000000020004" pitchFamily="2" charset="0"/>
            </a:endParaRPr>
          </a:p>
        </p:txBody>
      </p:sp>
      <p:sp>
        <p:nvSpPr>
          <p:cNvPr id="5" name="ZoneTexte 4"/>
          <p:cNvSpPr txBox="1"/>
          <p:nvPr/>
        </p:nvSpPr>
        <p:spPr>
          <a:xfrm>
            <a:off x="463274" y="1336950"/>
            <a:ext cx="8012317" cy="41857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b="1" dirty="0" err="1">
                <a:solidFill>
                  <a:srgbClr val="223F87"/>
                </a:solidFill>
                <a:latin typeface="+mj-lt"/>
              </a:rPr>
              <a:t>Context</a:t>
            </a:r>
            <a:r>
              <a:rPr lang="fr-FR" sz="1400" b="1" dirty="0">
                <a:solidFill>
                  <a:srgbClr val="223F87"/>
                </a:solidFill>
                <a:latin typeface="+mj-lt"/>
              </a:rPr>
              <a:t>	</a:t>
            </a:r>
            <a:r>
              <a:rPr lang="fr-FR" sz="1400" dirty="0">
                <a:latin typeface="+mj-lt"/>
              </a:rPr>
              <a:t>							X</a:t>
            </a:r>
          </a:p>
          <a:p>
            <a:endParaRPr lang="fr-FR" sz="1400" dirty="0">
              <a:latin typeface="+mj-lt"/>
            </a:endParaRPr>
          </a:p>
          <a:p>
            <a:r>
              <a:rPr lang="en-US" sz="1400" b="1" dirty="0">
                <a:solidFill>
                  <a:srgbClr val="223F87"/>
                </a:solidFill>
                <a:latin typeface="+mj-lt"/>
              </a:rPr>
              <a:t>Accounting and auditing issues						</a:t>
            </a:r>
            <a:endParaRPr lang="fr-FR" sz="1400" dirty="0">
              <a:latin typeface="+mj-lt"/>
            </a:endParaRPr>
          </a:p>
          <a:p>
            <a:r>
              <a:rPr lang="fr-FR" sz="1400" dirty="0">
                <a:latin typeface="+mj-lt"/>
              </a:rPr>
              <a:t>New issues </a:t>
            </a:r>
            <a:r>
              <a:rPr lang="fr-FR" sz="1400" dirty="0" err="1">
                <a:latin typeface="+mj-lt"/>
              </a:rPr>
              <a:t>identified</a:t>
            </a:r>
            <a:r>
              <a:rPr lang="fr-FR" sz="1400" dirty="0">
                <a:latin typeface="+mj-lt"/>
              </a:rPr>
              <a:t>							X</a:t>
            </a:r>
          </a:p>
          <a:p>
            <a:r>
              <a:rPr lang="fr-FR" sz="1400" dirty="0" err="1">
                <a:latin typeface="+mj-lt"/>
              </a:rPr>
              <a:t>Follow</a:t>
            </a:r>
            <a:r>
              <a:rPr lang="fr-FR" sz="1400" dirty="0">
                <a:latin typeface="+mj-lt"/>
              </a:rPr>
              <a:t>-up of issues </a:t>
            </a:r>
            <a:r>
              <a:rPr lang="fr-FR" sz="1400" dirty="0" err="1">
                <a:latin typeface="+mj-lt"/>
              </a:rPr>
              <a:t>previously</a:t>
            </a:r>
            <a:r>
              <a:rPr lang="fr-FR" sz="1400" dirty="0">
                <a:latin typeface="+mj-lt"/>
              </a:rPr>
              <a:t> </a:t>
            </a:r>
            <a:r>
              <a:rPr lang="fr-FR" sz="1400" dirty="0" err="1">
                <a:latin typeface="+mj-lt"/>
              </a:rPr>
              <a:t>identified</a:t>
            </a:r>
            <a:r>
              <a:rPr lang="fr-FR" sz="1400" dirty="0">
                <a:latin typeface="+mj-lt"/>
              </a:rPr>
              <a:t>					X</a:t>
            </a:r>
          </a:p>
          <a:p>
            <a:r>
              <a:rPr lang="fr-FR" sz="1400" dirty="0" err="1">
                <a:latin typeface="+mj-lt"/>
              </a:rPr>
              <a:t>Other</a:t>
            </a:r>
            <a:r>
              <a:rPr lang="fr-FR" sz="1400" dirty="0">
                <a:latin typeface="+mj-lt"/>
              </a:rPr>
              <a:t> issues								X</a:t>
            </a:r>
          </a:p>
          <a:p>
            <a:endParaRPr lang="fr-FR" sz="1400" dirty="0">
              <a:latin typeface="+mj-lt"/>
            </a:endParaRPr>
          </a:p>
          <a:p>
            <a:r>
              <a:rPr lang="en-US" sz="1400" b="1" dirty="0">
                <a:solidFill>
                  <a:srgbClr val="223F87"/>
                </a:solidFill>
                <a:latin typeface="+mj-lt"/>
              </a:rPr>
              <a:t>Conclusions</a:t>
            </a:r>
          </a:p>
          <a:p>
            <a:r>
              <a:rPr lang="en-US" sz="1400" dirty="0">
                <a:latin typeface="+mj-lt"/>
              </a:rPr>
              <a:t>Outstanding items							X</a:t>
            </a:r>
          </a:p>
          <a:p>
            <a:r>
              <a:rPr lang="en-US" sz="1400" dirty="0">
                <a:latin typeface="+mj-lt"/>
              </a:rPr>
              <a:t>Summary of audit differences (“SAD”)						X</a:t>
            </a:r>
          </a:p>
          <a:p>
            <a:r>
              <a:rPr lang="en-US" sz="1400" dirty="0">
                <a:latin typeface="+mj-lt"/>
              </a:rPr>
              <a:t>Conclusion								X</a:t>
            </a:r>
          </a:p>
          <a:p>
            <a:endParaRPr lang="en-US" sz="1400" b="1" dirty="0">
              <a:solidFill>
                <a:srgbClr val="223F87"/>
              </a:solidFill>
              <a:latin typeface="+mj-lt"/>
            </a:endParaRPr>
          </a:p>
          <a:p>
            <a:r>
              <a:rPr lang="en-US" sz="1400" b="1" dirty="0">
                <a:solidFill>
                  <a:srgbClr val="223F87"/>
                </a:solidFill>
                <a:latin typeface="+mj-lt"/>
              </a:rPr>
              <a:t>Appendices</a:t>
            </a:r>
            <a:r>
              <a:rPr lang="en-US" sz="1400" b="1" dirty="0">
                <a:solidFill>
                  <a:srgbClr val="223F87"/>
                </a:solidFill>
              </a:rPr>
              <a:t>						</a:t>
            </a:r>
            <a:endParaRPr lang="fr-FR" sz="1400" dirty="0"/>
          </a:p>
          <a:p>
            <a:r>
              <a:rPr lang="fr-FR" sz="1400" dirty="0">
                <a:latin typeface="+mj-lt"/>
              </a:rPr>
              <a:t>P&amp;L </a:t>
            </a:r>
            <a:r>
              <a:rPr lang="fr-FR" sz="1400" dirty="0" err="1">
                <a:latin typeface="+mj-lt"/>
              </a:rPr>
              <a:t>analytical</a:t>
            </a:r>
            <a:r>
              <a:rPr lang="fr-FR" sz="1400" dirty="0">
                <a:latin typeface="+mj-lt"/>
              </a:rPr>
              <a:t> </a:t>
            </a:r>
            <a:r>
              <a:rPr lang="fr-FR" sz="1400" dirty="0" err="1">
                <a:latin typeface="+mj-lt"/>
              </a:rPr>
              <a:t>review</a:t>
            </a:r>
            <a:r>
              <a:rPr lang="fr-FR" sz="1400" dirty="0">
                <a:latin typeface="+mj-lt"/>
              </a:rPr>
              <a:t>							X</a:t>
            </a:r>
          </a:p>
          <a:p>
            <a:r>
              <a:rPr lang="fr-FR" sz="1400" dirty="0">
                <a:latin typeface="+mj-lt"/>
              </a:rPr>
              <a:t>Balance </a:t>
            </a:r>
            <a:r>
              <a:rPr lang="fr-FR" sz="1400" dirty="0" err="1">
                <a:latin typeface="+mj-lt"/>
              </a:rPr>
              <a:t>sheet</a:t>
            </a:r>
            <a:r>
              <a:rPr lang="fr-FR" sz="1400" dirty="0">
                <a:latin typeface="+mj-lt"/>
              </a:rPr>
              <a:t> </a:t>
            </a:r>
            <a:r>
              <a:rPr lang="fr-FR" sz="1400" dirty="0" err="1">
                <a:latin typeface="+mj-lt"/>
              </a:rPr>
              <a:t>review</a:t>
            </a:r>
            <a:r>
              <a:rPr lang="fr-FR" sz="1400" dirty="0">
                <a:latin typeface="+mj-lt"/>
              </a:rPr>
              <a:t>							X</a:t>
            </a:r>
          </a:p>
          <a:p>
            <a:r>
              <a:rPr lang="fr-FR" sz="1400" dirty="0">
                <a:latin typeface="+mj-lt"/>
              </a:rPr>
              <a:t>Programs </a:t>
            </a:r>
            <a:r>
              <a:rPr lang="fr-FR" sz="1400" dirty="0" err="1">
                <a:latin typeface="+mj-lt"/>
              </a:rPr>
              <a:t>review</a:t>
            </a:r>
            <a:r>
              <a:rPr lang="fr-FR" sz="1400" dirty="0">
                <a:latin typeface="+mj-lt"/>
              </a:rPr>
              <a:t>							X</a:t>
            </a:r>
          </a:p>
          <a:p>
            <a:r>
              <a:rPr lang="fr-FR" sz="1400" dirty="0">
                <a:latin typeface="+mj-lt"/>
              </a:rPr>
              <a:t>Revenue recognition </a:t>
            </a:r>
            <a:r>
              <a:rPr lang="fr-FR" sz="1400" dirty="0" err="1">
                <a:latin typeface="+mj-lt"/>
              </a:rPr>
              <a:t>review</a:t>
            </a:r>
            <a:r>
              <a:rPr lang="fr-FR" sz="1400" dirty="0">
                <a:latin typeface="+mj-lt"/>
              </a:rPr>
              <a:t>						X</a:t>
            </a:r>
          </a:p>
          <a:p>
            <a:r>
              <a:rPr lang="fr-FR" sz="1400" dirty="0" err="1">
                <a:latin typeface="+mj-lt"/>
              </a:rPr>
              <a:t>Equity</a:t>
            </a:r>
            <a:r>
              <a:rPr lang="fr-FR" sz="1400" dirty="0">
                <a:latin typeface="+mj-lt"/>
              </a:rPr>
              <a:t> </a:t>
            </a:r>
            <a:r>
              <a:rPr lang="fr-FR" sz="1400" dirty="0" err="1">
                <a:latin typeface="+mj-lt"/>
              </a:rPr>
              <a:t>reconciliation</a:t>
            </a:r>
            <a:r>
              <a:rPr lang="fr-FR" sz="1400" dirty="0">
                <a:latin typeface="+mj-lt"/>
              </a:rPr>
              <a:t>							X</a:t>
            </a:r>
          </a:p>
          <a:p>
            <a:endParaRPr lang="fr-FR" sz="1400" dirty="0">
              <a:latin typeface="+mj-lt"/>
            </a:endParaRPr>
          </a:p>
        </p:txBody>
      </p:sp>
      <p:sp>
        <p:nvSpPr>
          <p:cNvPr id="16" name="Freeform 858"/>
          <p:cNvSpPr>
            <a:spLocks noChangeAspect="1" noEditPoints="1"/>
          </p:cNvSpPr>
          <p:nvPr/>
        </p:nvSpPr>
        <p:spPr bwMode="auto">
          <a:xfrm>
            <a:off x="5219222" y="5660766"/>
            <a:ext cx="180000" cy="180000"/>
          </a:xfrm>
          <a:custGeom>
            <a:avLst/>
            <a:gdLst>
              <a:gd name="T0" fmla="*/ 352 w 512"/>
              <a:gd name="T1" fmla="*/ 146 h 512"/>
              <a:gd name="T2" fmla="*/ 352 w 512"/>
              <a:gd name="T3" fmla="*/ 260 h 512"/>
              <a:gd name="T4" fmla="*/ 263 w 512"/>
              <a:gd name="T5" fmla="*/ 259 h 512"/>
              <a:gd name="T6" fmla="*/ 208 w 512"/>
              <a:gd name="T7" fmla="*/ 236 h 512"/>
              <a:gd name="T8" fmla="*/ 160 w 512"/>
              <a:gd name="T9" fmla="*/ 248 h 512"/>
              <a:gd name="T10" fmla="*/ 160 w 512"/>
              <a:gd name="T11" fmla="*/ 134 h 512"/>
              <a:gd name="T12" fmla="*/ 248 w 512"/>
              <a:gd name="T13" fmla="*/ 135 h 512"/>
              <a:gd name="T14" fmla="*/ 352 w 512"/>
              <a:gd name="T15" fmla="*/ 146 h 512"/>
              <a:gd name="T16" fmla="*/ 512 w 512"/>
              <a:gd name="T17" fmla="*/ 256 h 512"/>
              <a:gd name="T18" fmla="*/ 256 w 512"/>
              <a:gd name="T19" fmla="*/ 512 h 512"/>
              <a:gd name="T20" fmla="*/ 0 w 512"/>
              <a:gd name="T21" fmla="*/ 256 h 512"/>
              <a:gd name="T22" fmla="*/ 256 w 512"/>
              <a:gd name="T23" fmla="*/ 0 h 512"/>
              <a:gd name="T24" fmla="*/ 512 w 512"/>
              <a:gd name="T25" fmla="*/ 256 h 512"/>
              <a:gd name="T26" fmla="*/ 373 w 512"/>
              <a:gd name="T27" fmla="*/ 128 h 512"/>
              <a:gd name="T28" fmla="*/ 367 w 512"/>
              <a:gd name="T29" fmla="*/ 118 h 512"/>
              <a:gd name="T30" fmla="*/ 356 w 512"/>
              <a:gd name="T31" fmla="*/ 119 h 512"/>
              <a:gd name="T32" fmla="*/ 263 w 512"/>
              <a:gd name="T33" fmla="*/ 120 h 512"/>
              <a:gd name="T34" fmla="*/ 143 w 512"/>
              <a:gd name="T35" fmla="*/ 119 h 512"/>
              <a:gd name="T36" fmla="*/ 138 w 512"/>
              <a:gd name="T37" fmla="*/ 128 h 512"/>
              <a:gd name="T38" fmla="*/ 138 w 512"/>
              <a:gd name="T39" fmla="*/ 384 h 512"/>
              <a:gd name="T40" fmla="*/ 149 w 512"/>
              <a:gd name="T41" fmla="*/ 394 h 512"/>
              <a:gd name="T42" fmla="*/ 160 w 512"/>
              <a:gd name="T43" fmla="*/ 384 h 512"/>
              <a:gd name="T44" fmla="*/ 160 w 512"/>
              <a:gd name="T45" fmla="*/ 272 h 512"/>
              <a:gd name="T46" fmla="*/ 248 w 512"/>
              <a:gd name="T47" fmla="*/ 274 h 512"/>
              <a:gd name="T48" fmla="*/ 368 w 512"/>
              <a:gd name="T49" fmla="*/ 275 h 512"/>
              <a:gd name="T50" fmla="*/ 373 w 512"/>
              <a:gd name="T51" fmla="*/ 266 h 512"/>
              <a:gd name="T52" fmla="*/ 373 w 512"/>
              <a:gd name="T53" fmla="*/ 128 h 5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512" h="512">
                <a:moveTo>
                  <a:pt x="352" y="146"/>
                </a:moveTo>
                <a:cubicBezTo>
                  <a:pt x="352" y="260"/>
                  <a:pt x="352" y="260"/>
                  <a:pt x="352" y="260"/>
                </a:cubicBezTo>
                <a:cubicBezTo>
                  <a:pt x="337" y="268"/>
                  <a:pt x="293" y="288"/>
                  <a:pt x="263" y="259"/>
                </a:cubicBezTo>
                <a:cubicBezTo>
                  <a:pt x="247" y="242"/>
                  <a:pt x="227" y="236"/>
                  <a:pt x="208" y="236"/>
                </a:cubicBezTo>
                <a:cubicBezTo>
                  <a:pt x="191" y="236"/>
                  <a:pt x="173" y="242"/>
                  <a:pt x="160" y="248"/>
                </a:cubicBezTo>
                <a:cubicBezTo>
                  <a:pt x="160" y="134"/>
                  <a:pt x="160" y="134"/>
                  <a:pt x="160" y="134"/>
                </a:cubicBezTo>
                <a:cubicBezTo>
                  <a:pt x="174" y="126"/>
                  <a:pt x="218" y="105"/>
                  <a:pt x="248" y="135"/>
                </a:cubicBezTo>
                <a:cubicBezTo>
                  <a:pt x="280" y="167"/>
                  <a:pt x="323" y="159"/>
                  <a:pt x="352" y="146"/>
                </a:cubicBezTo>
                <a:close/>
                <a:moveTo>
                  <a:pt x="512" y="256"/>
                </a:moveTo>
                <a:cubicBezTo>
                  <a:pt x="512" y="397"/>
                  <a:pt x="397" y="512"/>
                  <a:pt x="256" y="512"/>
                </a:cubicBezTo>
                <a:cubicBezTo>
                  <a:pt x="114" y="512"/>
                  <a:pt x="0" y="397"/>
                  <a:pt x="0" y="256"/>
                </a:cubicBezTo>
                <a:cubicBezTo>
                  <a:pt x="0" y="114"/>
                  <a:pt x="114" y="0"/>
                  <a:pt x="256" y="0"/>
                </a:cubicBezTo>
                <a:cubicBezTo>
                  <a:pt x="397" y="0"/>
                  <a:pt x="512" y="114"/>
                  <a:pt x="512" y="256"/>
                </a:cubicBezTo>
                <a:close/>
                <a:moveTo>
                  <a:pt x="373" y="128"/>
                </a:moveTo>
                <a:cubicBezTo>
                  <a:pt x="373" y="124"/>
                  <a:pt x="371" y="120"/>
                  <a:pt x="367" y="118"/>
                </a:cubicBezTo>
                <a:cubicBezTo>
                  <a:pt x="364" y="116"/>
                  <a:pt x="360" y="117"/>
                  <a:pt x="356" y="119"/>
                </a:cubicBezTo>
                <a:cubicBezTo>
                  <a:pt x="356" y="119"/>
                  <a:pt x="299" y="156"/>
                  <a:pt x="263" y="120"/>
                </a:cubicBezTo>
                <a:cubicBezTo>
                  <a:pt x="224" y="81"/>
                  <a:pt x="167" y="102"/>
                  <a:pt x="143" y="119"/>
                </a:cubicBezTo>
                <a:cubicBezTo>
                  <a:pt x="140" y="121"/>
                  <a:pt x="138" y="124"/>
                  <a:pt x="138" y="128"/>
                </a:cubicBezTo>
                <a:cubicBezTo>
                  <a:pt x="138" y="384"/>
                  <a:pt x="138" y="384"/>
                  <a:pt x="138" y="384"/>
                </a:cubicBezTo>
                <a:cubicBezTo>
                  <a:pt x="138" y="390"/>
                  <a:pt x="143" y="394"/>
                  <a:pt x="149" y="394"/>
                </a:cubicBezTo>
                <a:cubicBezTo>
                  <a:pt x="155" y="394"/>
                  <a:pt x="160" y="390"/>
                  <a:pt x="160" y="384"/>
                </a:cubicBezTo>
                <a:cubicBezTo>
                  <a:pt x="160" y="272"/>
                  <a:pt x="160" y="272"/>
                  <a:pt x="160" y="272"/>
                </a:cubicBezTo>
                <a:cubicBezTo>
                  <a:pt x="174" y="264"/>
                  <a:pt x="217" y="243"/>
                  <a:pt x="248" y="274"/>
                </a:cubicBezTo>
                <a:cubicBezTo>
                  <a:pt x="286" y="312"/>
                  <a:pt x="343" y="292"/>
                  <a:pt x="368" y="275"/>
                </a:cubicBezTo>
                <a:cubicBezTo>
                  <a:pt x="371" y="273"/>
                  <a:pt x="373" y="270"/>
                  <a:pt x="373" y="266"/>
                </a:cubicBezTo>
                <a:lnTo>
                  <a:pt x="373" y="128"/>
                </a:lnTo>
                <a:close/>
              </a:path>
            </a:pathLst>
          </a:custGeom>
          <a:solidFill>
            <a:srgbClr val="FF0000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/>
          </a:p>
        </p:txBody>
      </p:sp>
      <p:sp>
        <p:nvSpPr>
          <p:cNvPr id="17" name="Freeform 858"/>
          <p:cNvSpPr>
            <a:spLocks noChangeAspect="1" noEditPoints="1"/>
          </p:cNvSpPr>
          <p:nvPr/>
        </p:nvSpPr>
        <p:spPr bwMode="auto">
          <a:xfrm>
            <a:off x="5219222" y="5926391"/>
            <a:ext cx="180000" cy="180000"/>
          </a:xfrm>
          <a:custGeom>
            <a:avLst/>
            <a:gdLst>
              <a:gd name="T0" fmla="*/ 352 w 512"/>
              <a:gd name="T1" fmla="*/ 146 h 512"/>
              <a:gd name="T2" fmla="*/ 352 w 512"/>
              <a:gd name="T3" fmla="*/ 260 h 512"/>
              <a:gd name="T4" fmla="*/ 263 w 512"/>
              <a:gd name="T5" fmla="*/ 259 h 512"/>
              <a:gd name="T6" fmla="*/ 208 w 512"/>
              <a:gd name="T7" fmla="*/ 236 h 512"/>
              <a:gd name="T8" fmla="*/ 160 w 512"/>
              <a:gd name="T9" fmla="*/ 248 h 512"/>
              <a:gd name="T10" fmla="*/ 160 w 512"/>
              <a:gd name="T11" fmla="*/ 134 h 512"/>
              <a:gd name="T12" fmla="*/ 248 w 512"/>
              <a:gd name="T13" fmla="*/ 135 h 512"/>
              <a:gd name="T14" fmla="*/ 352 w 512"/>
              <a:gd name="T15" fmla="*/ 146 h 512"/>
              <a:gd name="T16" fmla="*/ 512 w 512"/>
              <a:gd name="T17" fmla="*/ 256 h 512"/>
              <a:gd name="T18" fmla="*/ 256 w 512"/>
              <a:gd name="T19" fmla="*/ 512 h 512"/>
              <a:gd name="T20" fmla="*/ 0 w 512"/>
              <a:gd name="T21" fmla="*/ 256 h 512"/>
              <a:gd name="T22" fmla="*/ 256 w 512"/>
              <a:gd name="T23" fmla="*/ 0 h 512"/>
              <a:gd name="T24" fmla="*/ 512 w 512"/>
              <a:gd name="T25" fmla="*/ 256 h 512"/>
              <a:gd name="T26" fmla="*/ 373 w 512"/>
              <a:gd name="T27" fmla="*/ 128 h 512"/>
              <a:gd name="T28" fmla="*/ 367 w 512"/>
              <a:gd name="T29" fmla="*/ 118 h 512"/>
              <a:gd name="T30" fmla="*/ 356 w 512"/>
              <a:gd name="T31" fmla="*/ 119 h 512"/>
              <a:gd name="T32" fmla="*/ 263 w 512"/>
              <a:gd name="T33" fmla="*/ 120 h 512"/>
              <a:gd name="T34" fmla="*/ 143 w 512"/>
              <a:gd name="T35" fmla="*/ 119 h 512"/>
              <a:gd name="T36" fmla="*/ 138 w 512"/>
              <a:gd name="T37" fmla="*/ 128 h 512"/>
              <a:gd name="T38" fmla="*/ 138 w 512"/>
              <a:gd name="T39" fmla="*/ 384 h 512"/>
              <a:gd name="T40" fmla="*/ 149 w 512"/>
              <a:gd name="T41" fmla="*/ 394 h 512"/>
              <a:gd name="T42" fmla="*/ 160 w 512"/>
              <a:gd name="T43" fmla="*/ 384 h 512"/>
              <a:gd name="T44" fmla="*/ 160 w 512"/>
              <a:gd name="T45" fmla="*/ 272 h 512"/>
              <a:gd name="T46" fmla="*/ 248 w 512"/>
              <a:gd name="T47" fmla="*/ 274 h 512"/>
              <a:gd name="T48" fmla="*/ 368 w 512"/>
              <a:gd name="T49" fmla="*/ 275 h 512"/>
              <a:gd name="T50" fmla="*/ 373 w 512"/>
              <a:gd name="T51" fmla="*/ 266 h 512"/>
              <a:gd name="T52" fmla="*/ 373 w 512"/>
              <a:gd name="T53" fmla="*/ 128 h 5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512" h="512">
                <a:moveTo>
                  <a:pt x="352" y="146"/>
                </a:moveTo>
                <a:cubicBezTo>
                  <a:pt x="352" y="260"/>
                  <a:pt x="352" y="260"/>
                  <a:pt x="352" y="260"/>
                </a:cubicBezTo>
                <a:cubicBezTo>
                  <a:pt x="337" y="268"/>
                  <a:pt x="293" y="288"/>
                  <a:pt x="263" y="259"/>
                </a:cubicBezTo>
                <a:cubicBezTo>
                  <a:pt x="247" y="242"/>
                  <a:pt x="227" y="236"/>
                  <a:pt x="208" y="236"/>
                </a:cubicBezTo>
                <a:cubicBezTo>
                  <a:pt x="191" y="236"/>
                  <a:pt x="173" y="242"/>
                  <a:pt x="160" y="248"/>
                </a:cubicBezTo>
                <a:cubicBezTo>
                  <a:pt x="160" y="134"/>
                  <a:pt x="160" y="134"/>
                  <a:pt x="160" y="134"/>
                </a:cubicBezTo>
                <a:cubicBezTo>
                  <a:pt x="174" y="126"/>
                  <a:pt x="218" y="105"/>
                  <a:pt x="248" y="135"/>
                </a:cubicBezTo>
                <a:cubicBezTo>
                  <a:pt x="280" y="167"/>
                  <a:pt x="323" y="159"/>
                  <a:pt x="352" y="146"/>
                </a:cubicBezTo>
                <a:close/>
                <a:moveTo>
                  <a:pt x="512" y="256"/>
                </a:moveTo>
                <a:cubicBezTo>
                  <a:pt x="512" y="397"/>
                  <a:pt x="397" y="512"/>
                  <a:pt x="256" y="512"/>
                </a:cubicBezTo>
                <a:cubicBezTo>
                  <a:pt x="114" y="512"/>
                  <a:pt x="0" y="397"/>
                  <a:pt x="0" y="256"/>
                </a:cubicBezTo>
                <a:cubicBezTo>
                  <a:pt x="0" y="114"/>
                  <a:pt x="114" y="0"/>
                  <a:pt x="256" y="0"/>
                </a:cubicBezTo>
                <a:cubicBezTo>
                  <a:pt x="397" y="0"/>
                  <a:pt x="512" y="114"/>
                  <a:pt x="512" y="256"/>
                </a:cubicBezTo>
                <a:close/>
                <a:moveTo>
                  <a:pt x="373" y="128"/>
                </a:moveTo>
                <a:cubicBezTo>
                  <a:pt x="373" y="124"/>
                  <a:pt x="371" y="120"/>
                  <a:pt x="367" y="118"/>
                </a:cubicBezTo>
                <a:cubicBezTo>
                  <a:pt x="364" y="116"/>
                  <a:pt x="360" y="117"/>
                  <a:pt x="356" y="119"/>
                </a:cubicBezTo>
                <a:cubicBezTo>
                  <a:pt x="356" y="119"/>
                  <a:pt x="299" y="156"/>
                  <a:pt x="263" y="120"/>
                </a:cubicBezTo>
                <a:cubicBezTo>
                  <a:pt x="224" y="81"/>
                  <a:pt x="167" y="102"/>
                  <a:pt x="143" y="119"/>
                </a:cubicBezTo>
                <a:cubicBezTo>
                  <a:pt x="140" y="121"/>
                  <a:pt x="138" y="124"/>
                  <a:pt x="138" y="128"/>
                </a:cubicBezTo>
                <a:cubicBezTo>
                  <a:pt x="138" y="384"/>
                  <a:pt x="138" y="384"/>
                  <a:pt x="138" y="384"/>
                </a:cubicBezTo>
                <a:cubicBezTo>
                  <a:pt x="138" y="390"/>
                  <a:pt x="143" y="394"/>
                  <a:pt x="149" y="394"/>
                </a:cubicBezTo>
                <a:cubicBezTo>
                  <a:pt x="155" y="394"/>
                  <a:pt x="160" y="390"/>
                  <a:pt x="160" y="384"/>
                </a:cubicBezTo>
                <a:cubicBezTo>
                  <a:pt x="160" y="272"/>
                  <a:pt x="160" y="272"/>
                  <a:pt x="160" y="272"/>
                </a:cubicBezTo>
                <a:cubicBezTo>
                  <a:pt x="174" y="264"/>
                  <a:pt x="217" y="243"/>
                  <a:pt x="248" y="274"/>
                </a:cubicBezTo>
                <a:cubicBezTo>
                  <a:pt x="286" y="312"/>
                  <a:pt x="343" y="292"/>
                  <a:pt x="368" y="275"/>
                </a:cubicBezTo>
                <a:cubicBezTo>
                  <a:pt x="371" y="273"/>
                  <a:pt x="373" y="270"/>
                  <a:pt x="373" y="266"/>
                </a:cubicBezTo>
                <a:lnTo>
                  <a:pt x="373" y="128"/>
                </a:lnTo>
                <a:close/>
              </a:path>
            </a:pathLst>
          </a:custGeom>
          <a:solidFill>
            <a:srgbClr val="FFC000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/>
          </a:p>
        </p:txBody>
      </p:sp>
      <p:sp>
        <p:nvSpPr>
          <p:cNvPr id="18" name="Freeform 858"/>
          <p:cNvSpPr>
            <a:spLocks noChangeAspect="1" noEditPoints="1"/>
          </p:cNvSpPr>
          <p:nvPr/>
        </p:nvSpPr>
        <p:spPr bwMode="auto">
          <a:xfrm>
            <a:off x="5219222" y="6169923"/>
            <a:ext cx="180000" cy="180000"/>
          </a:xfrm>
          <a:custGeom>
            <a:avLst/>
            <a:gdLst>
              <a:gd name="T0" fmla="*/ 352 w 512"/>
              <a:gd name="T1" fmla="*/ 146 h 512"/>
              <a:gd name="T2" fmla="*/ 352 w 512"/>
              <a:gd name="T3" fmla="*/ 260 h 512"/>
              <a:gd name="T4" fmla="*/ 263 w 512"/>
              <a:gd name="T5" fmla="*/ 259 h 512"/>
              <a:gd name="T6" fmla="*/ 208 w 512"/>
              <a:gd name="T7" fmla="*/ 236 h 512"/>
              <a:gd name="T8" fmla="*/ 160 w 512"/>
              <a:gd name="T9" fmla="*/ 248 h 512"/>
              <a:gd name="T10" fmla="*/ 160 w 512"/>
              <a:gd name="T11" fmla="*/ 134 h 512"/>
              <a:gd name="T12" fmla="*/ 248 w 512"/>
              <a:gd name="T13" fmla="*/ 135 h 512"/>
              <a:gd name="T14" fmla="*/ 352 w 512"/>
              <a:gd name="T15" fmla="*/ 146 h 512"/>
              <a:gd name="T16" fmla="*/ 512 w 512"/>
              <a:gd name="T17" fmla="*/ 256 h 512"/>
              <a:gd name="T18" fmla="*/ 256 w 512"/>
              <a:gd name="T19" fmla="*/ 512 h 512"/>
              <a:gd name="T20" fmla="*/ 0 w 512"/>
              <a:gd name="T21" fmla="*/ 256 h 512"/>
              <a:gd name="T22" fmla="*/ 256 w 512"/>
              <a:gd name="T23" fmla="*/ 0 h 512"/>
              <a:gd name="T24" fmla="*/ 512 w 512"/>
              <a:gd name="T25" fmla="*/ 256 h 512"/>
              <a:gd name="T26" fmla="*/ 373 w 512"/>
              <a:gd name="T27" fmla="*/ 128 h 512"/>
              <a:gd name="T28" fmla="*/ 367 w 512"/>
              <a:gd name="T29" fmla="*/ 118 h 512"/>
              <a:gd name="T30" fmla="*/ 356 w 512"/>
              <a:gd name="T31" fmla="*/ 119 h 512"/>
              <a:gd name="T32" fmla="*/ 263 w 512"/>
              <a:gd name="T33" fmla="*/ 120 h 512"/>
              <a:gd name="T34" fmla="*/ 143 w 512"/>
              <a:gd name="T35" fmla="*/ 119 h 512"/>
              <a:gd name="T36" fmla="*/ 138 w 512"/>
              <a:gd name="T37" fmla="*/ 128 h 512"/>
              <a:gd name="T38" fmla="*/ 138 w 512"/>
              <a:gd name="T39" fmla="*/ 384 h 512"/>
              <a:gd name="T40" fmla="*/ 149 w 512"/>
              <a:gd name="T41" fmla="*/ 394 h 512"/>
              <a:gd name="T42" fmla="*/ 160 w 512"/>
              <a:gd name="T43" fmla="*/ 384 h 512"/>
              <a:gd name="T44" fmla="*/ 160 w 512"/>
              <a:gd name="T45" fmla="*/ 272 h 512"/>
              <a:gd name="T46" fmla="*/ 248 w 512"/>
              <a:gd name="T47" fmla="*/ 274 h 512"/>
              <a:gd name="T48" fmla="*/ 368 w 512"/>
              <a:gd name="T49" fmla="*/ 275 h 512"/>
              <a:gd name="T50" fmla="*/ 373 w 512"/>
              <a:gd name="T51" fmla="*/ 266 h 512"/>
              <a:gd name="T52" fmla="*/ 373 w 512"/>
              <a:gd name="T53" fmla="*/ 128 h 5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512" h="512">
                <a:moveTo>
                  <a:pt x="352" y="146"/>
                </a:moveTo>
                <a:cubicBezTo>
                  <a:pt x="352" y="260"/>
                  <a:pt x="352" y="260"/>
                  <a:pt x="352" y="260"/>
                </a:cubicBezTo>
                <a:cubicBezTo>
                  <a:pt x="337" y="268"/>
                  <a:pt x="293" y="288"/>
                  <a:pt x="263" y="259"/>
                </a:cubicBezTo>
                <a:cubicBezTo>
                  <a:pt x="247" y="242"/>
                  <a:pt x="227" y="236"/>
                  <a:pt x="208" y="236"/>
                </a:cubicBezTo>
                <a:cubicBezTo>
                  <a:pt x="191" y="236"/>
                  <a:pt x="173" y="242"/>
                  <a:pt x="160" y="248"/>
                </a:cubicBezTo>
                <a:cubicBezTo>
                  <a:pt x="160" y="134"/>
                  <a:pt x="160" y="134"/>
                  <a:pt x="160" y="134"/>
                </a:cubicBezTo>
                <a:cubicBezTo>
                  <a:pt x="174" y="126"/>
                  <a:pt x="218" y="105"/>
                  <a:pt x="248" y="135"/>
                </a:cubicBezTo>
                <a:cubicBezTo>
                  <a:pt x="280" y="167"/>
                  <a:pt x="323" y="159"/>
                  <a:pt x="352" y="146"/>
                </a:cubicBezTo>
                <a:close/>
                <a:moveTo>
                  <a:pt x="512" y="256"/>
                </a:moveTo>
                <a:cubicBezTo>
                  <a:pt x="512" y="397"/>
                  <a:pt x="397" y="512"/>
                  <a:pt x="256" y="512"/>
                </a:cubicBezTo>
                <a:cubicBezTo>
                  <a:pt x="114" y="512"/>
                  <a:pt x="0" y="397"/>
                  <a:pt x="0" y="256"/>
                </a:cubicBezTo>
                <a:cubicBezTo>
                  <a:pt x="0" y="114"/>
                  <a:pt x="114" y="0"/>
                  <a:pt x="256" y="0"/>
                </a:cubicBezTo>
                <a:cubicBezTo>
                  <a:pt x="397" y="0"/>
                  <a:pt x="512" y="114"/>
                  <a:pt x="512" y="256"/>
                </a:cubicBezTo>
                <a:close/>
                <a:moveTo>
                  <a:pt x="373" y="128"/>
                </a:moveTo>
                <a:cubicBezTo>
                  <a:pt x="373" y="124"/>
                  <a:pt x="371" y="120"/>
                  <a:pt x="367" y="118"/>
                </a:cubicBezTo>
                <a:cubicBezTo>
                  <a:pt x="364" y="116"/>
                  <a:pt x="360" y="117"/>
                  <a:pt x="356" y="119"/>
                </a:cubicBezTo>
                <a:cubicBezTo>
                  <a:pt x="356" y="119"/>
                  <a:pt x="299" y="156"/>
                  <a:pt x="263" y="120"/>
                </a:cubicBezTo>
                <a:cubicBezTo>
                  <a:pt x="224" y="81"/>
                  <a:pt x="167" y="102"/>
                  <a:pt x="143" y="119"/>
                </a:cubicBezTo>
                <a:cubicBezTo>
                  <a:pt x="140" y="121"/>
                  <a:pt x="138" y="124"/>
                  <a:pt x="138" y="128"/>
                </a:cubicBezTo>
                <a:cubicBezTo>
                  <a:pt x="138" y="384"/>
                  <a:pt x="138" y="384"/>
                  <a:pt x="138" y="384"/>
                </a:cubicBezTo>
                <a:cubicBezTo>
                  <a:pt x="138" y="390"/>
                  <a:pt x="143" y="394"/>
                  <a:pt x="149" y="394"/>
                </a:cubicBezTo>
                <a:cubicBezTo>
                  <a:pt x="155" y="394"/>
                  <a:pt x="160" y="390"/>
                  <a:pt x="160" y="384"/>
                </a:cubicBezTo>
                <a:cubicBezTo>
                  <a:pt x="160" y="272"/>
                  <a:pt x="160" y="272"/>
                  <a:pt x="160" y="272"/>
                </a:cubicBezTo>
                <a:cubicBezTo>
                  <a:pt x="174" y="264"/>
                  <a:pt x="217" y="243"/>
                  <a:pt x="248" y="274"/>
                </a:cubicBezTo>
                <a:cubicBezTo>
                  <a:pt x="286" y="312"/>
                  <a:pt x="343" y="292"/>
                  <a:pt x="368" y="275"/>
                </a:cubicBezTo>
                <a:cubicBezTo>
                  <a:pt x="371" y="273"/>
                  <a:pt x="373" y="270"/>
                  <a:pt x="373" y="266"/>
                </a:cubicBezTo>
                <a:lnTo>
                  <a:pt x="373" y="128"/>
                </a:ln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/>
          </a:p>
        </p:txBody>
      </p:sp>
      <p:sp>
        <p:nvSpPr>
          <p:cNvPr id="21" name="TextBox 36"/>
          <p:cNvSpPr txBox="1"/>
          <p:nvPr/>
        </p:nvSpPr>
        <p:spPr>
          <a:xfrm>
            <a:off x="5399222" y="6136812"/>
            <a:ext cx="252663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+mj-lt"/>
              </a:rPr>
              <a:t>Point discussed with the entity and solved</a:t>
            </a:r>
          </a:p>
        </p:txBody>
      </p:sp>
      <p:sp>
        <p:nvSpPr>
          <p:cNvPr id="23" name="TextBox 38"/>
          <p:cNvSpPr txBox="1"/>
          <p:nvPr/>
        </p:nvSpPr>
        <p:spPr>
          <a:xfrm>
            <a:off x="5407377" y="5886632"/>
            <a:ext cx="244254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+mj-lt"/>
              </a:rPr>
              <a:t>Follow-up to be carried</a:t>
            </a:r>
          </a:p>
        </p:txBody>
      </p:sp>
      <p:sp>
        <p:nvSpPr>
          <p:cNvPr id="25" name="TextBox 40"/>
          <p:cNvSpPr txBox="1"/>
          <p:nvPr/>
        </p:nvSpPr>
        <p:spPr>
          <a:xfrm>
            <a:off x="5399222" y="5603315"/>
            <a:ext cx="273625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+mj-lt"/>
              </a:rPr>
              <a:t>Point to be solved before next review</a:t>
            </a:r>
          </a:p>
        </p:txBody>
      </p:sp>
      <p:sp>
        <p:nvSpPr>
          <p:cNvPr id="26" name="Rectangle 25"/>
          <p:cNvSpPr/>
          <p:nvPr/>
        </p:nvSpPr>
        <p:spPr bwMode="auto">
          <a:xfrm>
            <a:off x="4988030" y="5603315"/>
            <a:ext cx="2880000" cy="779718"/>
          </a:xfrm>
          <a:prstGeom prst="rect">
            <a:avLst/>
          </a:prstGeom>
          <a:noFill/>
          <a:ln w="9525" algn="ctr">
            <a:solidFill>
              <a:schemeClr val="bg1">
                <a:lumMod val="65000"/>
              </a:schemeClr>
            </a:solidFill>
            <a:prstDash val="sysDot"/>
            <a:miter lim="800000"/>
            <a:headEnd/>
            <a:tailEnd/>
          </a:ln>
          <a:effectLst/>
        </p:spPr>
        <p:txBody>
          <a:bodyPr wrap="none" lIns="0" tIns="0" rIns="0" bIns="0" rtlCol="0" anchor="ctr"/>
          <a:lstStyle/>
          <a:p>
            <a:pPr algn="ctr"/>
            <a:endParaRPr lang="en-US" dirty="0"/>
          </a:p>
        </p:txBody>
      </p:sp>
      <p:sp>
        <p:nvSpPr>
          <p:cNvPr id="27" name="Text Placeholder 8"/>
          <p:cNvSpPr txBox="1">
            <a:spLocks/>
          </p:cNvSpPr>
          <p:nvPr/>
        </p:nvSpPr>
        <p:spPr>
          <a:xfrm>
            <a:off x="4969924" y="5339480"/>
            <a:ext cx="2880000" cy="23393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base">
              <a:spcBef>
                <a:spcPts val="0"/>
              </a:spcBef>
              <a:spcAft>
                <a:spcPct val="0"/>
              </a:spcAft>
              <a:buClr>
                <a:srgbClr val="FFC000"/>
              </a:buClr>
              <a:buSzPct val="90000"/>
              <a:buNone/>
            </a:pPr>
            <a:r>
              <a:rPr lang="fr-FR" sz="1000" b="1" dirty="0" err="1">
                <a:solidFill>
                  <a:srgbClr val="002060"/>
                </a:solidFill>
                <a:latin typeface="+mj-lt"/>
                <a:cs typeface="Calibri" panose="020F0502020204030204" pitchFamily="34" charset="0"/>
              </a:rPr>
              <a:t>Legend</a:t>
            </a:r>
            <a:endParaRPr lang="fr-FR" sz="1000" b="1" dirty="0">
              <a:solidFill>
                <a:srgbClr val="002060"/>
              </a:solidFill>
              <a:latin typeface="+mj-lt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12938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1"/>
          <p:cNvSpPr txBox="1">
            <a:spLocks/>
          </p:cNvSpPr>
          <p:nvPr/>
        </p:nvSpPr>
        <p:spPr>
          <a:xfrm>
            <a:off x="323528" y="50376"/>
            <a:ext cx="8554658" cy="850106"/>
          </a:xfrm>
          <a:prstGeom prst="rect">
            <a:avLst/>
          </a:prstGeom>
        </p:spPr>
        <p:txBody>
          <a:bodyPr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700" b="1" dirty="0">
                <a:solidFill>
                  <a:prstClr val="black"/>
                </a:solidFill>
              </a:rPr>
              <a:t>Context</a:t>
            </a:r>
          </a:p>
        </p:txBody>
      </p:sp>
      <p:sp>
        <p:nvSpPr>
          <p:cNvPr id="2" name="Rectangle 1"/>
          <p:cNvSpPr/>
          <p:nvPr/>
        </p:nvSpPr>
        <p:spPr>
          <a:xfrm>
            <a:off x="352520" y="3049266"/>
            <a:ext cx="8352717" cy="10618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hangingPunct="0"/>
            <a:endParaRPr lang="fr-FR" sz="1050" dirty="0">
              <a:latin typeface="EYInterstate Light" panose="02000506000000020004" pitchFamily="2" charset="0"/>
            </a:endParaRPr>
          </a:p>
          <a:p>
            <a:pPr marL="0" lvl="1" algn="just">
              <a:buClr>
                <a:srgbClr val="002060"/>
              </a:buClr>
              <a:buSzPct val="75000"/>
            </a:pPr>
            <a:endParaRPr lang="fr-FR" sz="1050" b="1" dirty="0">
              <a:solidFill>
                <a:srgbClr val="C00000"/>
              </a:solidFill>
              <a:latin typeface="EYInterstate Light" panose="02000506000000020004" pitchFamily="2" charset="0"/>
              <a:cs typeface="Calibri" panose="020F0502020204030204" pitchFamily="34" charset="0"/>
            </a:endParaRPr>
          </a:p>
          <a:p>
            <a:pPr marL="0" lvl="1" algn="just">
              <a:buClr>
                <a:srgbClr val="002060"/>
              </a:buClr>
              <a:buSzPct val="75000"/>
            </a:pPr>
            <a:endParaRPr lang="fr-FR" sz="1050" b="1" dirty="0">
              <a:solidFill>
                <a:srgbClr val="C00000"/>
              </a:solidFill>
              <a:latin typeface="EYInterstate Light" panose="02000506000000020004" pitchFamily="2" charset="0"/>
              <a:cs typeface="Calibri" panose="020F0502020204030204" pitchFamily="34" charset="0"/>
            </a:endParaRPr>
          </a:p>
          <a:p>
            <a:pPr marL="0" lvl="1" algn="just">
              <a:buClr>
                <a:srgbClr val="002060"/>
              </a:buClr>
              <a:buSzPct val="75000"/>
            </a:pPr>
            <a:endParaRPr lang="fr-FR" sz="1050" b="1" dirty="0">
              <a:solidFill>
                <a:srgbClr val="C00000"/>
              </a:solidFill>
              <a:latin typeface="EYInterstate Light" panose="02000506000000020004" pitchFamily="2" charset="0"/>
              <a:cs typeface="Calibri" panose="020F0502020204030204" pitchFamily="34" charset="0"/>
            </a:endParaRPr>
          </a:p>
          <a:p>
            <a:pPr marL="0" lvl="1" algn="just">
              <a:buClr>
                <a:srgbClr val="002060"/>
              </a:buClr>
              <a:buSzPct val="75000"/>
            </a:pPr>
            <a:endParaRPr lang="fr-FR" sz="1050" b="1" dirty="0">
              <a:solidFill>
                <a:srgbClr val="C00000"/>
              </a:solidFill>
              <a:latin typeface="EYInterstate Light" panose="02000506000000020004" pitchFamily="2" charset="0"/>
              <a:cs typeface="Calibri" panose="020F0502020204030204" pitchFamily="34" charset="0"/>
            </a:endParaRPr>
          </a:p>
          <a:p>
            <a:pPr marL="0" lvl="1" algn="just">
              <a:buClr>
                <a:srgbClr val="002060"/>
              </a:buClr>
              <a:buSzPct val="75000"/>
            </a:pPr>
            <a:endParaRPr lang="fr-FR" sz="1050" b="1" dirty="0">
              <a:solidFill>
                <a:srgbClr val="C00000"/>
              </a:solidFill>
              <a:latin typeface="EYInterstate Light" panose="02000506000000020004" pitchFamily="2" charset="0"/>
              <a:cs typeface="Calibri" panose="020F0502020204030204" pitchFamily="34" charset="0"/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>
          <a:xfrm>
            <a:off x="2700337" y="6482398"/>
            <a:ext cx="2057400" cy="365125"/>
          </a:xfrm>
        </p:spPr>
        <p:txBody>
          <a:bodyPr/>
          <a:lstStyle/>
          <a:p>
            <a:fld id="{661E6E57-A11E-4CD0-AED6-15B700CC2E98}" type="slidenum">
              <a:rPr lang="fr-FR" smtClean="0">
                <a:latin typeface="EYInterstate Light" panose="02000506000000020004" pitchFamily="2" charset="0"/>
              </a:rPr>
              <a:t>3</a:t>
            </a:fld>
            <a:endParaRPr lang="fr-FR" dirty="0">
              <a:latin typeface="EYInterstate Light" panose="02000506000000020004" pitchFamily="2" charset="0"/>
            </a:endParaRPr>
          </a:p>
        </p:txBody>
      </p:sp>
      <p:sp>
        <p:nvSpPr>
          <p:cNvPr id="5" name="Espace réservé du contenu 2"/>
          <p:cNvSpPr txBox="1">
            <a:spLocks/>
          </p:cNvSpPr>
          <p:nvPr/>
        </p:nvSpPr>
        <p:spPr>
          <a:xfrm>
            <a:off x="397956" y="1257299"/>
            <a:ext cx="3821620" cy="4525963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n-US" sz="1600" b="1" dirty="0">
                <a:solidFill>
                  <a:srgbClr val="223F87"/>
                </a:solidFill>
                <a:latin typeface="+mj-lt"/>
              </a:rPr>
              <a:t>Background information</a:t>
            </a:r>
          </a:p>
          <a:p>
            <a:pPr algn="just">
              <a:lnSpc>
                <a:spcPct val="90000"/>
              </a:lnSpc>
              <a:spcAft>
                <a:spcPts val="600"/>
              </a:spcAft>
              <a:buClr>
                <a:srgbClr val="223F87"/>
              </a:buClr>
              <a:buFont typeface="Wingdings 3" panose="05040102010807070707" pitchFamily="18" charset="2"/>
              <a:buChar char=""/>
            </a:pPr>
            <a:endParaRPr lang="en-US" sz="1000" dirty="0">
              <a:latin typeface="+mj-lt"/>
            </a:endParaRPr>
          </a:p>
          <a:p>
            <a:pPr algn="just">
              <a:lnSpc>
                <a:spcPct val="90000"/>
              </a:lnSpc>
              <a:spcAft>
                <a:spcPts val="600"/>
              </a:spcAft>
              <a:buClr>
                <a:srgbClr val="223F87"/>
              </a:buClr>
              <a:buFont typeface="Wingdings 3" panose="05040102010807070707" pitchFamily="18" charset="2"/>
              <a:buChar char=""/>
            </a:pPr>
            <a:r>
              <a:rPr lang="en-US" sz="1000" dirty="0">
                <a:latin typeface="+mj-lt"/>
              </a:rPr>
              <a:t>Key information</a:t>
            </a:r>
          </a:p>
          <a:p>
            <a:pPr lvl="1" algn="just">
              <a:lnSpc>
                <a:spcPct val="90000"/>
              </a:lnSpc>
              <a:spcAft>
                <a:spcPts val="600"/>
              </a:spcAft>
              <a:buClr>
                <a:srgbClr val="223F87"/>
              </a:buClr>
              <a:buFont typeface="Wingdings 3" panose="05040102010807070707" pitchFamily="18" charset="2"/>
              <a:buChar char=""/>
            </a:pPr>
            <a:r>
              <a:rPr lang="en-US" sz="900" dirty="0">
                <a:latin typeface="+mj-lt"/>
              </a:rPr>
              <a:t>General economic conditions and effects on the entity (including country growth and inflation, currency rate)</a:t>
            </a:r>
          </a:p>
          <a:p>
            <a:pPr lvl="1" algn="just">
              <a:lnSpc>
                <a:spcPct val="90000"/>
              </a:lnSpc>
              <a:spcAft>
                <a:spcPts val="600"/>
              </a:spcAft>
              <a:buClr>
                <a:srgbClr val="223F87"/>
              </a:buClr>
              <a:buFont typeface="Wingdings 3" panose="05040102010807070707" pitchFamily="18" charset="2"/>
              <a:buChar char=""/>
            </a:pPr>
            <a:r>
              <a:rPr lang="en-US" sz="900" dirty="0">
                <a:latin typeface="+mj-lt"/>
              </a:rPr>
              <a:t>Significant changes in law and regulation or changes to anticipate</a:t>
            </a:r>
          </a:p>
          <a:p>
            <a:pPr lvl="1" algn="just">
              <a:lnSpc>
                <a:spcPct val="90000"/>
              </a:lnSpc>
              <a:spcAft>
                <a:spcPts val="600"/>
              </a:spcAft>
              <a:buClr>
                <a:srgbClr val="223F87"/>
              </a:buClr>
              <a:buFont typeface="Wingdings 3" panose="05040102010807070707" pitchFamily="18" charset="2"/>
              <a:buChar char=""/>
            </a:pPr>
            <a:r>
              <a:rPr lang="en-US" sz="900" dirty="0">
                <a:latin typeface="+mj-lt"/>
              </a:rPr>
              <a:t>Experience of local management</a:t>
            </a:r>
          </a:p>
          <a:p>
            <a:pPr lvl="1" algn="just">
              <a:lnSpc>
                <a:spcPct val="90000"/>
              </a:lnSpc>
              <a:spcAft>
                <a:spcPts val="600"/>
              </a:spcAft>
              <a:buClr>
                <a:srgbClr val="223F87"/>
              </a:buClr>
              <a:buFont typeface="Wingdings 3" panose="05040102010807070707" pitchFamily="18" charset="2"/>
              <a:buChar char=""/>
            </a:pPr>
            <a:r>
              <a:rPr lang="en-US" sz="900" dirty="0">
                <a:latin typeface="+mj-lt"/>
              </a:rPr>
              <a:t>Specific considerations for the entity</a:t>
            </a:r>
          </a:p>
          <a:p>
            <a:pPr lvl="1" algn="just">
              <a:lnSpc>
                <a:spcPct val="90000"/>
              </a:lnSpc>
              <a:spcAft>
                <a:spcPts val="600"/>
              </a:spcAft>
              <a:buClr>
                <a:srgbClr val="223F87"/>
              </a:buClr>
              <a:buFont typeface="Wingdings 3" panose="05040102010807070707" pitchFamily="18" charset="2"/>
              <a:buChar char=""/>
            </a:pPr>
            <a:r>
              <a:rPr lang="en-US" sz="900" dirty="0">
                <a:latin typeface="+mj-lt"/>
              </a:rPr>
              <a:t>Plants activity</a:t>
            </a:r>
          </a:p>
          <a:p>
            <a:pPr lvl="1" algn="just">
              <a:lnSpc>
                <a:spcPct val="90000"/>
              </a:lnSpc>
              <a:spcAft>
                <a:spcPts val="600"/>
              </a:spcAft>
              <a:buClr>
                <a:srgbClr val="223F87"/>
              </a:buClr>
              <a:buFont typeface="Wingdings 3" panose="05040102010807070707" pitchFamily="18" charset="2"/>
              <a:buChar char=""/>
            </a:pPr>
            <a:r>
              <a:rPr lang="en-US" sz="900" dirty="0">
                <a:latin typeface="+mj-lt"/>
              </a:rPr>
              <a:t>Entity key information : top 5 clients (</a:t>
            </a:r>
            <a:r>
              <a:rPr lang="en-US" sz="900" dirty="0" err="1">
                <a:latin typeface="+mj-lt"/>
              </a:rPr>
              <a:t>var</a:t>
            </a:r>
            <a:r>
              <a:rPr lang="en-US" sz="900" dirty="0">
                <a:latin typeface="+mj-lt"/>
              </a:rPr>
              <a:t> vs LY, …), new award, new client</a:t>
            </a:r>
          </a:p>
          <a:p>
            <a:pPr lvl="1" algn="just">
              <a:lnSpc>
                <a:spcPct val="90000"/>
              </a:lnSpc>
              <a:spcAft>
                <a:spcPts val="600"/>
              </a:spcAft>
              <a:buClr>
                <a:srgbClr val="223F87"/>
              </a:buClr>
              <a:buFont typeface="Wingdings 3" panose="05040102010807070707" pitchFamily="18" charset="2"/>
              <a:buChar char=""/>
            </a:pPr>
            <a:r>
              <a:rPr lang="en-US" sz="900" dirty="0">
                <a:latin typeface="+mj-lt"/>
              </a:rPr>
              <a:t>Complex transactions</a:t>
            </a:r>
          </a:p>
          <a:p>
            <a:pPr algn="just">
              <a:lnSpc>
                <a:spcPct val="90000"/>
              </a:lnSpc>
              <a:spcAft>
                <a:spcPts val="600"/>
              </a:spcAft>
              <a:buClr>
                <a:srgbClr val="223F87"/>
              </a:buClr>
              <a:buFont typeface="Wingdings 3" panose="05040102010807070707" pitchFamily="18" charset="2"/>
              <a:buChar char=""/>
            </a:pPr>
            <a:endParaRPr lang="en-US" sz="1000" dirty="0">
              <a:latin typeface="+mj-lt"/>
            </a:endParaRPr>
          </a:p>
          <a:p>
            <a:pPr algn="just">
              <a:lnSpc>
                <a:spcPct val="90000"/>
              </a:lnSpc>
              <a:spcAft>
                <a:spcPts val="600"/>
              </a:spcAft>
              <a:buClr>
                <a:srgbClr val="223F87"/>
              </a:buClr>
              <a:buFont typeface="Wingdings 3" panose="05040102010807070707" pitchFamily="18" charset="2"/>
              <a:buChar char=""/>
            </a:pPr>
            <a:r>
              <a:rPr lang="en-US" sz="1000" dirty="0"/>
              <a:t>Audit : </a:t>
            </a:r>
          </a:p>
          <a:p>
            <a:pPr lvl="1" algn="just">
              <a:lnSpc>
                <a:spcPct val="90000"/>
              </a:lnSpc>
              <a:spcAft>
                <a:spcPts val="600"/>
              </a:spcAft>
              <a:buClr>
                <a:srgbClr val="223F87"/>
              </a:buClr>
              <a:buFont typeface="Wingdings 3" panose="05040102010807070707" pitchFamily="18" charset="2"/>
              <a:buChar char=""/>
            </a:pPr>
            <a:r>
              <a:rPr lang="en-US" sz="900" dirty="0"/>
              <a:t>Audit thresholds (statutory and reporting):</a:t>
            </a:r>
          </a:p>
          <a:p>
            <a:pPr lvl="1" algn="just">
              <a:lnSpc>
                <a:spcPct val="90000"/>
              </a:lnSpc>
              <a:spcAft>
                <a:spcPts val="600"/>
              </a:spcAft>
              <a:buClr>
                <a:srgbClr val="223F87"/>
              </a:buClr>
              <a:buFont typeface="Wingdings 3" panose="05040102010807070707" pitchFamily="18" charset="2"/>
              <a:buChar char=""/>
            </a:pPr>
            <a:r>
              <a:rPr lang="en-US" sz="900" dirty="0"/>
              <a:t>Audit fees :</a:t>
            </a:r>
          </a:p>
          <a:p>
            <a:pPr lvl="1" algn="just">
              <a:lnSpc>
                <a:spcPct val="90000"/>
              </a:lnSpc>
              <a:spcAft>
                <a:spcPts val="600"/>
              </a:spcAft>
              <a:buClr>
                <a:srgbClr val="223F87"/>
              </a:buClr>
              <a:buFont typeface="Wingdings 3" panose="05040102010807070707" pitchFamily="18" charset="2"/>
              <a:buChar char=""/>
            </a:pPr>
            <a:r>
              <a:rPr lang="en-US" sz="900" dirty="0"/>
              <a:t>Statutory audit to be performed :</a:t>
            </a:r>
          </a:p>
          <a:p>
            <a:pPr marL="0" indent="0" algn="just">
              <a:buNone/>
            </a:pPr>
            <a:endParaRPr lang="en-US" sz="1400" dirty="0">
              <a:solidFill>
                <a:srgbClr val="FF0000"/>
              </a:solidFill>
              <a:latin typeface="EYInterstate Light" panose="02000506000000020004" pitchFamily="2" charset="0"/>
            </a:endParaRPr>
          </a:p>
          <a:p>
            <a:pPr algn="just"/>
            <a:endParaRPr lang="en-US" sz="1400" dirty="0">
              <a:solidFill>
                <a:srgbClr val="FF0000"/>
              </a:solidFill>
              <a:latin typeface="EYInterstate Light" panose="02000506000000020004" pitchFamily="2" charset="0"/>
            </a:endParaRPr>
          </a:p>
          <a:p>
            <a:pPr algn="just"/>
            <a:endParaRPr lang="en-US" sz="1400" dirty="0">
              <a:latin typeface="EYInterstate Light" panose="02000506000000020004" pitchFamily="2" charset="0"/>
            </a:endParaRPr>
          </a:p>
          <a:p>
            <a:pPr marL="0" indent="0" algn="just">
              <a:buNone/>
            </a:pPr>
            <a:endParaRPr lang="en-US" sz="1400" dirty="0">
              <a:latin typeface="EYInterstate Light" panose="02000506000000020004" pitchFamily="2" charset="0"/>
            </a:endParaRPr>
          </a:p>
        </p:txBody>
      </p:sp>
      <p:sp>
        <p:nvSpPr>
          <p:cNvPr id="7" name="Pentagon 6"/>
          <p:cNvSpPr/>
          <p:nvPr/>
        </p:nvSpPr>
        <p:spPr>
          <a:xfrm>
            <a:off x="3723814" y="132929"/>
            <a:ext cx="1386001" cy="516535"/>
          </a:xfrm>
          <a:prstGeom prst="homePlate">
            <a:avLst/>
          </a:prstGeom>
          <a:solidFill>
            <a:srgbClr val="223F87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88900" rIns="88900" bIns="88900" rtlCol="0" anchor="ctr"/>
          <a:lstStyle/>
          <a:p>
            <a:pPr algn="ctr"/>
            <a:r>
              <a:rPr lang="en-US" sz="1200" b="1" dirty="0">
                <a:solidFill>
                  <a:schemeClr val="bg1"/>
                </a:solidFill>
                <a:latin typeface="+mj-lt"/>
              </a:rPr>
              <a:t>Context</a:t>
            </a:r>
          </a:p>
        </p:txBody>
      </p:sp>
      <p:sp>
        <p:nvSpPr>
          <p:cNvPr id="8" name="Chevron 7"/>
          <p:cNvSpPr/>
          <p:nvPr/>
        </p:nvSpPr>
        <p:spPr>
          <a:xfrm>
            <a:off x="4930617" y="132929"/>
            <a:ext cx="1386001" cy="516535"/>
          </a:xfrm>
          <a:prstGeom prst="chevron">
            <a:avLst/>
          </a:prstGeom>
          <a:solidFill>
            <a:schemeClr val="bg1">
              <a:lumMod val="85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88900" rIns="0" bIns="88900" rtlCol="0" anchor="ctr"/>
          <a:lstStyle/>
          <a:p>
            <a:pPr algn="ctr"/>
            <a:r>
              <a:rPr lang="en-US" sz="1200" dirty="0">
                <a:solidFill>
                  <a:schemeClr val="bg1"/>
                </a:solidFill>
                <a:latin typeface="+mj-lt"/>
              </a:rPr>
              <a:t>Accounting &amp; auditing issues</a:t>
            </a:r>
          </a:p>
        </p:txBody>
      </p:sp>
      <p:sp>
        <p:nvSpPr>
          <p:cNvPr id="9" name="Chevron 8"/>
          <p:cNvSpPr/>
          <p:nvPr/>
        </p:nvSpPr>
        <p:spPr>
          <a:xfrm>
            <a:off x="6126958" y="132929"/>
            <a:ext cx="1386001" cy="516535"/>
          </a:xfrm>
          <a:prstGeom prst="chevron">
            <a:avLst/>
          </a:prstGeom>
          <a:solidFill>
            <a:schemeClr val="bg1">
              <a:lumMod val="85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88900" rIns="0" bIns="88900" rtlCol="0" anchor="ctr"/>
          <a:lstStyle/>
          <a:p>
            <a:pPr algn="ctr"/>
            <a:r>
              <a:rPr lang="en-US" sz="1200" dirty="0">
                <a:solidFill>
                  <a:schemeClr val="bg1"/>
                </a:solidFill>
                <a:latin typeface="+mj-lt"/>
              </a:rPr>
              <a:t>Conclusion</a:t>
            </a:r>
          </a:p>
        </p:txBody>
      </p:sp>
      <p:sp>
        <p:nvSpPr>
          <p:cNvPr id="11" name="Chevron 10"/>
          <p:cNvSpPr/>
          <p:nvPr/>
        </p:nvSpPr>
        <p:spPr>
          <a:xfrm>
            <a:off x="7319236" y="132929"/>
            <a:ext cx="1386001" cy="516535"/>
          </a:xfrm>
          <a:prstGeom prst="chevron">
            <a:avLst/>
          </a:prstGeom>
          <a:solidFill>
            <a:schemeClr val="bg1">
              <a:lumMod val="85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88900" rIns="0" bIns="88900" rtlCol="0" anchor="ctr"/>
          <a:lstStyle/>
          <a:p>
            <a:r>
              <a:rPr lang="en-US" sz="1200" dirty="0">
                <a:solidFill>
                  <a:schemeClr val="bg1"/>
                </a:solidFill>
                <a:latin typeface="+mj-lt"/>
              </a:rPr>
              <a:t>Appendices</a:t>
            </a:r>
          </a:p>
        </p:txBody>
      </p:sp>
      <p:sp>
        <p:nvSpPr>
          <p:cNvPr id="12" name="ZoneTexte 11"/>
          <p:cNvSpPr txBox="1"/>
          <p:nvPr/>
        </p:nvSpPr>
        <p:spPr>
          <a:xfrm>
            <a:off x="1674268" y="6290767"/>
            <a:ext cx="2742546" cy="307777"/>
          </a:xfrm>
          <a:prstGeom prst="rect">
            <a:avLst/>
          </a:prstGeom>
          <a:noFill/>
          <a:ln w="25400">
            <a:solidFill>
              <a:srgbClr val="FF0000"/>
            </a:solidFill>
            <a:prstDash val="sysDash"/>
          </a:ln>
        </p:spPr>
        <p:txBody>
          <a:bodyPr wrap="square" rtlCol="0">
            <a:spAutoFit/>
          </a:bodyPr>
          <a:lstStyle>
            <a:defPPr>
              <a:defRPr lang="en-GB"/>
            </a:defPPr>
            <a:lvl1pPr algn="ctr">
              <a:defRPr sz="1400" i="1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Please update </a:t>
            </a:r>
          </a:p>
        </p:txBody>
      </p:sp>
      <p:cxnSp>
        <p:nvCxnSpPr>
          <p:cNvPr id="15" name="Connecteur droit 14"/>
          <p:cNvCxnSpPr/>
          <p:nvPr/>
        </p:nvCxnSpPr>
        <p:spPr>
          <a:xfrm>
            <a:off x="488891" y="1592277"/>
            <a:ext cx="8172000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Espace réservé du contenu 2"/>
          <p:cNvSpPr txBox="1">
            <a:spLocks/>
          </p:cNvSpPr>
          <p:nvPr/>
        </p:nvSpPr>
        <p:spPr>
          <a:xfrm>
            <a:off x="4528878" y="1257299"/>
            <a:ext cx="3821620" cy="4525963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90000"/>
              </a:lnSpc>
              <a:spcAft>
                <a:spcPts val="600"/>
              </a:spcAft>
              <a:buClr>
                <a:srgbClr val="223F87"/>
              </a:buClr>
              <a:buFont typeface="Wingdings 3" panose="05040102010807070707" pitchFamily="18" charset="2"/>
              <a:buChar char=""/>
            </a:pPr>
            <a:endParaRPr lang="en-US" sz="1000" dirty="0">
              <a:latin typeface="+mj-lt"/>
            </a:endParaRPr>
          </a:p>
          <a:p>
            <a:pPr marL="0" indent="0" algn="just">
              <a:lnSpc>
                <a:spcPct val="90000"/>
              </a:lnSpc>
              <a:spcAft>
                <a:spcPts val="600"/>
              </a:spcAft>
              <a:buClr>
                <a:srgbClr val="223F87"/>
              </a:buClr>
              <a:buNone/>
            </a:pPr>
            <a:endParaRPr lang="en-US" sz="1000" dirty="0">
              <a:latin typeface="+mj-lt"/>
            </a:endParaRPr>
          </a:p>
          <a:p>
            <a:pPr algn="just">
              <a:lnSpc>
                <a:spcPct val="90000"/>
              </a:lnSpc>
              <a:spcAft>
                <a:spcPts val="600"/>
              </a:spcAft>
              <a:buClr>
                <a:srgbClr val="223F87"/>
              </a:buClr>
              <a:buFont typeface="Wingdings 3" panose="05040102010807070707" pitchFamily="18" charset="2"/>
              <a:buChar char=""/>
            </a:pPr>
            <a:endParaRPr lang="en-US" sz="1000" dirty="0">
              <a:latin typeface="+mj-lt"/>
            </a:endParaRPr>
          </a:p>
          <a:p>
            <a:pPr algn="just">
              <a:lnSpc>
                <a:spcPct val="90000"/>
              </a:lnSpc>
              <a:spcAft>
                <a:spcPts val="600"/>
              </a:spcAft>
              <a:buClr>
                <a:srgbClr val="223F87"/>
              </a:buClr>
              <a:buFont typeface="Wingdings 3" panose="05040102010807070707" pitchFamily="18" charset="2"/>
              <a:buChar char=""/>
            </a:pPr>
            <a:r>
              <a:rPr lang="en-US" sz="1000" dirty="0">
                <a:latin typeface="+mj-lt"/>
              </a:rPr>
              <a:t>Accounting : </a:t>
            </a:r>
          </a:p>
          <a:p>
            <a:pPr lvl="1" algn="just">
              <a:lnSpc>
                <a:spcPct val="90000"/>
              </a:lnSpc>
              <a:spcAft>
                <a:spcPts val="600"/>
              </a:spcAft>
              <a:buClr>
                <a:srgbClr val="223F87"/>
              </a:buClr>
              <a:buFont typeface="Wingdings 3" panose="05040102010807070707" pitchFamily="18" charset="2"/>
              <a:buChar char=""/>
            </a:pPr>
            <a:r>
              <a:rPr lang="en-US" sz="900" dirty="0">
                <a:latin typeface="+mj-lt"/>
              </a:rPr>
              <a:t>Exchange rate (average)</a:t>
            </a:r>
          </a:p>
          <a:p>
            <a:pPr lvl="1" algn="just">
              <a:lnSpc>
                <a:spcPct val="90000"/>
              </a:lnSpc>
              <a:spcAft>
                <a:spcPts val="600"/>
              </a:spcAft>
              <a:buClr>
                <a:srgbClr val="223F87"/>
              </a:buClr>
              <a:buFont typeface="Wingdings 3" panose="05040102010807070707" pitchFamily="18" charset="2"/>
              <a:buChar char=""/>
            </a:pPr>
            <a:r>
              <a:rPr lang="en-US" sz="900" dirty="0">
                <a:latin typeface="+mj-lt"/>
              </a:rPr>
              <a:t>Exchange rate (closing)</a:t>
            </a:r>
          </a:p>
          <a:p>
            <a:pPr lvl="1" algn="just">
              <a:lnSpc>
                <a:spcPct val="90000"/>
              </a:lnSpc>
              <a:spcAft>
                <a:spcPts val="600"/>
              </a:spcAft>
              <a:buClr>
                <a:srgbClr val="223F87"/>
              </a:buClr>
              <a:buFont typeface="Wingdings 3" panose="05040102010807070707" pitchFamily="18" charset="2"/>
              <a:buChar char=""/>
            </a:pPr>
            <a:r>
              <a:rPr lang="en-US" sz="900" dirty="0">
                <a:latin typeface="+mj-lt"/>
              </a:rPr>
              <a:t>IT System :</a:t>
            </a:r>
          </a:p>
          <a:p>
            <a:pPr lvl="1" algn="just">
              <a:lnSpc>
                <a:spcPct val="90000"/>
              </a:lnSpc>
              <a:spcAft>
                <a:spcPts val="600"/>
              </a:spcAft>
              <a:buClr>
                <a:srgbClr val="223F87"/>
              </a:buClr>
              <a:buFont typeface="Wingdings 3" panose="05040102010807070707" pitchFamily="18" charset="2"/>
              <a:buChar char=""/>
            </a:pPr>
            <a:r>
              <a:rPr lang="en-US" sz="900" dirty="0">
                <a:latin typeface="+mj-lt"/>
              </a:rPr>
              <a:t>Accounting principles local :</a:t>
            </a:r>
          </a:p>
          <a:p>
            <a:pPr lvl="1" algn="just">
              <a:lnSpc>
                <a:spcPct val="90000"/>
              </a:lnSpc>
              <a:spcAft>
                <a:spcPts val="600"/>
              </a:spcAft>
              <a:buClr>
                <a:srgbClr val="223F87"/>
              </a:buClr>
              <a:buFont typeface="Wingdings 3" panose="05040102010807070707" pitchFamily="18" charset="2"/>
              <a:buChar char=""/>
            </a:pPr>
            <a:r>
              <a:rPr lang="en-US" sz="900" dirty="0">
                <a:latin typeface="+mj-lt"/>
              </a:rPr>
              <a:t>Any non compliance for accounting principles </a:t>
            </a:r>
          </a:p>
          <a:p>
            <a:pPr lvl="1" algn="just">
              <a:lnSpc>
                <a:spcPct val="90000"/>
              </a:lnSpc>
              <a:spcAft>
                <a:spcPts val="600"/>
              </a:spcAft>
              <a:buClr>
                <a:srgbClr val="223F87"/>
              </a:buClr>
              <a:buFont typeface="Wingdings 3" panose="05040102010807070707" pitchFamily="18" charset="2"/>
              <a:buChar char=""/>
            </a:pPr>
            <a:r>
              <a:rPr lang="en-US" sz="900" dirty="0">
                <a:latin typeface="+mj-lt"/>
              </a:rPr>
              <a:t>New standards applied :</a:t>
            </a:r>
          </a:p>
          <a:p>
            <a:pPr lvl="1" algn="just">
              <a:lnSpc>
                <a:spcPct val="90000"/>
              </a:lnSpc>
              <a:spcAft>
                <a:spcPts val="600"/>
              </a:spcAft>
              <a:buClr>
                <a:srgbClr val="223F87"/>
              </a:buClr>
              <a:buFont typeface="Wingdings 3" panose="05040102010807070707" pitchFamily="18" charset="2"/>
              <a:buChar char=""/>
            </a:pPr>
            <a:r>
              <a:rPr lang="en-US" sz="900" dirty="0">
                <a:latin typeface="+mj-lt"/>
              </a:rPr>
              <a:t>Related Shared Service Center :</a:t>
            </a:r>
          </a:p>
          <a:p>
            <a:pPr algn="just">
              <a:buFontTx/>
              <a:buChar char="-"/>
            </a:pPr>
            <a:endParaRPr lang="en-US" sz="1000" dirty="0">
              <a:latin typeface="+mj-lt"/>
            </a:endParaRPr>
          </a:p>
          <a:p>
            <a:pPr marL="0" indent="0" algn="just">
              <a:buNone/>
            </a:pPr>
            <a:endParaRPr lang="en-US" sz="1000" dirty="0">
              <a:latin typeface="+mj-lt"/>
            </a:endParaRPr>
          </a:p>
          <a:p>
            <a:pPr marL="0" indent="0" algn="just">
              <a:buNone/>
            </a:pPr>
            <a:endParaRPr lang="en-US" sz="1000" dirty="0">
              <a:latin typeface="+mj-lt"/>
            </a:endParaRPr>
          </a:p>
          <a:p>
            <a:pPr lvl="0" algn="just">
              <a:lnSpc>
                <a:spcPct val="90000"/>
              </a:lnSpc>
              <a:spcAft>
                <a:spcPts val="600"/>
              </a:spcAft>
              <a:buClr>
                <a:srgbClr val="223F87"/>
              </a:buClr>
              <a:buFont typeface="Wingdings 3" panose="05040102010807070707" pitchFamily="18" charset="2"/>
              <a:buChar char=""/>
            </a:pPr>
            <a:r>
              <a:rPr lang="en-US" sz="1000" dirty="0">
                <a:latin typeface="+mj-lt"/>
              </a:rPr>
              <a:t>Management : </a:t>
            </a:r>
          </a:p>
          <a:p>
            <a:pPr lvl="1" algn="just">
              <a:lnSpc>
                <a:spcPct val="90000"/>
              </a:lnSpc>
              <a:spcAft>
                <a:spcPts val="600"/>
              </a:spcAft>
              <a:buClr>
                <a:srgbClr val="223F87"/>
              </a:buClr>
              <a:buFont typeface="Wingdings 3" panose="05040102010807070707" pitchFamily="18" charset="2"/>
              <a:buChar char=""/>
            </a:pPr>
            <a:r>
              <a:rPr lang="en-US" sz="900" dirty="0">
                <a:latin typeface="+mj-lt"/>
              </a:rPr>
              <a:t>BG of the entity :</a:t>
            </a:r>
          </a:p>
          <a:p>
            <a:pPr lvl="1" algn="just">
              <a:lnSpc>
                <a:spcPct val="90000"/>
              </a:lnSpc>
              <a:spcAft>
                <a:spcPts val="600"/>
              </a:spcAft>
              <a:buClr>
                <a:srgbClr val="223F87"/>
              </a:buClr>
              <a:buFont typeface="Wingdings 3" panose="05040102010807070707" pitchFamily="18" charset="2"/>
              <a:buChar char=""/>
            </a:pPr>
            <a:r>
              <a:rPr lang="en-US" sz="900" dirty="0">
                <a:latin typeface="+mj-lt"/>
              </a:rPr>
              <a:t>GBS location : </a:t>
            </a:r>
          </a:p>
          <a:p>
            <a:pPr lvl="1" algn="just">
              <a:lnSpc>
                <a:spcPct val="90000"/>
              </a:lnSpc>
              <a:spcAft>
                <a:spcPts val="600"/>
              </a:spcAft>
              <a:buClr>
                <a:srgbClr val="223F87"/>
              </a:buClr>
              <a:buFont typeface="Wingdings 3" panose="05040102010807070707" pitchFamily="18" charset="2"/>
              <a:buChar char=""/>
            </a:pPr>
            <a:r>
              <a:rPr lang="en-US" sz="900" dirty="0">
                <a:latin typeface="+mj-lt"/>
              </a:rPr>
              <a:t>Country CFO :</a:t>
            </a:r>
          </a:p>
          <a:p>
            <a:pPr lvl="1" algn="just">
              <a:lnSpc>
                <a:spcPct val="90000"/>
              </a:lnSpc>
              <a:spcAft>
                <a:spcPts val="600"/>
              </a:spcAft>
              <a:buClr>
                <a:srgbClr val="223F87"/>
              </a:buClr>
              <a:buFont typeface="Wingdings 3" panose="05040102010807070707" pitchFamily="18" charset="2"/>
              <a:buChar char=""/>
            </a:pPr>
            <a:r>
              <a:rPr lang="en-US" sz="900" dirty="0">
                <a:latin typeface="+mj-lt"/>
              </a:rPr>
              <a:t>GBS leader :</a:t>
            </a:r>
          </a:p>
          <a:p>
            <a:pPr lvl="1" algn="just">
              <a:lnSpc>
                <a:spcPct val="90000"/>
              </a:lnSpc>
              <a:spcAft>
                <a:spcPts val="600"/>
              </a:spcAft>
              <a:buClr>
                <a:srgbClr val="223F87"/>
              </a:buClr>
              <a:buFont typeface="Wingdings 3" panose="05040102010807070707" pitchFamily="18" charset="2"/>
              <a:buChar char=""/>
            </a:pPr>
            <a:r>
              <a:rPr lang="en-US" sz="900" dirty="0">
                <a:latin typeface="+mj-lt"/>
              </a:rPr>
              <a:t>Division controller:</a:t>
            </a:r>
          </a:p>
          <a:p>
            <a:pPr lvl="1" algn="just">
              <a:lnSpc>
                <a:spcPct val="90000"/>
              </a:lnSpc>
              <a:spcAft>
                <a:spcPts val="600"/>
              </a:spcAft>
              <a:buClr>
                <a:srgbClr val="223F87"/>
              </a:buClr>
              <a:buFont typeface="Wingdings 3" panose="05040102010807070707" pitchFamily="18" charset="2"/>
              <a:buChar char=""/>
            </a:pPr>
            <a:r>
              <a:rPr lang="en-US" sz="900" dirty="0">
                <a:latin typeface="+mj-lt"/>
              </a:rPr>
              <a:t>SSC responsible :</a:t>
            </a:r>
          </a:p>
          <a:p>
            <a:pPr marL="0" indent="0" algn="just">
              <a:buNone/>
            </a:pPr>
            <a:endParaRPr lang="en-US" sz="1000" dirty="0">
              <a:solidFill>
                <a:srgbClr val="FF0000"/>
              </a:solidFill>
              <a:latin typeface="+mj-lt"/>
            </a:endParaRPr>
          </a:p>
          <a:p>
            <a:pPr marL="0" indent="0" algn="just">
              <a:buNone/>
            </a:pPr>
            <a:endParaRPr lang="en-US" sz="1000" dirty="0">
              <a:solidFill>
                <a:srgbClr val="FF0000"/>
              </a:solidFill>
              <a:latin typeface="+mj-lt"/>
            </a:endParaRPr>
          </a:p>
          <a:p>
            <a:pPr marL="0" indent="0" algn="just">
              <a:buNone/>
            </a:pPr>
            <a:endParaRPr lang="en-US" sz="1000" dirty="0">
              <a:solidFill>
                <a:srgbClr val="FF0000"/>
              </a:solidFill>
              <a:latin typeface="+mj-lt"/>
            </a:endParaRPr>
          </a:p>
          <a:p>
            <a:pPr marL="0" indent="0" algn="just">
              <a:buNone/>
            </a:pPr>
            <a:endParaRPr lang="en-US" sz="1000" dirty="0">
              <a:solidFill>
                <a:srgbClr val="FF0000"/>
              </a:solidFill>
              <a:latin typeface="+mj-lt"/>
            </a:endParaRPr>
          </a:p>
          <a:p>
            <a:pPr algn="just"/>
            <a:endParaRPr lang="en-US" sz="1000" dirty="0">
              <a:solidFill>
                <a:srgbClr val="FF0000"/>
              </a:solidFill>
              <a:latin typeface="+mj-lt"/>
            </a:endParaRPr>
          </a:p>
          <a:p>
            <a:pPr algn="just"/>
            <a:endParaRPr lang="en-US" sz="1000" dirty="0">
              <a:latin typeface="+mj-lt"/>
            </a:endParaRPr>
          </a:p>
          <a:p>
            <a:pPr marL="0" indent="0" algn="just">
              <a:buNone/>
            </a:pPr>
            <a:endParaRPr lang="en-US" sz="10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7776998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1"/>
          <p:cNvSpPr txBox="1">
            <a:spLocks/>
          </p:cNvSpPr>
          <p:nvPr/>
        </p:nvSpPr>
        <p:spPr>
          <a:xfrm>
            <a:off x="323528" y="50376"/>
            <a:ext cx="8554658" cy="850106"/>
          </a:xfrm>
          <a:prstGeom prst="rect">
            <a:avLst/>
          </a:prstGeom>
        </p:spPr>
        <p:txBody>
          <a:bodyPr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700" b="1" dirty="0">
                <a:solidFill>
                  <a:prstClr val="black"/>
                </a:solidFill>
              </a:rPr>
              <a:t>Context</a:t>
            </a:r>
          </a:p>
        </p:txBody>
      </p:sp>
      <p:sp>
        <p:nvSpPr>
          <p:cNvPr id="2" name="Rectangle 1"/>
          <p:cNvSpPr/>
          <p:nvPr/>
        </p:nvSpPr>
        <p:spPr>
          <a:xfrm>
            <a:off x="352520" y="3049266"/>
            <a:ext cx="8352717" cy="10618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hangingPunct="0"/>
            <a:endParaRPr lang="fr-FR" sz="1050" dirty="0">
              <a:latin typeface="EYInterstate Light" panose="02000506000000020004" pitchFamily="2" charset="0"/>
            </a:endParaRPr>
          </a:p>
          <a:p>
            <a:pPr marL="0" lvl="1" algn="just">
              <a:buClr>
                <a:srgbClr val="002060"/>
              </a:buClr>
              <a:buSzPct val="75000"/>
            </a:pPr>
            <a:endParaRPr lang="fr-FR" sz="1050" b="1" dirty="0">
              <a:solidFill>
                <a:srgbClr val="C00000"/>
              </a:solidFill>
              <a:latin typeface="EYInterstate Light" panose="02000506000000020004" pitchFamily="2" charset="0"/>
              <a:cs typeface="Calibri" panose="020F0502020204030204" pitchFamily="34" charset="0"/>
            </a:endParaRPr>
          </a:p>
          <a:p>
            <a:pPr marL="0" lvl="1" algn="just">
              <a:buClr>
                <a:srgbClr val="002060"/>
              </a:buClr>
              <a:buSzPct val="75000"/>
            </a:pPr>
            <a:endParaRPr lang="fr-FR" sz="1050" b="1" dirty="0">
              <a:solidFill>
                <a:srgbClr val="C00000"/>
              </a:solidFill>
              <a:latin typeface="EYInterstate Light" panose="02000506000000020004" pitchFamily="2" charset="0"/>
              <a:cs typeface="Calibri" panose="020F0502020204030204" pitchFamily="34" charset="0"/>
            </a:endParaRPr>
          </a:p>
          <a:p>
            <a:pPr marL="0" lvl="1" algn="just">
              <a:buClr>
                <a:srgbClr val="002060"/>
              </a:buClr>
              <a:buSzPct val="75000"/>
            </a:pPr>
            <a:endParaRPr lang="fr-FR" sz="1050" b="1" dirty="0">
              <a:solidFill>
                <a:srgbClr val="C00000"/>
              </a:solidFill>
              <a:latin typeface="EYInterstate Light" panose="02000506000000020004" pitchFamily="2" charset="0"/>
              <a:cs typeface="Calibri" panose="020F0502020204030204" pitchFamily="34" charset="0"/>
            </a:endParaRPr>
          </a:p>
          <a:p>
            <a:pPr marL="0" lvl="1" algn="just">
              <a:buClr>
                <a:srgbClr val="002060"/>
              </a:buClr>
              <a:buSzPct val="75000"/>
            </a:pPr>
            <a:endParaRPr lang="fr-FR" sz="1050" b="1" dirty="0">
              <a:solidFill>
                <a:srgbClr val="C00000"/>
              </a:solidFill>
              <a:latin typeface="EYInterstate Light" panose="02000506000000020004" pitchFamily="2" charset="0"/>
              <a:cs typeface="Calibri" panose="020F0502020204030204" pitchFamily="34" charset="0"/>
            </a:endParaRPr>
          </a:p>
          <a:p>
            <a:pPr marL="0" lvl="1" algn="just">
              <a:buClr>
                <a:srgbClr val="002060"/>
              </a:buClr>
              <a:buSzPct val="75000"/>
            </a:pPr>
            <a:endParaRPr lang="fr-FR" sz="1050" b="1" dirty="0">
              <a:solidFill>
                <a:srgbClr val="C00000"/>
              </a:solidFill>
              <a:latin typeface="EYInterstate Light" panose="02000506000000020004" pitchFamily="2" charset="0"/>
              <a:cs typeface="Calibri" panose="020F0502020204030204" pitchFamily="34" charset="0"/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>
          <a:xfrm>
            <a:off x="2700337" y="6482398"/>
            <a:ext cx="2057400" cy="365125"/>
          </a:xfrm>
        </p:spPr>
        <p:txBody>
          <a:bodyPr/>
          <a:lstStyle/>
          <a:p>
            <a:fld id="{661E6E57-A11E-4CD0-AED6-15B700CC2E98}" type="slidenum">
              <a:rPr lang="fr-FR" smtClean="0">
                <a:latin typeface="EYInterstate Light" panose="02000506000000020004" pitchFamily="2" charset="0"/>
              </a:rPr>
              <a:t>4</a:t>
            </a:fld>
            <a:endParaRPr lang="fr-FR" dirty="0">
              <a:latin typeface="EYInterstate Light" panose="02000506000000020004" pitchFamily="2" charset="0"/>
            </a:endParaRPr>
          </a:p>
        </p:txBody>
      </p:sp>
      <p:sp>
        <p:nvSpPr>
          <p:cNvPr id="5" name="Espace réservé du contenu 2"/>
          <p:cNvSpPr txBox="1">
            <a:spLocks/>
          </p:cNvSpPr>
          <p:nvPr/>
        </p:nvSpPr>
        <p:spPr>
          <a:xfrm>
            <a:off x="397955" y="1257299"/>
            <a:ext cx="8307281" cy="4525963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n-US" sz="1600" b="1" dirty="0">
                <a:solidFill>
                  <a:srgbClr val="223F87"/>
                </a:solidFill>
                <a:latin typeface="+mj-lt"/>
              </a:rPr>
              <a:t>Significant events </a:t>
            </a:r>
          </a:p>
          <a:p>
            <a:pPr marL="0" indent="0" algn="just">
              <a:buNone/>
            </a:pPr>
            <a:endParaRPr lang="en-US" sz="1050" b="1" u="sng" dirty="0">
              <a:latin typeface="EYInterstate Light" panose="02000506000000020004" pitchFamily="2" charset="0"/>
            </a:endParaRPr>
          </a:p>
          <a:p>
            <a:pPr algn="just">
              <a:lnSpc>
                <a:spcPct val="90000"/>
              </a:lnSpc>
              <a:spcAft>
                <a:spcPts val="600"/>
              </a:spcAft>
              <a:buClr>
                <a:srgbClr val="223F87"/>
              </a:buClr>
              <a:buFont typeface="Wingdings 3" panose="05040102010807070707" pitchFamily="18" charset="2"/>
              <a:buChar char=""/>
            </a:pPr>
            <a:r>
              <a:rPr lang="en-US" sz="1000" dirty="0">
                <a:latin typeface="+mj-lt"/>
              </a:rPr>
              <a:t>Restructuring plan</a:t>
            </a:r>
          </a:p>
          <a:p>
            <a:pPr algn="just">
              <a:lnSpc>
                <a:spcPct val="90000"/>
              </a:lnSpc>
              <a:spcAft>
                <a:spcPts val="600"/>
              </a:spcAft>
              <a:buClr>
                <a:srgbClr val="223F87"/>
              </a:buClr>
              <a:buFont typeface="Wingdings 3" panose="05040102010807070707" pitchFamily="18" charset="2"/>
              <a:buChar char=""/>
            </a:pPr>
            <a:r>
              <a:rPr lang="en-US" sz="1000" dirty="0">
                <a:latin typeface="+mj-lt"/>
              </a:rPr>
              <a:t>Significant litigations</a:t>
            </a:r>
          </a:p>
          <a:p>
            <a:pPr algn="just">
              <a:lnSpc>
                <a:spcPct val="90000"/>
              </a:lnSpc>
              <a:spcAft>
                <a:spcPts val="600"/>
              </a:spcAft>
              <a:buClr>
                <a:srgbClr val="223F87"/>
              </a:buClr>
              <a:buFont typeface="Wingdings 3" panose="05040102010807070707" pitchFamily="18" charset="2"/>
              <a:buChar char=""/>
            </a:pPr>
            <a:r>
              <a:rPr lang="en-US" sz="1000" dirty="0">
                <a:latin typeface="+mj-lt"/>
              </a:rPr>
              <a:t>Tax matters</a:t>
            </a:r>
          </a:p>
          <a:p>
            <a:pPr algn="just">
              <a:lnSpc>
                <a:spcPct val="90000"/>
              </a:lnSpc>
              <a:spcAft>
                <a:spcPts val="600"/>
              </a:spcAft>
              <a:buClr>
                <a:srgbClr val="223F87"/>
              </a:buClr>
              <a:buFont typeface="Wingdings 3" panose="05040102010807070707" pitchFamily="18" charset="2"/>
              <a:buChar char=""/>
            </a:pPr>
            <a:r>
              <a:rPr lang="en-US" sz="1000" dirty="0">
                <a:latin typeface="+mj-lt"/>
              </a:rPr>
              <a:t>Sales/Factoring of trade receivables</a:t>
            </a:r>
          </a:p>
          <a:p>
            <a:pPr algn="just">
              <a:lnSpc>
                <a:spcPct val="90000"/>
              </a:lnSpc>
              <a:spcAft>
                <a:spcPts val="600"/>
              </a:spcAft>
              <a:buClr>
                <a:srgbClr val="223F87"/>
              </a:buClr>
              <a:buFont typeface="Wingdings 3" panose="05040102010807070707" pitchFamily="18" charset="2"/>
              <a:buChar char=""/>
            </a:pPr>
            <a:r>
              <a:rPr lang="en-US" sz="1000" dirty="0">
                <a:latin typeface="+mj-lt"/>
              </a:rPr>
              <a:t>Changes in top management</a:t>
            </a:r>
          </a:p>
          <a:p>
            <a:pPr algn="just">
              <a:lnSpc>
                <a:spcPct val="90000"/>
              </a:lnSpc>
              <a:spcAft>
                <a:spcPts val="600"/>
              </a:spcAft>
              <a:buClr>
                <a:srgbClr val="223F87"/>
              </a:buClr>
              <a:buFont typeface="Wingdings 3" panose="05040102010807070707" pitchFamily="18" charset="2"/>
              <a:buChar char=""/>
            </a:pPr>
            <a:r>
              <a:rPr lang="en-US" sz="1000" dirty="0">
                <a:latin typeface="+mj-lt"/>
              </a:rPr>
              <a:t>Change in shareholder’s structure</a:t>
            </a:r>
          </a:p>
          <a:p>
            <a:pPr algn="just">
              <a:lnSpc>
                <a:spcPct val="90000"/>
              </a:lnSpc>
              <a:spcAft>
                <a:spcPts val="600"/>
              </a:spcAft>
              <a:buClr>
                <a:srgbClr val="223F87"/>
              </a:buClr>
              <a:buFont typeface="Wingdings 3" panose="05040102010807070707" pitchFamily="18" charset="2"/>
              <a:buChar char=""/>
            </a:pPr>
            <a:r>
              <a:rPr lang="en-US" sz="1000" dirty="0">
                <a:latin typeface="+mj-lt"/>
              </a:rPr>
              <a:t>Major changes in IT systems</a:t>
            </a:r>
          </a:p>
          <a:p>
            <a:pPr algn="just">
              <a:lnSpc>
                <a:spcPct val="90000"/>
              </a:lnSpc>
              <a:spcAft>
                <a:spcPts val="600"/>
              </a:spcAft>
              <a:buClr>
                <a:srgbClr val="223F87"/>
              </a:buClr>
              <a:buFont typeface="Wingdings 3" panose="05040102010807070707" pitchFamily="18" charset="2"/>
              <a:buChar char=""/>
            </a:pPr>
            <a:r>
              <a:rPr lang="en-US" sz="1000" dirty="0">
                <a:latin typeface="+mj-lt"/>
              </a:rPr>
              <a:t>Major changes in procedures</a:t>
            </a:r>
          </a:p>
          <a:p>
            <a:pPr algn="just">
              <a:lnSpc>
                <a:spcPct val="90000"/>
              </a:lnSpc>
              <a:spcAft>
                <a:spcPts val="600"/>
              </a:spcAft>
              <a:buClr>
                <a:srgbClr val="223F87"/>
              </a:buClr>
              <a:buFont typeface="Wingdings 3" panose="05040102010807070707" pitchFamily="18" charset="2"/>
              <a:buChar char=""/>
            </a:pPr>
            <a:r>
              <a:rPr lang="en-US" sz="1000" dirty="0">
                <a:latin typeface="+mj-lt"/>
              </a:rPr>
              <a:t>Fraud</a:t>
            </a:r>
          </a:p>
          <a:p>
            <a:pPr algn="just">
              <a:lnSpc>
                <a:spcPct val="90000"/>
              </a:lnSpc>
              <a:spcAft>
                <a:spcPts val="600"/>
              </a:spcAft>
              <a:buClr>
                <a:srgbClr val="223F87"/>
              </a:buClr>
              <a:buFont typeface="Wingdings 3" panose="05040102010807070707" pitchFamily="18" charset="2"/>
              <a:buChar char=""/>
            </a:pPr>
            <a:r>
              <a:rPr lang="en-US" sz="1000" dirty="0">
                <a:latin typeface="+mj-lt"/>
              </a:rPr>
              <a:t>Going concern</a:t>
            </a:r>
          </a:p>
          <a:p>
            <a:pPr algn="just">
              <a:lnSpc>
                <a:spcPct val="90000"/>
              </a:lnSpc>
              <a:spcAft>
                <a:spcPts val="600"/>
              </a:spcAft>
              <a:buClr>
                <a:srgbClr val="223F87"/>
              </a:buClr>
              <a:buFont typeface="Wingdings 3" panose="05040102010807070707" pitchFamily="18" charset="2"/>
              <a:buChar char=""/>
            </a:pPr>
            <a:r>
              <a:rPr lang="en-US" sz="1000" dirty="0">
                <a:latin typeface="+mj-lt"/>
              </a:rPr>
              <a:t>Local hedging operation</a:t>
            </a:r>
          </a:p>
          <a:p>
            <a:pPr algn="just">
              <a:lnSpc>
                <a:spcPct val="90000"/>
              </a:lnSpc>
              <a:spcAft>
                <a:spcPts val="600"/>
              </a:spcAft>
              <a:buClr>
                <a:srgbClr val="223F87"/>
              </a:buClr>
              <a:buFont typeface="Wingdings 3" panose="05040102010807070707" pitchFamily="18" charset="2"/>
              <a:buChar char=""/>
            </a:pPr>
            <a:r>
              <a:rPr lang="en-US" sz="1000" dirty="0">
                <a:latin typeface="+mj-lt"/>
              </a:rPr>
              <a:t>Significant capital expenditures, acquisitions and disposals (new plant,…)</a:t>
            </a:r>
          </a:p>
          <a:p>
            <a:pPr marL="0" indent="0" algn="just">
              <a:buNone/>
            </a:pPr>
            <a:endParaRPr lang="en-US" sz="1400" dirty="0">
              <a:solidFill>
                <a:srgbClr val="FF0000"/>
              </a:solidFill>
              <a:latin typeface="EYInterstate Light" panose="02000506000000020004" pitchFamily="2" charset="0"/>
            </a:endParaRPr>
          </a:p>
          <a:p>
            <a:pPr marL="0" indent="0" algn="just">
              <a:buNone/>
            </a:pPr>
            <a:endParaRPr lang="en-US" sz="1400" dirty="0">
              <a:solidFill>
                <a:srgbClr val="FF0000"/>
              </a:solidFill>
              <a:latin typeface="EYInterstate Light" panose="02000506000000020004" pitchFamily="2" charset="0"/>
            </a:endParaRPr>
          </a:p>
          <a:p>
            <a:pPr marL="0" indent="0" algn="just">
              <a:buNone/>
            </a:pPr>
            <a:endParaRPr lang="en-US" sz="1400" dirty="0">
              <a:solidFill>
                <a:srgbClr val="FF0000"/>
              </a:solidFill>
              <a:latin typeface="EYInterstate Light" panose="02000506000000020004" pitchFamily="2" charset="0"/>
            </a:endParaRPr>
          </a:p>
          <a:p>
            <a:pPr marL="0" indent="0" algn="just">
              <a:buNone/>
            </a:pPr>
            <a:endParaRPr lang="en-US" sz="1400" dirty="0">
              <a:solidFill>
                <a:srgbClr val="FF0000"/>
              </a:solidFill>
              <a:latin typeface="EYInterstate Light" panose="02000506000000020004" pitchFamily="2" charset="0"/>
            </a:endParaRPr>
          </a:p>
          <a:p>
            <a:pPr algn="just"/>
            <a:endParaRPr lang="en-US" sz="1400" dirty="0">
              <a:solidFill>
                <a:srgbClr val="FF0000"/>
              </a:solidFill>
              <a:latin typeface="EYInterstate Light" panose="02000506000000020004" pitchFamily="2" charset="0"/>
            </a:endParaRPr>
          </a:p>
          <a:p>
            <a:pPr algn="just"/>
            <a:endParaRPr lang="en-US" sz="1400" dirty="0">
              <a:latin typeface="EYInterstate Light" panose="02000506000000020004" pitchFamily="2" charset="0"/>
            </a:endParaRPr>
          </a:p>
          <a:p>
            <a:pPr marL="0" indent="0" algn="just">
              <a:buNone/>
            </a:pPr>
            <a:endParaRPr lang="en-US" sz="1400" dirty="0">
              <a:latin typeface="EYInterstate Light" panose="02000506000000020004" pitchFamily="2" charset="0"/>
            </a:endParaRPr>
          </a:p>
        </p:txBody>
      </p:sp>
      <p:sp>
        <p:nvSpPr>
          <p:cNvPr id="7" name="Pentagon 6"/>
          <p:cNvSpPr/>
          <p:nvPr/>
        </p:nvSpPr>
        <p:spPr>
          <a:xfrm>
            <a:off x="3723814" y="132929"/>
            <a:ext cx="1386001" cy="516535"/>
          </a:xfrm>
          <a:prstGeom prst="homePlate">
            <a:avLst/>
          </a:prstGeom>
          <a:solidFill>
            <a:srgbClr val="223F87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88900" rIns="88900" bIns="88900" rtlCol="0" anchor="ctr"/>
          <a:lstStyle/>
          <a:p>
            <a:pPr algn="ctr"/>
            <a:r>
              <a:rPr lang="en-US" sz="1200" b="1" dirty="0">
                <a:solidFill>
                  <a:schemeClr val="bg1"/>
                </a:solidFill>
                <a:latin typeface="+mj-lt"/>
              </a:rPr>
              <a:t>Context</a:t>
            </a:r>
          </a:p>
        </p:txBody>
      </p:sp>
      <p:sp>
        <p:nvSpPr>
          <p:cNvPr id="8" name="Chevron 7"/>
          <p:cNvSpPr/>
          <p:nvPr/>
        </p:nvSpPr>
        <p:spPr>
          <a:xfrm>
            <a:off x="4930617" y="132929"/>
            <a:ext cx="1386001" cy="516535"/>
          </a:xfrm>
          <a:prstGeom prst="chevron">
            <a:avLst/>
          </a:prstGeom>
          <a:solidFill>
            <a:schemeClr val="bg1">
              <a:lumMod val="85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88900" rIns="0" bIns="88900" rtlCol="0" anchor="ctr"/>
          <a:lstStyle/>
          <a:p>
            <a:pPr algn="ctr"/>
            <a:r>
              <a:rPr lang="en-US" sz="1200" dirty="0">
                <a:solidFill>
                  <a:schemeClr val="bg1"/>
                </a:solidFill>
                <a:latin typeface="+mj-lt"/>
              </a:rPr>
              <a:t>Accounting &amp; auditing issues</a:t>
            </a:r>
          </a:p>
        </p:txBody>
      </p:sp>
      <p:sp>
        <p:nvSpPr>
          <p:cNvPr id="9" name="Chevron 8"/>
          <p:cNvSpPr/>
          <p:nvPr/>
        </p:nvSpPr>
        <p:spPr>
          <a:xfrm>
            <a:off x="6126958" y="132929"/>
            <a:ext cx="1386001" cy="516535"/>
          </a:xfrm>
          <a:prstGeom prst="chevron">
            <a:avLst/>
          </a:prstGeom>
          <a:solidFill>
            <a:schemeClr val="bg1">
              <a:lumMod val="85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88900" rIns="0" bIns="88900" rtlCol="0" anchor="ctr"/>
          <a:lstStyle/>
          <a:p>
            <a:pPr algn="ctr"/>
            <a:r>
              <a:rPr lang="en-US" sz="1200" dirty="0">
                <a:solidFill>
                  <a:schemeClr val="bg1"/>
                </a:solidFill>
                <a:latin typeface="+mj-lt"/>
              </a:rPr>
              <a:t>Conclusion</a:t>
            </a:r>
          </a:p>
        </p:txBody>
      </p:sp>
      <p:sp>
        <p:nvSpPr>
          <p:cNvPr id="11" name="Chevron 10"/>
          <p:cNvSpPr/>
          <p:nvPr/>
        </p:nvSpPr>
        <p:spPr>
          <a:xfrm>
            <a:off x="7319236" y="132929"/>
            <a:ext cx="1386001" cy="516535"/>
          </a:xfrm>
          <a:prstGeom prst="chevron">
            <a:avLst/>
          </a:prstGeom>
          <a:solidFill>
            <a:schemeClr val="bg1">
              <a:lumMod val="85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88900" rIns="0" bIns="88900" rtlCol="0" anchor="ctr"/>
          <a:lstStyle/>
          <a:p>
            <a:r>
              <a:rPr lang="en-US" sz="1200" dirty="0">
                <a:solidFill>
                  <a:schemeClr val="bg1"/>
                </a:solidFill>
                <a:latin typeface="+mj-lt"/>
              </a:rPr>
              <a:t>Appendices</a:t>
            </a:r>
          </a:p>
        </p:txBody>
      </p:sp>
      <p:sp>
        <p:nvSpPr>
          <p:cNvPr id="12" name="ZoneTexte 11"/>
          <p:cNvSpPr txBox="1"/>
          <p:nvPr/>
        </p:nvSpPr>
        <p:spPr>
          <a:xfrm>
            <a:off x="513922" y="5342861"/>
            <a:ext cx="2742546" cy="307777"/>
          </a:xfrm>
          <a:prstGeom prst="rect">
            <a:avLst/>
          </a:prstGeom>
          <a:noFill/>
          <a:ln w="25400">
            <a:solidFill>
              <a:srgbClr val="FF0000"/>
            </a:solidFill>
            <a:prstDash val="sysDash"/>
          </a:ln>
        </p:spPr>
        <p:txBody>
          <a:bodyPr wrap="square" rtlCol="0">
            <a:spAutoFit/>
          </a:bodyPr>
          <a:lstStyle>
            <a:defPPr>
              <a:defRPr lang="en-GB"/>
            </a:defPPr>
            <a:lvl1pPr algn="ctr">
              <a:defRPr sz="1400" i="1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Please update </a:t>
            </a:r>
          </a:p>
        </p:txBody>
      </p:sp>
      <p:cxnSp>
        <p:nvCxnSpPr>
          <p:cNvPr id="15" name="Connecteur droit 14"/>
          <p:cNvCxnSpPr/>
          <p:nvPr/>
        </p:nvCxnSpPr>
        <p:spPr>
          <a:xfrm>
            <a:off x="488891" y="1592277"/>
            <a:ext cx="8172000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249768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1"/>
          <p:cNvSpPr txBox="1">
            <a:spLocks/>
          </p:cNvSpPr>
          <p:nvPr/>
        </p:nvSpPr>
        <p:spPr>
          <a:xfrm>
            <a:off x="323528" y="50376"/>
            <a:ext cx="8554658" cy="850106"/>
          </a:xfrm>
          <a:prstGeom prst="rect">
            <a:avLst/>
          </a:prstGeom>
        </p:spPr>
        <p:txBody>
          <a:bodyPr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700" b="1" dirty="0">
                <a:solidFill>
                  <a:prstClr val="black"/>
                </a:solidFill>
              </a:rPr>
              <a:t>Accounting &amp; auditing issues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>
          <a:xfrm>
            <a:off x="2700337" y="6482398"/>
            <a:ext cx="2057400" cy="365125"/>
          </a:xfrm>
        </p:spPr>
        <p:txBody>
          <a:bodyPr/>
          <a:lstStyle/>
          <a:p>
            <a:fld id="{661E6E57-A11E-4CD0-AED6-15B700CC2E98}" type="slidenum">
              <a:rPr lang="fr-FR" smtClean="0">
                <a:latin typeface="EYInterstate Light" panose="02000506000000020004" pitchFamily="2" charset="0"/>
              </a:rPr>
              <a:t>5</a:t>
            </a:fld>
            <a:endParaRPr lang="fr-FR" dirty="0">
              <a:latin typeface="EYInterstate Light" panose="02000506000000020004" pitchFamily="2" charset="0"/>
            </a:endParaRPr>
          </a:p>
        </p:txBody>
      </p:sp>
      <p:sp>
        <p:nvSpPr>
          <p:cNvPr id="5" name="Espace réservé du contenu 2"/>
          <p:cNvSpPr txBox="1">
            <a:spLocks/>
          </p:cNvSpPr>
          <p:nvPr/>
        </p:nvSpPr>
        <p:spPr>
          <a:xfrm>
            <a:off x="397955" y="1257299"/>
            <a:ext cx="8307281" cy="412745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n-US" sz="1600" b="1" dirty="0">
                <a:solidFill>
                  <a:srgbClr val="223F87"/>
                </a:solidFill>
                <a:latin typeface="+mj-lt"/>
              </a:rPr>
              <a:t>New issues identified</a:t>
            </a:r>
          </a:p>
          <a:p>
            <a:pPr marL="0" indent="0" algn="just">
              <a:buNone/>
            </a:pPr>
            <a:endParaRPr lang="en-US" sz="1050" b="1" u="sng" dirty="0">
              <a:latin typeface="EYInterstate Light" panose="02000506000000020004" pitchFamily="2" charset="0"/>
            </a:endParaRPr>
          </a:p>
          <a:p>
            <a:pPr marL="0" indent="0" algn="just">
              <a:buNone/>
            </a:pPr>
            <a:endParaRPr lang="en-US" sz="1050" dirty="0">
              <a:latin typeface="EYInterstate Light" panose="02000506000000020004" pitchFamily="2" charset="0"/>
            </a:endParaRPr>
          </a:p>
          <a:p>
            <a:pPr marL="0" indent="0" algn="just">
              <a:buNone/>
            </a:pPr>
            <a:endParaRPr lang="en-US" sz="1050" dirty="0">
              <a:latin typeface="EYInterstate Light" panose="02000506000000020004" pitchFamily="2" charset="0"/>
            </a:endParaRPr>
          </a:p>
          <a:p>
            <a:pPr marL="0" indent="0" algn="just">
              <a:buNone/>
            </a:pPr>
            <a:endParaRPr lang="en-US" sz="1050" dirty="0">
              <a:latin typeface="EYInterstate Light" panose="02000506000000020004" pitchFamily="2" charset="0"/>
            </a:endParaRPr>
          </a:p>
          <a:p>
            <a:pPr marL="0" indent="0" algn="just">
              <a:buNone/>
            </a:pPr>
            <a:endParaRPr lang="en-US" sz="1400" dirty="0">
              <a:solidFill>
                <a:srgbClr val="FF0000"/>
              </a:solidFill>
              <a:latin typeface="EYInterstate Light" panose="02000506000000020004" pitchFamily="2" charset="0"/>
            </a:endParaRPr>
          </a:p>
          <a:p>
            <a:pPr marL="0" indent="0" algn="just">
              <a:buNone/>
            </a:pPr>
            <a:endParaRPr lang="en-US" sz="1400" dirty="0">
              <a:solidFill>
                <a:srgbClr val="FF0000"/>
              </a:solidFill>
              <a:latin typeface="EYInterstate Light" panose="02000506000000020004" pitchFamily="2" charset="0"/>
            </a:endParaRPr>
          </a:p>
          <a:p>
            <a:pPr marL="0" indent="0" algn="just">
              <a:buNone/>
            </a:pPr>
            <a:endParaRPr lang="en-US" sz="1400" dirty="0">
              <a:solidFill>
                <a:srgbClr val="FF0000"/>
              </a:solidFill>
              <a:latin typeface="EYInterstate Light" panose="02000506000000020004" pitchFamily="2" charset="0"/>
            </a:endParaRPr>
          </a:p>
          <a:p>
            <a:pPr marL="0" indent="0" algn="just">
              <a:buNone/>
            </a:pPr>
            <a:endParaRPr lang="en-US" sz="1400" dirty="0">
              <a:solidFill>
                <a:srgbClr val="FF0000"/>
              </a:solidFill>
              <a:latin typeface="EYInterstate Light" panose="02000506000000020004" pitchFamily="2" charset="0"/>
            </a:endParaRPr>
          </a:p>
          <a:p>
            <a:pPr algn="just"/>
            <a:endParaRPr lang="en-US" sz="1400" dirty="0">
              <a:solidFill>
                <a:srgbClr val="FF0000"/>
              </a:solidFill>
              <a:latin typeface="EYInterstate Light" panose="02000506000000020004" pitchFamily="2" charset="0"/>
            </a:endParaRPr>
          </a:p>
          <a:p>
            <a:pPr algn="just"/>
            <a:endParaRPr lang="en-US" sz="1400" dirty="0">
              <a:latin typeface="EYInterstate Light" panose="02000506000000020004" pitchFamily="2" charset="0"/>
            </a:endParaRPr>
          </a:p>
          <a:p>
            <a:pPr marL="0" indent="0" algn="just">
              <a:buNone/>
            </a:pPr>
            <a:endParaRPr lang="en-US" sz="1400" dirty="0">
              <a:latin typeface="EYInterstate Light" panose="02000506000000020004" pitchFamily="2" charset="0"/>
            </a:endParaRPr>
          </a:p>
        </p:txBody>
      </p:sp>
      <p:sp>
        <p:nvSpPr>
          <p:cNvPr id="7" name="Pentagon 6"/>
          <p:cNvSpPr/>
          <p:nvPr/>
        </p:nvSpPr>
        <p:spPr>
          <a:xfrm>
            <a:off x="3723814" y="132929"/>
            <a:ext cx="1386001" cy="516535"/>
          </a:xfrm>
          <a:prstGeom prst="homePlate">
            <a:avLst/>
          </a:prstGeom>
          <a:solidFill>
            <a:schemeClr val="bg1">
              <a:lumMod val="85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88900" rIns="88900" bIns="88900" rtlCol="0" anchor="ctr"/>
          <a:lstStyle/>
          <a:p>
            <a:pPr algn="ctr"/>
            <a:r>
              <a:rPr lang="en-US" sz="1200" dirty="0">
                <a:solidFill>
                  <a:schemeClr val="bg1"/>
                </a:solidFill>
                <a:latin typeface="+mj-lt"/>
              </a:rPr>
              <a:t>Context</a:t>
            </a:r>
          </a:p>
        </p:txBody>
      </p:sp>
      <p:sp>
        <p:nvSpPr>
          <p:cNvPr id="8" name="Chevron 7"/>
          <p:cNvSpPr/>
          <p:nvPr/>
        </p:nvSpPr>
        <p:spPr>
          <a:xfrm>
            <a:off x="4930617" y="132929"/>
            <a:ext cx="1386001" cy="516535"/>
          </a:xfrm>
          <a:prstGeom prst="chevron">
            <a:avLst/>
          </a:prstGeom>
          <a:solidFill>
            <a:srgbClr val="223F87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88900" rIns="0" bIns="88900" rtlCol="0" anchor="ctr"/>
          <a:lstStyle/>
          <a:p>
            <a:pPr algn="ctr"/>
            <a:r>
              <a:rPr lang="en-US" sz="1200" b="1" dirty="0">
                <a:solidFill>
                  <a:schemeClr val="bg1"/>
                </a:solidFill>
                <a:latin typeface="+mj-lt"/>
              </a:rPr>
              <a:t>Accounting &amp; auditing issues</a:t>
            </a:r>
          </a:p>
        </p:txBody>
      </p:sp>
      <p:sp>
        <p:nvSpPr>
          <p:cNvPr id="9" name="Chevron 8"/>
          <p:cNvSpPr/>
          <p:nvPr/>
        </p:nvSpPr>
        <p:spPr>
          <a:xfrm>
            <a:off x="6126958" y="132929"/>
            <a:ext cx="1386001" cy="516535"/>
          </a:xfrm>
          <a:prstGeom prst="chevron">
            <a:avLst/>
          </a:prstGeom>
          <a:solidFill>
            <a:schemeClr val="bg1">
              <a:lumMod val="85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88900" rIns="0" bIns="88900" rtlCol="0" anchor="ctr"/>
          <a:lstStyle/>
          <a:p>
            <a:pPr algn="ctr"/>
            <a:r>
              <a:rPr lang="en-US" sz="1200" dirty="0">
                <a:solidFill>
                  <a:schemeClr val="bg1"/>
                </a:solidFill>
                <a:latin typeface="+mj-lt"/>
              </a:rPr>
              <a:t>Conclusion</a:t>
            </a:r>
          </a:p>
        </p:txBody>
      </p:sp>
      <p:sp>
        <p:nvSpPr>
          <p:cNvPr id="11" name="Chevron 10"/>
          <p:cNvSpPr/>
          <p:nvPr/>
        </p:nvSpPr>
        <p:spPr>
          <a:xfrm>
            <a:off x="7319236" y="132929"/>
            <a:ext cx="1386001" cy="516535"/>
          </a:xfrm>
          <a:prstGeom prst="chevron">
            <a:avLst/>
          </a:prstGeom>
          <a:solidFill>
            <a:schemeClr val="bg1">
              <a:lumMod val="85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88900" rIns="0" bIns="88900" rtlCol="0" anchor="ctr"/>
          <a:lstStyle/>
          <a:p>
            <a:r>
              <a:rPr lang="en-US" sz="1200" dirty="0">
                <a:solidFill>
                  <a:schemeClr val="bg1"/>
                </a:solidFill>
                <a:latin typeface="+mj-lt"/>
              </a:rPr>
              <a:t>Appendices</a:t>
            </a:r>
          </a:p>
        </p:txBody>
      </p:sp>
      <p:cxnSp>
        <p:nvCxnSpPr>
          <p:cNvPr id="15" name="Connecteur droit 14"/>
          <p:cNvCxnSpPr/>
          <p:nvPr/>
        </p:nvCxnSpPr>
        <p:spPr>
          <a:xfrm>
            <a:off x="488891" y="1592277"/>
            <a:ext cx="8172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Placeholder 4"/>
          <p:cNvSpPr txBox="1">
            <a:spLocks/>
          </p:cNvSpPr>
          <p:nvPr/>
        </p:nvSpPr>
        <p:spPr>
          <a:xfrm>
            <a:off x="738928" y="1721519"/>
            <a:ext cx="7956000" cy="21640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2">
              <a:buClr>
                <a:srgbClr val="FFD200"/>
              </a:buClr>
              <a:buSzPct val="75000"/>
              <a:defRPr/>
            </a:pPr>
            <a:r>
              <a:rPr lang="en-US" sz="1400" b="1" dirty="0">
                <a:solidFill>
                  <a:srgbClr val="223F87"/>
                </a:solidFill>
                <a:latin typeface="+mj-lt"/>
              </a:rPr>
              <a:t>Division (BG – Entity Code) - </a:t>
            </a:r>
            <a:r>
              <a:rPr lang="fr-FR" sz="1400" b="1" dirty="0">
                <a:solidFill>
                  <a:srgbClr val="223F87"/>
                </a:solidFill>
                <a:latin typeface="+mj-lt"/>
              </a:rPr>
              <a:t>XXX</a:t>
            </a:r>
            <a:endParaRPr lang="fr-FR" sz="1600" b="1" dirty="0">
              <a:solidFill>
                <a:srgbClr val="223F87"/>
              </a:solidFill>
              <a:latin typeface="+mj-lt"/>
              <a:sym typeface="Wingdings" pitchFamily="2" charset="2"/>
            </a:endParaRPr>
          </a:p>
        </p:txBody>
      </p:sp>
      <p:sp>
        <p:nvSpPr>
          <p:cNvPr id="17" name="ZoneTexte 16"/>
          <p:cNvSpPr txBox="1"/>
          <p:nvPr/>
        </p:nvSpPr>
        <p:spPr>
          <a:xfrm>
            <a:off x="5952382" y="1051245"/>
            <a:ext cx="2742546" cy="307777"/>
          </a:xfrm>
          <a:prstGeom prst="rect">
            <a:avLst/>
          </a:prstGeom>
          <a:noFill/>
          <a:ln w="25400">
            <a:solidFill>
              <a:srgbClr val="FF0000"/>
            </a:solidFill>
            <a:prstDash val="sysDash"/>
          </a:ln>
        </p:spPr>
        <p:txBody>
          <a:bodyPr wrap="square" rtlCol="0">
            <a:spAutoFit/>
          </a:bodyPr>
          <a:lstStyle>
            <a:defPPr>
              <a:defRPr lang="en-GB"/>
            </a:defPPr>
            <a:lvl1pPr algn="ctr">
              <a:defRPr sz="1400" i="1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Please update the color. See page 1</a:t>
            </a:r>
          </a:p>
        </p:txBody>
      </p:sp>
      <p:sp>
        <p:nvSpPr>
          <p:cNvPr id="19" name="Text Placeholder 4"/>
          <p:cNvSpPr txBox="1">
            <a:spLocks/>
          </p:cNvSpPr>
          <p:nvPr/>
        </p:nvSpPr>
        <p:spPr>
          <a:xfrm>
            <a:off x="488891" y="1721519"/>
            <a:ext cx="288000" cy="21640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2">
              <a:buClr>
                <a:srgbClr val="FFD200"/>
              </a:buClr>
              <a:buSzPct val="75000"/>
              <a:defRPr/>
            </a:pPr>
            <a:r>
              <a:rPr lang="fr-FR" sz="1600" b="1" dirty="0">
                <a:solidFill>
                  <a:schemeClr val="bg1"/>
                </a:solidFill>
                <a:latin typeface="+mj-lt"/>
              </a:rPr>
              <a:t>1</a:t>
            </a:r>
            <a:endParaRPr lang="fr-FR" sz="1600" b="1" dirty="0">
              <a:solidFill>
                <a:schemeClr val="bg1"/>
              </a:solidFill>
              <a:latin typeface="+mj-lt"/>
              <a:sym typeface="Wingdings" pitchFamily="2" charset="2"/>
            </a:endParaRPr>
          </a:p>
        </p:txBody>
      </p:sp>
      <p:sp>
        <p:nvSpPr>
          <p:cNvPr id="20" name="Freeform 858"/>
          <p:cNvSpPr>
            <a:spLocks noChangeAspect="1" noEditPoints="1"/>
          </p:cNvSpPr>
          <p:nvPr/>
        </p:nvSpPr>
        <p:spPr bwMode="auto">
          <a:xfrm>
            <a:off x="8360884" y="1715692"/>
            <a:ext cx="216000" cy="216000"/>
          </a:xfrm>
          <a:custGeom>
            <a:avLst/>
            <a:gdLst>
              <a:gd name="T0" fmla="*/ 352 w 512"/>
              <a:gd name="T1" fmla="*/ 146 h 512"/>
              <a:gd name="T2" fmla="*/ 352 w 512"/>
              <a:gd name="T3" fmla="*/ 260 h 512"/>
              <a:gd name="T4" fmla="*/ 263 w 512"/>
              <a:gd name="T5" fmla="*/ 259 h 512"/>
              <a:gd name="T6" fmla="*/ 208 w 512"/>
              <a:gd name="T7" fmla="*/ 236 h 512"/>
              <a:gd name="T8" fmla="*/ 160 w 512"/>
              <a:gd name="T9" fmla="*/ 248 h 512"/>
              <a:gd name="T10" fmla="*/ 160 w 512"/>
              <a:gd name="T11" fmla="*/ 134 h 512"/>
              <a:gd name="T12" fmla="*/ 248 w 512"/>
              <a:gd name="T13" fmla="*/ 135 h 512"/>
              <a:gd name="T14" fmla="*/ 352 w 512"/>
              <a:gd name="T15" fmla="*/ 146 h 512"/>
              <a:gd name="T16" fmla="*/ 512 w 512"/>
              <a:gd name="T17" fmla="*/ 256 h 512"/>
              <a:gd name="T18" fmla="*/ 256 w 512"/>
              <a:gd name="T19" fmla="*/ 512 h 512"/>
              <a:gd name="T20" fmla="*/ 0 w 512"/>
              <a:gd name="T21" fmla="*/ 256 h 512"/>
              <a:gd name="T22" fmla="*/ 256 w 512"/>
              <a:gd name="T23" fmla="*/ 0 h 512"/>
              <a:gd name="T24" fmla="*/ 512 w 512"/>
              <a:gd name="T25" fmla="*/ 256 h 512"/>
              <a:gd name="T26" fmla="*/ 373 w 512"/>
              <a:gd name="T27" fmla="*/ 128 h 512"/>
              <a:gd name="T28" fmla="*/ 367 w 512"/>
              <a:gd name="T29" fmla="*/ 118 h 512"/>
              <a:gd name="T30" fmla="*/ 356 w 512"/>
              <a:gd name="T31" fmla="*/ 119 h 512"/>
              <a:gd name="T32" fmla="*/ 263 w 512"/>
              <a:gd name="T33" fmla="*/ 120 h 512"/>
              <a:gd name="T34" fmla="*/ 143 w 512"/>
              <a:gd name="T35" fmla="*/ 119 h 512"/>
              <a:gd name="T36" fmla="*/ 138 w 512"/>
              <a:gd name="T37" fmla="*/ 128 h 512"/>
              <a:gd name="T38" fmla="*/ 138 w 512"/>
              <a:gd name="T39" fmla="*/ 384 h 512"/>
              <a:gd name="T40" fmla="*/ 149 w 512"/>
              <a:gd name="T41" fmla="*/ 394 h 512"/>
              <a:gd name="T42" fmla="*/ 160 w 512"/>
              <a:gd name="T43" fmla="*/ 384 h 512"/>
              <a:gd name="T44" fmla="*/ 160 w 512"/>
              <a:gd name="T45" fmla="*/ 272 h 512"/>
              <a:gd name="T46" fmla="*/ 248 w 512"/>
              <a:gd name="T47" fmla="*/ 274 h 512"/>
              <a:gd name="T48" fmla="*/ 368 w 512"/>
              <a:gd name="T49" fmla="*/ 275 h 512"/>
              <a:gd name="T50" fmla="*/ 373 w 512"/>
              <a:gd name="T51" fmla="*/ 266 h 512"/>
              <a:gd name="T52" fmla="*/ 373 w 512"/>
              <a:gd name="T53" fmla="*/ 128 h 5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512" h="512">
                <a:moveTo>
                  <a:pt x="352" y="146"/>
                </a:moveTo>
                <a:cubicBezTo>
                  <a:pt x="352" y="260"/>
                  <a:pt x="352" y="260"/>
                  <a:pt x="352" y="260"/>
                </a:cubicBezTo>
                <a:cubicBezTo>
                  <a:pt x="337" y="268"/>
                  <a:pt x="293" y="288"/>
                  <a:pt x="263" y="259"/>
                </a:cubicBezTo>
                <a:cubicBezTo>
                  <a:pt x="247" y="242"/>
                  <a:pt x="227" y="236"/>
                  <a:pt x="208" y="236"/>
                </a:cubicBezTo>
                <a:cubicBezTo>
                  <a:pt x="191" y="236"/>
                  <a:pt x="173" y="242"/>
                  <a:pt x="160" y="248"/>
                </a:cubicBezTo>
                <a:cubicBezTo>
                  <a:pt x="160" y="134"/>
                  <a:pt x="160" y="134"/>
                  <a:pt x="160" y="134"/>
                </a:cubicBezTo>
                <a:cubicBezTo>
                  <a:pt x="174" y="126"/>
                  <a:pt x="218" y="105"/>
                  <a:pt x="248" y="135"/>
                </a:cubicBezTo>
                <a:cubicBezTo>
                  <a:pt x="280" y="167"/>
                  <a:pt x="323" y="159"/>
                  <a:pt x="352" y="146"/>
                </a:cubicBezTo>
                <a:close/>
                <a:moveTo>
                  <a:pt x="512" y="256"/>
                </a:moveTo>
                <a:cubicBezTo>
                  <a:pt x="512" y="397"/>
                  <a:pt x="397" y="512"/>
                  <a:pt x="256" y="512"/>
                </a:cubicBezTo>
                <a:cubicBezTo>
                  <a:pt x="114" y="512"/>
                  <a:pt x="0" y="397"/>
                  <a:pt x="0" y="256"/>
                </a:cubicBezTo>
                <a:cubicBezTo>
                  <a:pt x="0" y="114"/>
                  <a:pt x="114" y="0"/>
                  <a:pt x="256" y="0"/>
                </a:cubicBezTo>
                <a:cubicBezTo>
                  <a:pt x="397" y="0"/>
                  <a:pt x="512" y="114"/>
                  <a:pt x="512" y="256"/>
                </a:cubicBezTo>
                <a:close/>
                <a:moveTo>
                  <a:pt x="373" y="128"/>
                </a:moveTo>
                <a:cubicBezTo>
                  <a:pt x="373" y="124"/>
                  <a:pt x="371" y="120"/>
                  <a:pt x="367" y="118"/>
                </a:cubicBezTo>
                <a:cubicBezTo>
                  <a:pt x="364" y="116"/>
                  <a:pt x="360" y="117"/>
                  <a:pt x="356" y="119"/>
                </a:cubicBezTo>
                <a:cubicBezTo>
                  <a:pt x="356" y="119"/>
                  <a:pt x="299" y="156"/>
                  <a:pt x="263" y="120"/>
                </a:cubicBezTo>
                <a:cubicBezTo>
                  <a:pt x="224" y="81"/>
                  <a:pt x="167" y="102"/>
                  <a:pt x="143" y="119"/>
                </a:cubicBezTo>
                <a:cubicBezTo>
                  <a:pt x="140" y="121"/>
                  <a:pt x="138" y="124"/>
                  <a:pt x="138" y="128"/>
                </a:cubicBezTo>
                <a:cubicBezTo>
                  <a:pt x="138" y="384"/>
                  <a:pt x="138" y="384"/>
                  <a:pt x="138" y="384"/>
                </a:cubicBezTo>
                <a:cubicBezTo>
                  <a:pt x="138" y="390"/>
                  <a:pt x="143" y="394"/>
                  <a:pt x="149" y="394"/>
                </a:cubicBezTo>
                <a:cubicBezTo>
                  <a:pt x="155" y="394"/>
                  <a:pt x="160" y="390"/>
                  <a:pt x="160" y="384"/>
                </a:cubicBezTo>
                <a:cubicBezTo>
                  <a:pt x="160" y="272"/>
                  <a:pt x="160" y="272"/>
                  <a:pt x="160" y="272"/>
                </a:cubicBezTo>
                <a:cubicBezTo>
                  <a:pt x="174" y="264"/>
                  <a:pt x="217" y="243"/>
                  <a:pt x="248" y="274"/>
                </a:cubicBezTo>
                <a:cubicBezTo>
                  <a:pt x="286" y="312"/>
                  <a:pt x="343" y="292"/>
                  <a:pt x="368" y="275"/>
                </a:cubicBezTo>
                <a:cubicBezTo>
                  <a:pt x="371" y="273"/>
                  <a:pt x="373" y="270"/>
                  <a:pt x="373" y="266"/>
                </a:cubicBezTo>
                <a:lnTo>
                  <a:pt x="373" y="128"/>
                </a:lnTo>
                <a:close/>
              </a:path>
            </a:pathLst>
          </a:custGeom>
          <a:solidFill>
            <a:srgbClr val="FFC000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sz="1400" dirty="0"/>
          </a:p>
        </p:txBody>
      </p:sp>
      <p:sp>
        <p:nvSpPr>
          <p:cNvPr id="21" name="Rectangle 20"/>
          <p:cNvSpPr/>
          <p:nvPr/>
        </p:nvSpPr>
        <p:spPr>
          <a:xfrm>
            <a:off x="477589" y="2028686"/>
            <a:ext cx="7035370" cy="1588127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spAutoFit/>
          </a:bodyPr>
          <a:lstStyle/>
          <a:p>
            <a:pPr marL="381000" indent="-381000">
              <a:spcBef>
                <a:spcPct val="20000"/>
              </a:spcBef>
              <a:buSzPct val="75000"/>
              <a:buFont typeface="Arial Narrow" pitchFamily="34" charset="0"/>
              <a:buChar char="►"/>
            </a:pPr>
            <a:r>
              <a:rPr lang="fr-FR" sz="1200" b="1" i="1" dirty="0">
                <a:latin typeface="+mj-lt"/>
              </a:rPr>
              <a:t>Situation :</a:t>
            </a:r>
          </a:p>
          <a:p>
            <a:pPr>
              <a:spcBef>
                <a:spcPct val="20000"/>
              </a:spcBef>
              <a:buClr>
                <a:schemeClr val="accent1"/>
              </a:buClr>
              <a:buSzPct val="75000"/>
            </a:pPr>
            <a:r>
              <a:rPr lang="en-US" sz="1200" dirty="0"/>
              <a:t>XXX</a:t>
            </a:r>
          </a:p>
          <a:p>
            <a:pPr marL="381000" indent="-381000">
              <a:spcBef>
                <a:spcPct val="20000"/>
              </a:spcBef>
              <a:buClr>
                <a:schemeClr val="accent1"/>
              </a:buClr>
              <a:buSzPct val="75000"/>
              <a:buFont typeface="Arial Narrow" pitchFamily="34" charset="0"/>
              <a:buChar char="►"/>
            </a:pPr>
            <a:endParaRPr lang="fr-FR" sz="1200" b="1" dirty="0">
              <a:solidFill>
                <a:schemeClr val="bg2">
                  <a:lumMod val="50000"/>
                </a:schemeClr>
              </a:solidFill>
              <a:latin typeface="Calibri" panose="020F0502020204030204" pitchFamily="34" charset="0"/>
              <a:ea typeface="Verdana" panose="020B0604030504040204" pitchFamily="34" charset="0"/>
              <a:cs typeface="Calibri" panose="020F0502020204030204" pitchFamily="34" charset="0"/>
            </a:endParaRPr>
          </a:p>
          <a:p>
            <a:pPr marL="381000" indent="-381000">
              <a:spcBef>
                <a:spcPct val="20000"/>
              </a:spcBef>
              <a:buClr>
                <a:schemeClr val="accent1"/>
              </a:buClr>
              <a:buSzPct val="75000"/>
              <a:buFont typeface="Arial Narrow" pitchFamily="34" charset="0"/>
              <a:buChar char="►"/>
            </a:pPr>
            <a:endParaRPr lang="fr-FR" sz="1200" b="1" dirty="0">
              <a:solidFill>
                <a:schemeClr val="bg2">
                  <a:lumMod val="50000"/>
                </a:schemeClr>
              </a:solidFill>
              <a:latin typeface="Calibri" panose="020F0502020204030204" pitchFamily="34" charset="0"/>
              <a:ea typeface="Verdana" panose="020B0604030504040204" pitchFamily="34" charset="0"/>
              <a:cs typeface="Calibri" panose="020F0502020204030204" pitchFamily="34" charset="0"/>
            </a:endParaRPr>
          </a:p>
          <a:p>
            <a:pPr marL="381000" indent="-381000">
              <a:spcBef>
                <a:spcPct val="20000"/>
              </a:spcBef>
              <a:buClr>
                <a:schemeClr val="accent1"/>
              </a:buClr>
              <a:buSzPct val="75000"/>
              <a:buFont typeface="Arial Narrow" pitchFamily="34" charset="0"/>
              <a:buChar char="►"/>
            </a:pPr>
            <a:endParaRPr lang="fr-FR" sz="1200" b="1" dirty="0">
              <a:solidFill>
                <a:schemeClr val="bg2">
                  <a:lumMod val="50000"/>
                </a:schemeClr>
              </a:solidFill>
              <a:latin typeface="Calibri" panose="020F0502020204030204" pitchFamily="34" charset="0"/>
              <a:ea typeface="Verdana" panose="020B0604030504040204" pitchFamily="34" charset="0"/>
              <a:cs typeface="Calibri" panose="020F0502020204030204" pitchFamily="34" charset="0"/>
            </a:endParaRPr>
          </a:p>
          <a:p>
            <a:pPr marL="381000" indent="-381000">
              <a:spcBef>
                <a:spcPct val="20000"/>
              </a:spcBef>
              <a:buSzPct val="75000"/>
              <a:buFont typeface="Arial Narrow" pitchFamily="34" charset="0"/>
              <a:buChar char="►"/>
            </a:pPr>
            <a:r>
              <a:rPr lang="fr-FR" sz="1200" b="1" i="1" dirty="0" err="1">
                <a:latin typeface="+mj-lt"/>
              </a:rPr>
              <a:t>Auditor’s</a:t>
            </a:r>
            <a:r>
              <a:rPr lang="fr-FR" sz="1200" b="1" i="1" dirty="0">
                <a:latin typeface="+mj-lt"/>
              </a:rPr>
              <a:t> </a:t>
            </a:r>
            <a:r>
              <a:rPr lang="fr-FR" sz="1200" b="1" i="1" dirty="0" err="1">
                <a:latin typeface="+mj-lt"/>
              </a:rPr>
              <a:t>comments</a:t>
            </a:r>
            <a:r>
              <a:rPr lang="fr-FR" sz="1200" b="1" i="1" dirty="0">
                <a:latin typeface="+mj-lt"/>
              </a:rPr>
              <a:t> :</a:t>
            </a:r>
          </a:p>
          <a:p>
            <a:pPr>
              <a:spcBef>
                <a:spcPct val="20000"/>
              </a:spcBef>
              <a:buClr>
                <a:srgbClr val="FFD200"/>
              </a:buClr>
              <a:buSzPct val="75000"/>
            </a:pPr>
            <a:r>
              <a:rPr lang="en-US" sz="1100" dirty="0"/>
              <a:t>XXX</a:t>
            </a:r>
            <a:endParaRPr lang="fr-FR" sz="1100" b="1" u="sng" dirty="0">
              <a:solidFill>
                <a:schemeClr val="bg2">
                  <a:lumMod val="50000"/>
                </a:schemeClr>
              </a:solidFill>
              <a:latin typeface="Calibri" panose="020F0502020204030204" pitchFamily="34" charset="0"/>
              <a:ea typeface="Verdana" panose="020B0604030504040204" pitchFamily="34" charset="0"/>
              <a:cs typeface="Calibri" panose="020F0502020204030204" pitchFamily="34" charset="0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7609581" y="2013671"/>
            <a:ext cx="1095655" cy="1766637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marL="90488" indent="-90488">
              <a:spcBef>
                <a:spcPct val="20000"/>
              </a:spcBef>
              <a:buSzPct val="75000"/>
              <a:buFont typeface="Arial Narrow" pitchFamily="34" charset="0"/>
              <a:buChar char="►"/>
            </a:pPr>
            <a:r>
              <a:rPr lang="fr-FR" sz="1200" b="1" i="1" dirty="0">
                <a:latin typeface="+mj-lt"/>
              </a:rPr>
              <a:t>Impact in </a:t>
            </a:r>
            <a:r>
              <a:rPr lang="fr-FR" sz="1200" b="1" i="1" dirty="0" err="1">
                <a:latin typeface="+mj-lt"/>
              </a:rPr>
              <a:t>Kcurrency</a:t>
            </a:r>
            <a:endParaRPr lang="fr-FR" sz="1200" b="1" i="1" dirty="0">
              <a:latin typeface="+mj-lt"/>
            </a:endParaRPr>
          </a:p>
          <a:p>
            <a:pPr marL="90488" indent="-90488">
              <a:spcBef>
                <a:spcPct val="20000"/>
              </a:spcBef>
              <a:buSzPct val="75000"/>
              <a:buFont typeface="Arial Narrow" pitchFamily="34" charset="0"/>
              <a:buChar char="►"/>
            </a:pPr>
            <a:endParaRPr lang="fr-FR" sz="1200" b="1" i="1" dirty="0">
              <a:latin typeface="+mj-lt"/>
            </a:endParaRPr>
          </a:p>
          <a:p>
            <a:pPr fontAlgn="base">
              <a:spcAft>
                <a:spcPct val="0"/>
              </a:spcAft>
              <a:buClr>
                <a:schemeClr val="accent1"/>
              </a:buClr>
              <a:buSzPct val="90000"/>
            </a:pPr>
            <a:r>
              <a:rPr lang="fr-FR" sz="8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* If </a:t>
            </a:r>
            <a:r>
              <a:rPr lang="fr-FR" sz="800" b="1" dirty="0" err="1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complex</a:t>
            </a:r>
            <a:r>
              <a:rPr lang="fr-FR" sz="8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fr-FR" sz="800" b="1" dirty="0" err="1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please</a:t>
            </a:r>
            <a:r>
              <a:rPr lang="fr-FR" sz="8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sz="800" b="1" dirty="0" err="1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provide</a:t>
            </a:r>
            <a:r>
              <a:rPr lang="fr-FR" sz="8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sz="800" b="1" dirty="0" err="1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details</a:t>
            </a:r>
            <a:r>
              <a:rPr lang="fr-FR" sz="8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on </a:t>
            </a:r>
            <a:r>
              <a:rPr lang="fr-FR" sz="800" b="1" dirty="0" err="1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calculation</a:t>
            </a:r>
            <a:r>
              <a:rPr lang="fr-FR" sz="8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;</a:t>
            </a:r>
          </a:p>
          <a:p>
            <a:pPr fontAlgn="base">
              <a:spcAft>
                <a:spcPct val="0"/>
              </a:spcAft>
              <a:buClr>
                <a:schemeClr val="accent1"/>
              </a:buClr>
              <a:buSzPct val="90000"/>
            </a:pPr>
            <a:endParaRPr lang="fr-FR" sz="800" b="1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fontAlgn="base">
              <a:spcAft>
                <a:spcPct val="0"/>
              </a:spcAft>
              <a:buClr>
                <a:schemeClr val="accent1"/>
              </a:buClr>
              <a:buSzPct val="90000"/>
            </a:pPr>
            <a:r>
              <a:rPr lang="fr-FR" sz="8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**  if </a:t>
            </a:r>
            <a:r>
              <a:rPr lang="fr-FR" sz="800" b="1" dirty="0" err="1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only</a:t>
            </a:r>
            <a:r>
              <a:rPr lang="fr-FR" sz="8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a </a:t>
            </a:r>
            <a:r>
              <a:rPr lang="fr-FR" sz="800" b="1" dirty="0" err="1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matter</a:t>
            </a:r>
            <a:r>
              <a:rPr lang="fr-FR" sz="8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of documentation, </a:t>
            </a:r>
            <a:r>
              <a:rPr lang="fr-FR" sz="800" b="1" dirty="0" err="1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please</a:t>
            </a:r>
            <a:r>
              <a:rPr lang="fr-FR" sz="8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sz="800" b="1" dirty="0" err="1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indicate</a:t>
            </a:r>
            <a:r>
              <a:rPr lang="fr-FR" sz="8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N/A</a:t>
            </a:r>
          </a:p>
          <a:p>
            <a:pPr marL="381000" indent="-381000">
              <a:spcBef>
                <a:spcPct val="20000"/>
              </a:spcBef>
              <a:buSzPct val="75000"/>
              <a:buFont typeface="Arial Narrow" pitchFamily="34" charset="0"/>
              <a:buChar char="►"/>
            </a:pPr>
            <a:endParaRPr lang="fr-FR" sz="1200" b="1" i="1" dirty="0">
              <a:latin typeface="+mj-lt"/>
            </a:endParaRPr>
          </a:p>
        </p:txBody>
      </p:sp>
      <p:sp>
        <p:nvSpPr>
          <p:cNvPr id="23" name="Text Placeholder 4"/>
          <p:cNvSpPr txBox="1">
            <a:spLocks/>
          </p:cNvSpPr>
          <p:nvPr/>
        </p:nvSpPr>
        <p:spPr>
          <a:xfrm>
            <a:off x="737423" y="3738936"/>
            <a:ext cx="7956000" cy="21640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2">
              <a:buClr>
                <a:srgbClr val="FFD200"/>
              </a:buClr>
              <a:buSzPct val="75000"/>
              <a:defRPr/>
            </a:pPr>
            <a:r>
              <a:rPr lang="en-US" sz="1400" b="1" dirty="0">
                <a:solidFill>
                  <a:srgbClr val="223F87"/>
                </a:solidFill>
                <a:latin typeface="+mj-lt"/>
              </a:rPr>
              <a:t>Division (BG – Entity Code) - </a:t>
            </a:r>
            <a:r>
              <a:rPr lang="fr-FR" sz="1400" b="1" dirty="0">
                <a:solidFill>
                  <a:srgbClr val="223F87"/>
                </a:solidFill>
                <a:latin typeface="+mj-lt"/>
              </a:rPr>
              <a:t>XXX</a:t>
            </a:r>
            <a:endParaRPr lang="fr-FR" sz="1400" b="1" dirty="0">
              <a:solidFill>
                <a:srgbClr val="223F87"/>
              </a:solidFill>
              <a:latin typeface="+mj-lt"/>
              <a:sym typeface="Wingdings" pitchFamily="2" charset="2"/>
            </a:endParaRPr>
          </a:p>
        </p:txBody>
      </p:sp>
      <p:sp>
        <p:nvSpPr>
          <p:cNvPr id="24" name="Text Placeholder 4"/>
          <p:cNvSpPr txBox="1">
            <a:spLocks/>
          </p:cNvSpPr>
          <p:nvPr/>
        </p:nvSpPr>
        <p:spPr>
          <a:xfrm>
            <a:off x="487386" y="3738936"/>
            <a:ext cx="288000" cy="21640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2">
              <a:buClr>
                <a:srgbClr val="FFD200"/>
              </a:buClr>
              <a:buSzPct val="75000"/>
              <a:defRPr/>
            </a:pPr>
            <a:r>
              <a:rPr lang="fr-FR" sz="1600" b="1" dirty="0">
                <a:solidFill>
                  <a:schemeClr val="bg1"/>
                </a:solidFill>
                <a:latin typeface="+mj-lt"/>
              </a:rPr>
              <a:t>2</a:t>
            </a:r>
            <a:endParaRPr lang="fr-FR" sz="1600" b="1" dirty="0">
              <a:solidFill>
                <a:schemeClr val="bg1"/>
              </a:solidFill>
              <a:latin typeface="+mj-lt"/>
              <a:sym typeface="Wingdings" pitchFamily="2" charset="2"/>
            </a:endParaRPr>
          </a:p>
        </p:txBody>
      </p:sp>
      <p:sp>
        <p:nvSpPr>
          <p:cNvPr id="25" name="Freeform 858"/>
          <p:cNvSpPr>
            <a:spLocks noChangeAspect="1" noEditPoints="1"/>
          </p:cNvSpPr>
          <p:nvPr/>
        </p:nvSpPr>
        <p:spPr bwMode="auto">
          <a:xfrm>
            <a:off x="8359379" y="3733109"/>
            <a:ext cx="216000" cy="216000"/>
          </a:xfrm>
          <a:custGeom>
            <a:avLst/>
            <a:gdLst>
              <a:gd name="T0" fmla="*/ 352 w 512"/>
              <a:gd name="T1" fmla="*/ 146 h 512"/>
              <a:gd name="T2" fmla="*/ 352 w 512"/>
              <a:gd name="T3" fmla="*/ 260 h 512"/>
              <a:gd name="T4" fmla="*/ 263 w 512"/>
              <a:gd name="T5" fmla="*/ 259 h 512"/>
              <a:gd name="T6" fmla="*/ 208 w 512"/>
              <a:gd name="T7" fmla="*/ 236 h 512"/>
              <a:gd name="T8" fmla="*/ 160 w 512"/>
              <a:gd name="T9" fmla="*/ 248 h 512"/>
              <a:gd name="T10" fmla="*/ 160 w 512"/>
              <a:gd name="T11" fmla="*/ 134 h 512"/>
              <a:gd name="T12" fmla="*/ 248 w 512"/>
              <a:gd name="T13" fmla="*/ 135 h 512"/>
              <a:gd name="T14" fmla="*/ 352 w 512"/>
              <a:gd name="T15" fmla="*/ 146 h 512"/>
              <a:gd name="T16" fmla="*/ 512 w 512"/>
              <a:gd name="T17" fmla="*/ 256 h 512"/>
              <a:gd name="T18" fmla="*/ 256 w 512"/>
              <a:gd name="T19" fmla="*/ 512 h 512"/>
              <a:gd name="T20" fmla="*/ 0 w 512"/>
              <a:gd name="T21" fmla="*/ 256 h 512"/>
              <a:gd name="T22" fmla="*/ 256 w 512"/>
              <a:gd name="T23" fmla="*/ 0 h 512"/>
              <a:gd name="T24" fmla="*/ 512 w 512"/>
              <a:gd name="T25" fmla="*/ 256 h 512"/>
              <a:gd name="T26" fmla="*/ 373 w 512"/>
              <a:gd name="T27" fmla="*/ 128 h 512"/>
              <a:gd name="T28" fmla="*/ 367 w 512"/>
              <a:gd name="T29" fmla="*/ 118 h 512"/>
              <a:gd name="T30" fmla="*/ 356 w 512"/>
              <a:gd name="T31" fmla="*/ 119 h 512"/>
              <a:gd name="T32" fmla="*/ 263 w 512"/>
              <a:gd name="T33" fmla="*/ 120 h 512"/>
              <a:gd name="T34" fmla="*/ 143 w 512"/>
              <a:gd name="T35" fmla="*/ 119 h 512"/>
              <a:gd name="T36" fmla="*/ 138 w 512"/>
              <a:gd name="T37" fmla="*/ 128 h 512"/>
              <a:gd name="T38" fmla="*/ 138 w 512"/>
              <a:gd name="T39" fmla="*/ 384 h 512"/>
              <a:gd name="T40" fmla="*/ 149 w 512"/>
              <a:gd name="T41" fmla="*/ 394 h 512"/>
              <a:gd name="T42" fmla="*/ 160 w 512"/>
              <a:gd name="T43" fmla="*/ 384 h 512"/>
              <a:gd name="T44" fmla="*/ 160 w 512"/>
              <a:gd name="T45" fmla="*/ 272 h 512"/>
              <a:gd name="T46" fmla="*/ 248 w 512"/>
              <a:gd name="T47" fmla="*/ 274 h 512"/>
              <a:gd name="T48" fmla="*/ 368 w 512"/>
              <a:gd name="T49" fmla="*/ 275 h 512"/>
              <a:gd name="T50" fmla="*/ 373 w 512"/>
              <a:gd name="T51" fmla="*/ 266 h 512"/>
              <a:gd name="T52" fmla="*/ 373 w 512"/>
              <a:gd name="T53" fmla="*/ 128 h 5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512" h="512">
                <a:moveTo>
                  <a:pt x="352" y="146"/>
                </a:moveTo>
                <a:cubicBezTo>
                  <a:pt x="352" y="260"/>
                  <a:pt x="352" y="260"/>
                  <a:pt x="352" y="260"/>
                </a:cubicBezTo>
                <a:cubicBezTo>
                  <a:pt x="337" y="268"/>
                  <a:pt x="293" y="288"/>
                  <a:pt x="263" y="259"/>
                </a:cubicBezTo>
                <a:cubicBezTo>
                  <a:pt x="247" y="242"/>
                  <a:pt x="227" y="236"/>
                  <a:pt x="208" y="236"/>
                </a:cubicBezTo>
                <a:cubicBezTo>
                  <a:pt x="191" y="236"/>
                  <a:pt x="173" y="242"/>
                  <a:pt x="160" y="248"/>
                </a:cubicBezTo>
                <a:cubicBezTo>
                  <a:pt x="160" y="134"/>
                  <a:pt x="160" y="134"/>
                  <a:pt x="160" y="134"/>
                </a:cubicBezTo>
                <a:cubicBezTo>
                  <a:pt x="174" y="126"/>
                  <a:pt x="218" y="105"/>
                  <a:pt x="248" y="135"/>
                </a:cubicBezTo>
                <a:cubicBezTo>
                  <a:pt x="280" y="167"/>
                  <a:pt x="323" y="159"/>
                  <a:pt x="352" y="146"/>
                </a:cubicBezTo>
                <a:close/>
                <a:moveTo>
                  <a:pt x="512" y="256"/>
                </a:moveTo>
                <a:cubicBezTo>
                  <a:pt x="512" y="397"/>
                  <a:pt x="397" y="512"/>
                  <a:pt x="256" y="512"/>
                </a:cubicBezTo>
                <a:cubicBezTo>
                  <a:pt x="114" y="512"/>
                  <a:pt x="0" y="397"/>
                  <a:pt x="0" y="256"/>
                </a:cubicBezTo>
                <a:cubicBezTo>
                  <a:pt x="0" y="114"/>
                  <a:pt x="114" y="0"/>
                  <a:pt x="256" y="0"/>
                </a:cubicBezTo>
                <a:cubicBezTo>
                  <a:pt x="397" y="0"/>
                  <a:pt x="512" y="114"/>
                  <a:pt x="512" y="256"/>
                </a:cubicBezTo>
                <a:close/>
                <a:moveTo>
                  <a:pt x="373" y="128"/>
                </a:moveTo>
                <a:cubicBezTo>
                  <a:pt x="373" y="124"/>
                  <a:pt x="371" y="120"/>
                  <a:pt x="367" y="118"/>
                </a:cubicBezTo>
                <a:cubicBezTo>
                  <a:pt x="364" y="116"/>
                  <a:pt x="360" y="117"/>
                  <a:pt x="356" y="119"/>
                </a:cubicBezTo>
                <a:cubicBezTo>
                  <a:pt x="356" y="119"/>
                  <a:pt x="299" y="156"/>
                  <a:pt x="263" y="120"/>
                </a:cubicBezTo>
                <a:cubicBezTo>
                  <a:pt x="224" y="81"/>
                  <a:pt x="167" y="102"/>
                  <a:pt x="143" y="119"/>
                </a:cubicBezTo>
                <a:cubicBezTo>
                  <a:pt x="140" y="121"/>
                  <a:pt x="138" y="124"/>
                  <a:pt x="138" y="128"/>
                </a:cubicBezTo>
                <a:cubicBezTo>
                  <a:pt x="138" y="384"/>
                  <a:pt x="138" y="384"/>
                  <a:pt x="138" y="384"/>
                </a:cubicBezTo>
                <a:cubicBezTo>
                  <a:pt x="138" y="390"/>
                  <a:pt x="143" y="394"/>
                  <a:pt x="149" y="394"/>
                </a:cubicBezTo>
                <a:cubicBezTo>
                  <a:pt x="155" y="394"/>
                  <a:pt x="160" y="390"/>
                  <a:pt x="160" y="384"/>
                </a:cubicBezTo>
                <a:cubicBezTo>
                  <a:pt x="160" y="272"/>
                  <a:pt x="160" y="272"/>
                  <a:pt x="160" y="272"/>
                </a:cubicBezTo>
                <a:cubicBezTo>
                  <a:pt x="174" y="264"/>
                  <a:pt x="217" y="243"/>
                  <a:pt x="248" y="274"/>
                </a:cubicBezTo>
                <a:cubicBezTo>
                  <a:pt x="286" y="312"/>
                  <a:pt x="343" y="292"/>
                  <a:pt x="368" y="275"/>
                </a:cubicBezTo>
                <a:cubicBezTo>
                  <a:pt x="371" y="273"/>
                  <a:pt x="373" y="270"/>
                  <a:pt x="373" y="266"/>
                </a:cubicBezTo>
                <a:lnTo>
                  <a:pt x="373" y="128"/>
                </a:lnTo>
                <a:close/>
              </a:path>
            </a:pathLst>
          </a:custGeom>
          <a:solidFill>
            <a:srgbClr val="FFC000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sz="1400" dirty="0"/>
          </a:p>
        </p:txBody>
      </p:sp>
      <p:sp>
        <p:nvSpPr>
          <p:cNvPr id="26" name="Rectangle 25"/>
          <p:cNvSpPr/>
          <p:nvPr/>
        </p:nvSpPr>
        <p:spPr>
          <a:xfrm>
            <a:off x="476084" y="4046103"/>
            <a:ext cx="7035370" cy="1588127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spAutoFit/>
          </a:bodyPr>
          <a:lstStyle/>
          <a:p>
            <a:pPr marL="381000" indent="-381000">
              <a:spcBef>
                <a:spcPct val="20000"/>
              </a:spcBef>
              <a:buSzPct val="75000"/>
              <a:buFont typeface="Arial Narrow" pitchFamily="34" charset="0"/>
              <a:buChar char="►"/>
            </a:pPr>
            <a:r>
              <a:rPr lang="fr-FR" sz="1200" b="1" i="1" dirty="0">
                <a:latin typeface="+mj-lt"/>
              </a:rPr>
              <a:t>Situation :</a:t>
            </a:r>
          </a:p>
          <a:p>
            <a:pPr>
              <a:spcBef>
                <a:spcPct val="20000"/>
              </a:spcBef>
              <a:buClr>
                <a:schemeClr val="accent1"/>
              </a:buClr>
              <a:buSzPct val="75000"/>
            </a:pPr>
            <a:r>
              <a:rPr lang="en-US" sz="1200" dirty="0"/>
              <a:t>XXX</a:t>
            </a:r>
          </a:p>
          <a:p>
            <a:pPr marL="381000" indent="-381000">
              <a:spcBef>
                <a:spcPct val="20000"/>
              </a:spcBef>
              <a:buClr>
                <a:schemeClr val="accent1"/>
              </a:buClr>
              <a:buSzPct val="75000"/>
              <a:buFont typeface="Arial Narrow" pitchFamily="34" charset="0"/>
              <a:buChar char="►"/>
            </a:pPr>
            <a:endParaRPr lang="fr-FR" sz="1200" b="1" dirty="0">
              <a:solidFill>
                <a:schemeClr val="bg2">
                  <a:lumMod val="50000"/>
                </a:schemeClr>
              </a:solidFill>
              <a:latin typeface="Calibri" panose="020F0502020204030204" pitchFamily="34" charset="0"/>
              <a:ea typeface="Verdana" panose="020B0604030504040204" pitchFamily="34" charset="0"/>
              <a:cs typeface="Calibri" panose="020F0502020204030204" pitchFamily="34" charset="0"/>
            </a:endParaRPr>
          </a:p>
          <a:p>
            <a:pPr marL="381000" indent="-381000">
              <a:spcBef>
                <a:spcPct val="20000"/>
              </a:spcBef>
              <a:buClr>
                <a:schemeClr val="accent1"/>
              </a:buClr>
              <a:buSzPct val="75000"/>
              <a:buFont typeface="Arial Narrow" pitchFamily="34" charset="0"/>
              <a:buChar char="►"/>
            </a:pPr>
            <a:endParaRPr lang="fr-FR" sz="1200" b="1" dirty="0">
              <a:solidFill>
                <a:schemeClr val="bg2">
                  <a:lumMod val="50000"/>
                </a:schemeClr>
              </a:solidFill>
              <a:latin typeface="Calibri" panose="020F0502020204030204" pitchFamily="34" charset="0"/>
              <a:ea typeface="Verdana" panose="020B0604030504040204" pitchFamily="34" charset="0"/>
              <a:cs typeface="Calibri" panose="020F0502020204030204" pitchFamily="34" charset="0"/>
            </a:endParaRPr>
          </a:p>
          <a:p>
            <a:pPr marL="381000" indent="-381000">
              <a:spcBef>
                <a:spcPct val="20000"/>
              </a:spcBef>
              <a:buClr>
                <a:schemeClr val="accent1"/>
              </a:buClr>
              <a:buSzPct val="75000"/>
              <a:buFont typeface="Arial Narrow" pitchFamily="34" charset="0"/>
              <a:buChar char="►"/>
            </a:pPr>
            <a:endParaRPr lang="fr-FR" sz="1200" b="1" dirty="0">
              <a:solidFill>
                <a:schemeClr val="bg2">
                  <a:lumMod val="50000"/>
                </a:schemeClr>
              </a:solidFill>
              <a:latin typeface="Calibri" panose="020F0502020204030204" pitchFamily="34" charset="0"/>
              <a:ea typeface="Verdana" panose="020B0604030504040204" pitchFamily="34" charset="0"/>
              <a:cs typeface="Calibri" panose="020F0502020204030204" pitchFamily="34" charset="0"/>
            </a:endParaRPr>
          </a:p>
          <a:p>
            <a:pPr marL="381000" indent="-381000">
              <a:spcBef>
                <a:spcPct val="20000"/>
              </a:spcBef>
              <a:buSzPct val="75000"/>
              <a:buFont typeface="Arial Narrow" pitchFamily="34" charset="0"/>
              <a:buChar char="►"/>
            </a:pPr>
            <a:r>
              <a:rPr lang="fr-FR" sz="1200" b="1" i="1" dirty="0" err="1">
                <a:latin typeface="+mj-lt"/>
              </a:rPr>
              <a:t>Auditor’s</a:t>
            </a:r>
            <a:r>
              <a:rPr lang="fr-FR" sz="1200" b="1" i="1" dirty="0">
                <a:latin typeface="+mj-lt"/>
              </a:rPr>
              <a:t> </a:t>
            </a:r>
            <a:r>
              <a:rPr lang="fr-FR" sz="1200" b="1" i="1" dirty="0" err="1">
                <a:latin typeface="+mj-lt"/>
              </a:rPr>
              <a:t>comments</a:t>
            </a:r>
            <a:r>
              <a:rPr lang="fr-FR" sz="1200" b="1" i="1" dirty="0">
                <a:latin typeface="+mj-lt"/>
              </a:rPr>
              <a:t> :</a:t>
            </a:r>
          </a:p>
          <a:p>
            <a:pPr>
              <a:spcBef>
                <a:spcPct val="20000"/>
              </a:spcBef>
              <a:buClr>
                <a:srgbClr val="FFD200"/>
              </a:buClr>
              <a:buSzPct val="75000"/>
            </a:pPr>
            <a:r>
              <a:rPr lang="en-US" sz="1100" dirty="0"/>
              <a:t>XXX</a:t>
            </a:r>
            <a:endParaRPr lang="fr-FR" sz="1100" b="1" u="sng" dirty="0">
              <a:solidFill>
                <a:schemeClr val="bg2">
                  <a:lumMod val="50000"/>
                </a:schemeClr>
              </a:solidFill>
              <a:latin typeface="Calibri" panose="020F0502020204030204" pitchFamily="34" charset="0"/>
              <a:ea typeface="Verdana" panose="020B0604030504040204" pitchFamily="34" charset="0"/>
              <a:cs typeface="Calibri" panose="020F0502020204030204" pitchFamily="34" charset="0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7608076" y="4031088"/>
            <a:ext cx="1095655" cy="1569660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spAutoFit/>
          </a:bodyPr>
          <a:lstStyle/>
          <a:p>
            <a:pPr marL="90488" indent="-90488">
              <a:spcBef>
                <a:spcPct val="20000"/>
              </a:spcBef>
              <a:buSzPct val="75000"/>
              <a:buFont typeface="Arial Narrow" pitchFamily="34" charset="0"/>
              <a:buChar char="►"/>
            </a:pPr>
            <a:r>
              <a:rPr lang="fr-FR" sz="1200" b="1" i="1" dirty="0">
                <a:latin typeface="+mj-lt"/>
              </a:rPr>
              <a:t>Impact in </a:t>
            </a:r>
            <a:r>
              <a:rPr lang="fr-FR" sz="1200" b="1" i="1" dirty="0" err="1">
                <a:latin typeface="+mj-lt"/>
              </a:rPr>
              <a:t>Kcurrency</a:t>
            </a:r>
            <a:endParaRPr lang="fr-FR" sz="1200" b="1" i="1" dirty="0">
              <a:latin typeface="+mj-lt"/>
            </a:endParaRPr>
          </a:p>
          <a:p>
            <a:pPr marL="381000" indent="-381000">
              <a:spcBef>
                <a:spcPct val="20000"/>
              </a:spcBef>
              <a:buSzPct val="75000"/>
              <a:buFont typeface="Arial Narrow" pitchFamily="34" charset="0"/>
              <a:buChar char="►"/>
            </a:pPr>
            <a:endParaRPr lang="fr-FR" sz="1200" b="1" i="1" dirty="0">
              <a:latin typeface="+mj-lt"/>
            </a:endParaRPr>
          </a:p>
          <a:p>
            <a:pPr marL="381000" indent="-381000">
              <a:spcBef>
                <a:spcPct val="20000"/>
              </a:spcBef>
              <a:buSzPct val="75000"/>
              <a:buFont typeface="Arial Narrow" pitchFamily="34" charset="0"/>
              <a:buChar char="►"/>
            </a:pPr>
            <a:endParaRPr lang="fr-FR" sz="1200" b="1" i="1" dirty="0">
              <a:latin typeface="+mj-lt"/>
            </a:endParaRPr>
          </a:p>
          <a:p>
            <a:pPr marL="381000" indent="-381000">
              <a:spcBef>
                <a:spcPct val="20000"/>
              </a:spcBef>
              <a:buSzPct val="75000"/>
              <a:buFont typeface="Arial Narrow" pitchFamily="34" charset="0"/>
              <a:buChar char="►"/>
            </a:pPr>
            <a:endParaRPr lang="fr-FR" sz="1200" b="1" i="1" dirty="0">
              <a:latin typeface="+mj-lt"/>
            </a:endParaRPr>
          </a:p>
          <a:p>
            <a:pPr marL="381000" indent="-381000">
              <a:spcBef>
                <a:spcPct val="20000"/>
              </a:spcBef>
              <a:buSzPct val="75000"/>
              <a:buFont typeface="Arial Narrow" pitchFamily="34" charset="0"/>
              <a:buChar char="►"/>
            </a:pPr>
            <a:endParaRPr lang="fr-FR" sz="1200" b="1" i="1" dirty="0">
              <a:latin typeface="+mj-lt"/>
            </a:endParaRPr>
          </a:p>
          <a:p>
            <a:pPr marL="381000" indent="-381000">
              <a:spcBef>
                <a:spcPct val="20000"/>
              </a:spcBef>
              <a:buSzPct val="75000"/>
              <a:buFont typeface="Arial Narrow" pitchFamily="34" charset="0"/>
              <a:buChar char="►"/>
            </a:pPr>
            <a:endParaRPr lang="fr-FR" sz="1200" b="1" i="1" dirty="0">
              <a:latin typeface="+mj-lt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7608076" y="2028686"/>
            <a:ext cx="1085347" cy="1588127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29338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1"/>
          <p:cNvSpPr txBox="1">
            <a:spLocks/>
          </p:cNvSpPr>
          <p:nvPr/>
        </p:nvSpPr>
        <p:spPr>
          <a:xfrm>
            <a:off x="323528" y="50376"/>
            <a:ext cx="8554658" cy="850106"/>
          </a:xfrm>
          <a:prstGeom prst="rect">
            <a:avLst/>
          </a:prstGeom>
        </p:spPr>
        <p:txBody>
          <a:bodyPr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700" b="1" dirty="0">
                <a:solidFill>
                  <a:prstClr val="black"/>
                </a:solidFill>
              </a:rPr>
              <a:t>Accounting &amp; auditing issues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>
          <a:xfrm>
            <a:off x="2700337" y="6482398"/>
            <a:ext cx="2057400" cy="365125"/>
          </a:xfrm>
        </p:spPr>
        <p:txBody>
          <a:bodyPr/>
          <a:lstStyle/>
          <a:p>
            <a:fld id="{661E6E57-A11E-4CD0-AED6-15B700CC2E98}" type="slidenum">
              <a:rPr lang="fr-FR" smtClean="0">
                <a:latin typeface="EYInterstate Light" panose="02000506000000020004" pitchFamily="2" charset="0"/>
              </a:rPr>
              <a:t>6</a:t>
            </a:fld>
            <a:endParaRPr lang="fr-FR" dirty="0">
              <a:latin typeface="EYInterstate Light" panose="02000506000000020004" pitchFamily="2" charset="0"/>
            </a:endParaRPr>
          </a:p>
        </p:txBody>
      </p:sp>
      <p:sp>
        <p:nvSpPr>
          <p:cNvPr id="5" name="Espace réservé du contenu 2"/>
          <p:cNvSpPr txBox="1">
            <a:spLocks/>
          </p:cNvSpPr>
          <p:nvPr/>
        </p:nvSpPr>
        <p:spPr>
          <a:xfrm>
            <a:off x="397955" y="1257299"/>
            <a:ext cx="8307281" cy="412745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n-US" sz="1600" b="1" dirty="0">
                <a:solidFill>
                  <a:srgbClr val="223F87"/>
                </a:solidFill>
                <a:latin typeface="+mj-lt"/>
              </a:rPr>
              <a:t>Follow-up of issues previously identified </a:t>
            </a:r>
          </a:p>
          <a:p>
            <a:pPr marL="0" indent="0" algn="just">
              <a:buNone/>
            </a:pPr>
            <a:endParaRPr lang="en-US" sz="1050" b="1" u="sng" dirty="0">
              <a:latin typeface="EYInterstate Light" panose="02000506000000020004" pitchFamily="2" charset="0"/>
            </a:endParaRPr>
          </a:p>
          <a:p>
            <a:pPr marL="0" indent="0" algn="just">
              <a:buNone/>
            </a:pPr>
            <a:endParaRPr lang="en-US" sz="1050" dirty="0">
              <a:latin typeface="EYInterstate Light" panose="02000506000000020004" pitchFamily="2" charset="0"/>
            </a:endParaRPr>
          </a:p>
          <a:p>
            <a:pPr marL="0" indent="0" algn="just">
              <a:buNone/>
            </a:pPr>
            <a:endParaRPr lang="en-US" sz="1050" dirty="0">
              <a:latin typeface="EYInterstate Light" panose="02000506000000020004" pitchFamily="2" charset="0"/>
            </a:endParaRPr>
          </a:p>
          <a:p>
            <a:pPr marL="0" indent="0" algn="just">
              <a:buNone/>
            </a:pPr>
            <a:endParaRPr lang="en-US" sz="1050" dirty="0">
              <a:latin typeface="EYInterstate Light" panose="02000506000000020004" pitchFamily="2" charset="0"/>
            </a:endParaRPr>
          </a:p>
          <a:p>
            <a:pPr marL="0" indent="0" algn="just">
              <a:buNone/>
            </a:pPr>
            <a:endParaRPr lang="en-US" sz="1400" dirty="0">
              <a:solidFill>
                <a:srgbClr val="FF0000"/>
              </a:solidFill>
              <a:latin typeface="EYInterstate Light" panose="02000506000000020004" pitchFamily="2" charset="0"/>
            </a:endParaRPr>
          </a:p>
          <a:p>
            <a:pPr marL="0" indent="0" algn="just">
              <a:buNone/>
            </a:pPr>
            <a:endParaRPr lang="en-US" sz="1400" dirty="0">
              <a:solidFill>
                <a:srgbClr val="FF0000"/>
              </a:solidFill>
              <a:latin typeface="EYInterstate Light" panose="02000506000000020004" pitchFamily="2" charset="0"/>
            </a:endParaRPr>
          </a:p>
          <a:p>
            <a:pPr marL="0" indent="0" algn="just">
              <a:buNone/>
            </a:pPr>
            <a:endParaRPr lang="en-US" sz="1400" dirty="0">
              <a:solidFill>
                <a:srgbClr val="FF0000"/>
              </a:solidFill>
              <a:latin typeface="EYInterstate Light" panose="02000506000000020004" pitchFamily="2" charset="0"/>
            </a:endParaRPr>
          </a:p>
          <a:p>
            <a:pPr marL="0" indent="0" algn="just">
              <a:buNone/>
            </a:pPr>
            <a:endParaRPr lang="en-US" sz="1400" dirty="0">
              <a:solidFill>
                <a:srgbClr val="FF0000"/>
              </a:solidFill>
              <a:latin typeface="EYInterstate Light" panose="02000506000000020004" pitchFamily="2" charset="0"/>
            </a:endParaRPr>
          </a:p>
          <a:p>
            <a:pPr algn="just"/>
            <a:endParaRPr lang="en-US" sz="1400" dirty="0">
              <a:solidFill>
                <a:srgbClr val="FF0000"/>
              </a:solidFill>
              <a:latin typeface="EYInterstate Light" panose="02000506000000020004" pitchFamily="2" charset="0"/>
            </a:endParaRPr>
          </a:p>
          <a:p>
            <a:pPr algn="just"/>
            <a:endParaRPr lang="en-US" sz="1400" dirty="0">
              <a:latin typeface="EYInterstate Light" panose="02000506000000020004" pitchFamily="2" charset="0"/>
            </a:endParaRPr>
          </a:p>
          <a:p>
            <a:pPr marL="0" indent="0" algn="just">
              <a:buNone/>
            </a:pPr>
            <a:endParaRPr lang="en-US" sz="1400" dirty="0">
              <a:latin typeface="EYInterstate Light" panose="02000506000000020004" pitchFamily="2" charset="0"/>
            </a:endParaRPr>
          </a:p>
        </p:txBody>
      </p:sp>
      <p:cxnSp>
        <p:nvCxnSpPr>
          <p:cNvPr id="15" name="Connecteur droit 14"/>
          <p:cNvCxnSpPr/>
          <p:nvPr/>
        </p:nvCxnSpPr>
        <p:spPr>
          <a:xfrm>
            <a:off x="488891" y="1592277"/>
            <a:ext cx="8172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Placeholder 4"/>
          <p:cNvSpPr txBox="1">
            <a:spLocks/>
          </p:cNvSpPr>
          <p:nvPr/>
        </p:nvSpPr>
        <p:spPr>
          <a:xfrm>
            <a:off x="738928" y="1721519"/>
            <a:ext cx="7956000" cy="21640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2">
              <a:buClr>
                <a:srgbClr val="FFD200"/>
              </a:buClr>
              <a:buSzPct val="75000"/>
              <a:defRPr/>
            </a:pPr>
            <a:r>
              <a:rPr lang="en-US" sz="1400" b="1" dirty="0">
                <a:solidFill>
                  <a:srgbClr val="223F87"/>
                </a:solidFill>
                <a:latin typeface="+mj-lt"/>
              </a:rPr>
              <a:t>Division (BG – Entity Code)  - </a:t>
            </a:r>
            <a:r>
              <a:rPr lang="fr-FR" sz="1400" b="1" dirty="0">
                <a:solidFill>
                  <a:srgbClr val="223F87"/>
                </a:solidFill>
                <a:latin typeface="+mj-lt"/>
              </a:rPr>
              <a:t>XXX</a:t>
            </a:r>
            <a:endParaRPr lang="fr-FR" sz="1400" b="1" dirty="0">
              <a:solidFill>
                <a:srgbClr val="223F87"/>
              </a:solidFill>
              <a:latin typeface="+mj-lt"/>
              <a:sym typeface="Wingdings" pitchFamily="2" charset="2"/>
            </a:endParaRPr>
          </a:p>
        </p:txBody>
      </p:sp>
      <p:sp>
        <p:nvSpPr>
          <p:cNvPr id="17" name="ZoneTexte 16"/>
          <p:cNvSpPr txBox="1"/>
          <p:nvPr/>
        </p:nvSpPr>
        <p:spPr>
          <a:xfrm>
            <a:off x="5952382" y="1051245"/>
            <a:ext cx="2742546" cy="307777"/>
          </a:xfrm>
          <a:prstGeom prst="rect">
            <a:avLst/>
          </a:prstGeom>
          <a:noFill/>
          <a:ln w="25400">
            <a:solidFill>
              <a:srgbClr val="FF0000"/>
            </a:solidFill>
            <a:prstDash val="sysDash"/>
          </a:ln>
        </p:spPr>
        <p:txBody>
          <a:bodyPr wrap="square" rtlCol="0">
            <a:spAutoFit/>
          </a:bodyPr>
          <a:lstStyle>
            <a:defPPr>
              <a:defRPr lang="en-GB"/>
            </a:defPPr>
            <a:lvl1pPr algn="ctr">
              <a:defRPr sz="1400" i="1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Please update the color. See page X</a:t>
            </a:r>
          </a:p>
        </p:txBody>
      </p:sp>
      <p:sp>
        <p:nvSpPr>
          <p:cNvPr id="19" name="Text Placeholder 4"/>
          <p:cNvSpPr txBox="1">
            <a:spLocks/>
          </p:cNvSpPr>
          <p:nvPr/>
        </p:nvSpPr>
        <p:spPr>
          <a:xfrm>
            <a:off x="488891" y="1721519"/>
            <a:ext cx="288000" cy="21640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2">
              <a:buClr>
                <a:srgbClr val="FFD200"/>
              </a:buClr>
              <a:buSzPct val="75000"/>
              <a:defRPr/>
            </a:pPr>
            <a:r>
              <a:rPr lang="fr-FR" sz="1600" b="1" dirty="0">
                <a:solidFill>
                  <a:schemeClr val="bg1"/>
                </a:solidFill>
                <a:latin typeface="+mj-lt"/>
              </a:rPr>
              <a:t>1</a:t>
            </a:r>
            <a:endParaRPr lang="fr-FR" sz="1600" b="1" dirty="0">
              <a:solidFill>
                <a:schemeClr val="bg1"/>
              </a:solidFill>
              <a:latin typeface="+mj-lt"/>
              <a:sym typeface="Wingdings" pitchFamily="2" charset="2"/>
            </a:endParaRPr>
          </a:p>
        </p:txBody>
      </p:sp>
      <p:sp>
        <p:nvSpPr>
          <p:cNvPr id="20" name="Freeform 858"/>
          <p:cNvSpPr>
            <a:spLocks noChangeAspect="1" noEditPoints="1"/>
          </p:cNvSpPr>
          <p:nvPr/>
        </p:nvSpPr>
        <p:spPr bwMode="auto">
          <a:xfrm>
            <a:off x="8360884" y="1715692"/>
            <a:ext cx="216000" cy="216000"/>
          </a:xfrm>
          <a:custGeom>
            <a:avLst/>
            <a:gdLst>
              <a:gd name="T0" fmla="*/ 352 w 512"/>
              <a:gd name="T1" fmla="*/ 146 h 512"/>
              <a:gd name="T2" fmla="*/ 352 w 512"/>
              <a:gd name="T3" fmla="*/ 260 h 512"/>
              <a:gd name="T4" fmla="*/ 263 w 512"/>
              <a:gd name="T5" fmla="*/ 259 h 512"/>
              <a:gd name="T6" fmla="*/ 208 w 512"/>
              <a:gd name="T7" fmla="*/ 236 h 512"/>
              <a:gd name="T8" fmla="*/ 160 w 512"/>
              <a:gd name="T9" fmla="*/ 248 h 512"/>
              <a:gd name="T10" fmla="*/ 160 w 512"/>
              <a:gd name="T11" fmla="*/ 134 h 512"/>
              <a:gd name="T12" fmla="*/ 248 w 512"/>
              <a:gd name="T13" fmla="*/ 135 h 512"/>
              <a:gd name="T14" fmla="*/ 352 w 512"/>
              <a:gd name="T15" fmla="*/ 146 h 512"/>
              <a:gd name="T16" fmla="*/ 512 w 512"/>
              <a:gd name="T17" fmla="*/ 256 h 512"/>
              <a:gd name="T18" fmla="*/ 256 w 512"/>
              <a:gd name="T19" fmla="*/ 512 h 512"/>
              <a:gd name="T20" fmla="*/ 0 w 512"/>
              <a:gd name="T21" fmla="*/ 256 h 512"/>
              <a:gd name="T22" fmla="*/ 256 w 512"/>
              <a:gd name="T23" fmla="*/ 0 h 512"/>
              <a:gd name="T24" fmla="*/ 512 w 512"/>
              <a:gd name="T25" fmla="*/ 256 h 512"/>
              <a:gd name="T26" fmla="*/ 373 w 512"/>
              <a:gd name="T27" fmla="*/ 128 h 512"/>
              <a:gd name="T28" fmla="*/ 367 w 512"/>
              <a:gd name="T29" fmla="*/ 118 h 512"/>
              <a:gd name="T30" fmla="*/ 356 w 512"/>
              <a:gd name="T31" fmla="*/ 119 h 512"/>
              <a:gd name="T32" fmla="*/ 263 w 512"/>
              <a:gd name="T33" fmla="*/ 120 h 512"/>
              <a:gd name="T34" fmla="*/ 143 w 512"/>
              <a:gd name="T35" fmla="*/ 119 h 512"/>
              <a:gd name="T36" fmla="*/ 138 w 512"/>
              <a:gd name="T37" fmla="*/ 128 h 512"/>
              <a:gd name="T38" fmla="*/ 138 w 512"/>
              <a:gd name="T39" fmla="*/ 384 h 512"/>
              <a:gd name="T40" fmla="*/ 149 w 512"/>
              <a:gd name="T41" fmla="*/ 394 h 512"/>
              <a:gd name="T42" fmla="*/ 160 w 512"/>
              <a:gd name="T43" fmla="*/ 384 h 512"/>
              <a:gd name="T44" fmla="*/ 160 w 512"/>
              <a:gd name="T45" fmla="*/ 272 h 512"/>
              <a:gd name="T46" fmla="*/ 248 w 512"/>
              <a:gd name="T47" fmla="*/ 274 h 512"/>
              <a:gd name="T48" fmla="*/ 368 w 512"/>
              <a:gd name="T49" fmla="*/ 275 h 512"/>
              <a:gd name="T50" fmla="*/ 373 w 512"/>
              <a:gd name="T51" fmla="*/ 266 h 512"/>
              <a:gd name="T52" fmla="*/ 373 w 512"/>
              <a:gd name="T53" fmla="*/ 128 h 5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512" h="512">
                <a:moveTo>
                  <a:pt x="352" y="146"/>
                </a:moveTo>
                <a:cubicBezTo>
                  <a:pt x="352" y="260"/>
                  <a:pt x="352" y="260"/>
                  <a:pt x="352" y="260"/>
                </a:cubicBezTo>
                <a:cubicBezTo>
                  <a:pt x="337" y="268"/>
                  <a:pt x="293" y="288"/>
                  <a:pt x="263" y="259"/>
                </a:cubicBezTo>
                <a:cubicBezTo>
                  <a:pt x="247" y="242"/>
                  <a:pt x="227" y="236"/>
                  <a:pt x="208" y="236"/>
                </a:cubicBezTo>
                <a:cubicBezTo>
                  <a:pt x="191" y="236"/>
                  <a:pt x="173" y="242"/>
                  <a:pt x="160" y="248"/>
                </a:cubicBezTo>
                <a:cubicBezTo>
                  <a:pt x="160" y="134"/>
                  <a:pt x="160" y="134"/>
                  <a:pt x="160" y="134"/>
                </a:cubicBezTo>
                <a:cubicBezTo>
                  <a:pt x="174" y="126"/>
                  <a:pt x="218" y="105"/>
                  <a:pt x="248" y="135"/>
                </a:cubicBezTo>
                <a:cubicBezTo>
                  <a:pt x="280" y="167"/>
                  <a:pt x="323" y="159"/>
                  <a:pt x="352" y="146"/>
                </a:cubicBezTo>
                <a:close/>
                <a:moveTo>
                  <a:pt x="512" y="256"/>
                </a:moveTo>
                <a:cubicBezTo>
                  <a:pt x="512" y="397"/>
                  <a:pt x="397" y="512"/>
                  <a:pt x="256" y="512"/>
                </a:cubicBezTo>
                <a:cubicBezTo>
                  <a:pt x="114" y="512"/>
                  <a:pt x="0" y="397"/>
                  <a:pt x="0" y="256"/>
                </a:cubicBezTo>
                <a:cubicBezTo>
                  <a:pt x="0" y="114"/>
                  <a:pt x="114" y="0"/>
                  <a:pt x="256" y="0"/>
                </a:cubicBezTo>
                <a:cubicBezTo>
                  <a:pt x="397" y="0"/>
                  <a:pt x="512" y="114"/>
                  <a:pt x="512" y="256"/>
                </a:cubicBezTo>
                <a:close/>
                <a:moveTo>
                  <a:pt x="373" y="128"/>
                </a:moveTo>
                <a:cubicBezTo>
                  <a:pt x="373" y="124"/>
                  <a:pt x="371" y="120"/>
                  <a:pt x="367" y="118"/>
                </a:cubicBezTo>
                <a:cubicBezTo>
                  <a:pt x="364" y="116"/>
                  <a:pt x="360" y="117"/>
                  <a:pt x="356" y="119"/>
                </a:cubicBezTo>
                <a:cubicBezTo>
                  <a:pt x="356" y="119"/>
                  <a:pt x="299" y="156"/>
                  <a:pt x="263" y="120"/>
                </a:cubicBezTo>
                <a:cubicBezTo>
                  <a:pt x="224" y="81"/>
                  <a:pt x="167" y="102"/>
                  <a:pt x="143" y="119"/>
                </a:cubicBezTo>
                <a:cubicBezTo>
                  <a:pt x="140" y="121"/>
                  <a:pt x="138" y="124"/>
                  <a:pt x="138" y="128"/>
                </a:cubicBezTo>
                <a:cubicBezTo>
                  <a:pt x="138" y="384"/>
                  <a:pt x="138" y="384"/>
                  <a:pt x="138" y="384"/>
                </a:cubicBezTo>
                <a:cubicBezTo>
                  <a:pt x="138" y="390"/>
                  <a:pt x="143" y="394"/>
                  <a:pt x="149" y="394"/>
                </a:cubicBezTo>
                <a:cubicBezTo>
                  <a:pt x="155" y="394"/>
                  <a:pt x="160" y="390"/>
                  <a:pt x="160" y="384"/>
                </a:cubicBezTo>
                <a:cubicBezTo>
                  <a:pt x="160" y="272"/>
                  <a:pt x="160" y="272"/>
                  <a:pt x="160" y="272"/>
                </a:cubicBezTo>
                <a:cubicBezTo>
                  <a:pt x="174" y="264"/>
                  <a:pt x="217" y="243"/>
                  <a:pt x="248" y="274"/>
                </a:cubicBezTo>
                <a:cubicBezTo>
                  <a:pt x="286" y="312"/>
                  <a:pt x="343" y="292"/>
                  <a:pt x="368" y="275"/>
                </a:cubicBezTo>
                <a:cubicBezTo>
                  <a:pt x="371" y="273"/>
                  <a:pt x="373" y="270"/>
                  <a:pt x="373" y="266"/>
                </a:cubicBezTo>
                <a:lnTo>
                  <a:pt x="373" y="128"/>
                </a:lnTo>
                <a:close/>
              </a:path>
            </a:pathLst>
          </a:custGeom>
          <a:solidFill>
            <a:srgbClr val="FFC000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sz="1400" dirty="0"/>
          </a:p>
        </p:txBody>
      </p:sp>
      <p:sp>
        <p:nvSpPr>
          <p:cNvPr id="21" name="Rectangle 20"/>
          <p:cNvSpPr/>
          <p:nvPr/>
        </p:nvSpPr>
        <p:spPr>
          <a:xfrm>
            <a:off x="477589" y="2028686"/>
            <a:ext cx="7035370" cy="1791260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spAutoFit/>
          </a:bodyPr>
          <a:lstStyle/>
          <a:p>
            <a:pPr marL="381000" indent="-381000">
              <a:spcBef>
                <a:spcPct val="20000"/>
              </a:spcBef>
              <a:buSzPct val="75000"/>
              <a:buFont typeface="Arial Narrow" pitchFamily="34" charset="0"/>
              <a:buChar char="►"/>
            </a:pPr>
            <a:r>
              <a:rPr lang="fr-FR" sz="1200" b="1" i="1" dirty="0">
                <a:latin typeface="+mj-lt"/>
              </a:rPr>
              <a:t>Situation :</a:t>
            </a:r>
          </a:p>
          <a:p>
            <a:pPr>
              <a:spcBef>
                <a:spcPct val="20000"/>
              </a:spcBef>
              <a:buClr>
                <a:schemeClr val="accent1"/>
              </a:buClr>
              <a:buSzPct val="75000"/>
            </a:pPr>
            <a:r>
              <a:rPr lang="en-US" sz="1200" dirty="0"/>
              <a:t>XXX</a:t>
            </a:r>
          </a:p>
          <a:p>
            <a:pPr marL="381000" indent="-381000">
              <a:spcBef>
                <a:spcPct val="20000"/>
              </a:spcBef>
              <a:buClr>
                <a:schemeClr val="accent1"/>
              </a:buClr>
              <a:buSzPct val="75000"/>
              <a:buFont typeface="Arial Narrow" pitchFamily="34" charset="0"/>
              <a:buChar char="►"/>
            </a:pPr>
            <a:endParaRPr lang="fr-FR" sz="1200" b="1" dirty="0">
              <a:solidFill>
                <a:schemeClr val="bg2">
                  <a:lumMod val="50000"/>
                </a:schemeClr>
              </a:solidFill>
              <a:latin typeface="Calibri" panose="020F0502020204030204" pitchFamily="34" charset="0"/>
              <a:ea typeface="Verdana" panose="020B0604030504040204" pitchFamily="34" charset="0"/>
              <a:cs typeface="Calibri" panose="020F0502020204030204" pitchFamily="34" charset="0"/>
            </a:endParaRPr>
          </a:p>
          <a:p>
            <a:pPr marL="381000" indent="-381000">
              <a:spcBef>
                <a:spcPct val="20000"/>
              </a:spcBef>
              <a:buClr>
                <a:schemeClr val="accent1"/>
              </a:buClr>
              <a:buSzPct val="75000"/>
              <a:buFont typeface="Arial Narrow" pitchFamily="34" charset="0"/>
              <a:buChar char="►"/>
            </a:pPr>
            <a:endParaRPr lang="fr-FR" sz="1200" b="1" dirty="0">
              <a:solidFill>
                <a:schemeClr val="bg2">
                  <a:lumMod val="50000"/>
                </a:schemeClr>
              </a:solidFill>
              <a:latin typeface="Calibri" panose="020F0502020204030204" pitchFamily="34" charset="0"/>
              <a:ea typeface="Verdana" panose="020B0604030504040204" pitchFamily="34" charset="0"/>
              <a:cs typeface="Calibri" panose="020F0502020204030204" pitchFamily="34" charset="0"/>
            </a:endParaRPr>
          </a:p>
          <a:p>
            <a:pPr marL="381000" indent="-381000">
              <a:spcBef>
                <a:spcPct val="20000"/>
              </a:spcBef>
              <a:buClr>
                <a:schemeClr val="accent1"/>
              </a:buClr>
              <a:buSzPct val="75000"/>
              <a:buFont typeface="Arial Narrow" pitchFamily="34" charset="0"/>
              <a:buChar char="►"/>
            </a:pPr>
            <a:endParaRPr lang="fr-FR" sz="1200" b="1" dirty="0">
              <a:solidFill>
                <a:schemeClr val="bg2">
                  <a:lumMod val="50000"/>
                </a:schemeClr>
              </a:solidFill>
              <a:latin typeface="Calibri" panose="020F0502020204030204" pitchFamily="34" charset="0"/>
              <a:ea typeface="Verdana" panose="020B0604030504040204" pitchFamily="34" charset="0"/>
              <a:cs typeface="Calibri" panose="020F0502020204030204" pitchFamily="34" charset="0"/>
            </a:endParaRPr>
          </a:p>
          <a:p>
            <a:pPr marL="381000" indent="-381000">
              <a:spcBef>
                <a:spcPct val="20000"/>
              </a:spcBef>
              <a:buSzPct val="75000"/>
              <a:buFont typeface="Arial Narrow" pitchFamily="34" charset="0"/>
              <a:buChar char="►"/>
            </a:pPr>
            <a:r>
              <a:rPr lang="fr-FR" sz="1200" b="1" i="1" dirty="0" err="1">
                <a:latin typeface="+mj-lt"/>
              </a:rPr>
              <a:t>Auditor’s</a:t>
            </a:r>
            <a:r>
              <a:rPr lang="fr-FR" sz="1200" b="1" i="1" dirty="0">
                <a:latin typeface="+mj-lt"/>
              </a:rPr>
              <a:t> </a:t>
            </a:r>
            <a:r>
              <a:rPr lang="fr-FR" sz="1200" b="1" i="1" dirty="0" err="1">
                <a:latin typeface="+mj-lt"/>
              </a:rPr>
              <a:t>comments</a:t>
            </a:r>
            <a:r>
              <a:rPr lang="fr-FR" sz="1200" b="1" i="1" dirty="0">
                <a:latin typeface="+mj-lt"/>
              </a:rPr>
              <a:t> :</a:t>
            </a:r>
          </a:p>
          <a:p>
            <a:pPr>
              <a:spcBef>
                <a:spcPct val="20000"/>
              </a:spcBef>
              <a:buClr>
                <a:srgbClr val="FFD200"/>
              </a:buClr>
              <a:buSzPct val="75000"/>
            </a:pPr>
            <a:r>
              <a:rPr lang="en-US" sz="1100" dirty="0"/>
              <a:t>XXX</a:t>
            </a:r>
          </a:p>
          <a:p>
            <a:pPr>
              <a:spcBef>
                <a:spcPct val="20000"/>
              </a:spcBef>
              <a:buClr>
                <a:srgbClr val="FFD200"/>
              </a:buClr>
              <a:buSzPct val="75000"/>
            </a:pPr>
            <a:endParaRPr lang="fr-FR" sz="1100" b="1" u="sng" dirty="0">
              <a:solidFill>
                <a:schemeClr val="bg2">
                  <a:lumMod val="50000"/>
                </a:schemeClr>
              </a:solidFill>
              <a:latin typeface="Calibri" panose="020F0502020204030204" pitchFamily="34" charset="0"/>
              <a:ea typeface="Verdana" panose="020B0604030504040204" pitchFamily="34" charset="0"/>
              <a:cs typeface="Calibri" panose="020F0502020204030204" pitchFamily="34" charset="0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7609581" y="2013671"/>
            <a:ext cx="1095655" cy="1766637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marL="90488" indent="-90488">
              <a:spcBef>
                <a:spcPct val="20000"/>
              </a:spcBef>
              <a:buSzPct val="75000"/>
              <a:buFont typeface="Arial Narrow" pitchFamily="34" charset="0"/>
              <a:buChar char="►"/>
            </a:pPr>
            <a:r>
              <a:rPr lang="fr-FR" sz="1200" b="1" i="1" dirty="0">
                <a:latin typeface="+mj-lt"/>
              </a:rPr>
              <a:t>Impact in </a:t>
            </a:r>
            <a:r>
              <a:rPr lang="fr-FR" sz="1200" b="1" i="1" dirty="0" err="1">
                <a:latin typeface="+mj-lt"/>
              </a:rPr>
              <a:t>Kcurrency</a:t>
            </a:r>
            <a:endParaRPr lang="fr-FR" sz="1200" b="1" i="1" dirty="0">
              <a:latin typeface="+mj-lt"/>
            </a:endParaRPr>
          </a:p>
          <a:p>
            <a:pPr marL="90488" indent="-90488">
              <a:spcBef>
                <a:spcPct val="20000"/>
              </a:spcBef>
              <a:buSzPct val="75000"/>
              <a:buFont typeface="Arial Narrow" pitchFamily="34" charset="0"/>
              <a:buChar char="►"/>
            </a:pPr>
            <a:endParaRPr lang="fr-FR" sz="1200" b="1" i="1" dirty="0">
              <a:latin typeface="+mj-lt"/>
            </a:endParaRPr>
          </a:p>
          <a:p>
            <a:pPr fontAlgn="base">
              <a:spcAft>
                <a:spcPct val="0"/>
              </a:spcAft>
              <a:buClr>
                <a:schemeClr val="accent1"/>
              </a:buClr>
              <a:buSzPct val="90000"/>
            </a:pPr>
            <a:r>
              <a:rPr lang="fr-FR" sz="8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* If </a:t>
            </a:r>
            <a:r>
              <a:rPr lang="fr-FR" sz="800" b="1" dirty="0" err="1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complex</a:t>
            </a:r>
            <a:r>
              <a:rPr lang="fr-FR" sz="8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fr-FR" sz="800" b="1" dirty="0" err="1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please</a:t>
            </a:r>
            <a:r>
              <a:rPr lang="fr-FR" sz="8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sz="800" b="1" dirty="0" err="1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provide</a:t>
            </a:r>
            <a:r>
              <a:rPr lang="fr-FR" sz="8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sz="800" b="1" dirty="0" err="1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details</a:t>
            </a:r>
            <a:r>
              <a:rPr lang="fr-FR" sz="8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on </a:t>
            </a:r>
            <a:r>
              <a:rPr lang="fr-FR" sz="800" b="1" dirty="0" err="1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calculation</a:t>
            </a:r>
            <a:r>
              <a:rPr lang="fr-FR" sz="8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;</a:t>
            </a:r>
          </a:p>
          <a:p>
            <a:pPr fontAlgn="base">
              <a:spcAft>
                <a:spcPct val="0"/>
              </a:spcAft>
              <a:buClr>
                <a:schemeClr val="accent1"/>
              </a:buClr>
              <a:buSzPct val="90000"/>
            </a:pPr>
            <a:endParaRPr lang="fr-FR" sz="800" b="1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fontAlgn="base">
              <a:spcAft>
                <a:spcPct val="0"/>
              </a:spcAft>
              <a:buClr>
                <a:schemeClr val="accent1"/>
              </a:buClr>
              <a:buSzPct val="90000"/>
            </a:pPr>
            <a:r>
              <a:rPr lang="fr-FR" sz="8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**  if </a:t>
            </a:r>
            <a:r>
              <a:rPr lang="fr-FR" sz="800" b="1" dirty="0" err="1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only</a:t>
            </a:r>
            <a:r>
              <a:rPr lang="fr-FR" sz="8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a </a:t>
            </a:r>
            <a:r>
              <a:rPr lang="fr-FR" sz="800" b="1" dirty="0" err="1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matter</a:t>
            </a:r>
            <a:r>
              <a:rPr lang="fr-FR" sz="8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of documentation, </a:t>
            </a:r>
            <a:r>
              <a:rPr lang="fr-FR" sz="800" b="1" dirty="0" err="1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please</a:t>
            </a:r>
            <a:r>
              <a:rPr lang="fr-FR" sz="8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sz="800" b="1" dirty="0" err="1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indicate</a:t>
            </a:r>
            <a:r>
              <a:rPr lang="fr-FR" sz="8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N/A</a:t>
            </a:r>
          </a:p>
          <a:p>
            <a:pPr marL="381000" indent="-381000">
              <a:spcBef>
                <a:spcPct val="20000"/>
              </a:spcBef>
              <a:buSzPct val="75000"/>
              <a:buFont typeface="Arial Narrow" pitchFamily="34" charset="0"/>
              <a:buChar char="►"/>
            </a:pPr>
            <a:endParaRPr lang="fr-FR" sz="1200" b="1" i="1" dirty="0">
              <a:latin typeface="+mj-lt"/>
            </a:endParaRPr>
          </a:p>
        </p:txBody>
      </p:sp>
      <p:sp>
        <p:nvSpPr>
          <p:cNvPr id="23" name="Text Placeholder 4"/>
          <p:cNvSpPr txBox="1">
            <a:spLocks/>
          </p:cNvSpPr>
          <p:nvPr/>
        </p:nvSpPr>
        <p:spPr>
          <a:xfrm>
            <a:off x="737423" y="3943219"/>
            <a:ext cx="7956000" cy="21640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2">
              <a:buClr>
                <a:srgbClr val="FFD200"/>
              </a:buClr>
              <a:buSzPct val="75000"/>
              <a:defRPr/>
            </a:pPr>
            <a:r>
              <a:rPr lang="en-US" sz="1400" b="1" dirty="0">
                <a:solidFill>
                  <a:srgbClr val="223F87"/>
                </a:solidFill>
                <a:latin typeface="+mj-lt"/>
              </a:rPr>
              <a:t>Division (BG – Entity Code)  - </a:t>
            </a:r>
            <a:r>
              <a:rPr lang="fr-FR" sz="1400" b="1" dirty="0">
                <a:solidFill>
                  <a:srgbClr val="223F87"/>
                </a:solidFill>
                <a:latin typeface="+mj-lt"/>
              </a:rPr>
              <a:t>XXX</a:t>
            </a:r>
            <a:endParaRPr lang="fr-FR" sz="1400" b="1" dirty="0">
              <a:solidFill>
                <a:srgbClr val="223F87"/>
              </a:solidFill>
              <a:latin typeface="+mj-lt"/>
              <a:sym typeface="Wingdings" pitchFamily="2" charset="2"/>
            </a:endParaRPr>
          </a:p>
        </p:txBody>
      </p:sp>
      <p:sp>
        <p:nvSpPr>
          <p:cNvPr id="24" name="Text Placeholder 4"/>
          <p:cNvSpPr txBox="1">
            <a:spLocks/>
          </p:cNvSpPr>
          <p:nvPr/>
        </p:nvSpPr>
        <p:spPr>
          <a:xfrm>
            <a:off x="487386" y="3943219"/>
            <a:ext cx="288000" cy="21640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2">
              <a:buClr>
                <a:srgbClr val="FFD200"/>
              </a:buClr>
              <a:buSzPct val="75000"/>
              <a:defRPr/>
            </a:pPr>
            <a:r>
              <a:rPr lang="fr-FR" sz="1600" b="1" dirty="0">
                <a:solidFill>
                  <a:schemeClr val="bg1"/>
                </a:solidFill>
                <a:latin typeface="+mj-lt"/>
              </a:rPr>
              <a:t>2</a:t>
            </a:r>
            <a:endParaRPr lang="fr-FR" sz="1600" b="1" dirty="0">
              <a:solidFill>
                <a:schemeClr val="bg1"/>
              </a:solidFill>
              <a:latin typeface="+mj-lt"/>
              <a:sym typeface="Wingdings" pitchFamily="2" charset="2"/>
            </a:endParaRPr>
          </a:p>
        </p:txBody>
      </p:sp>
      <p:sp>
        <p:nvSpPr>
          <p:cNvPr id="25" name="Freeform 858"/>
          <p:cNvSpPr>
            <a:spLocks noChangeAspect="1" noEditPoints="1"/>
          </p:cNvSpPr>
          <p:nvPr/>
        </p:nvSpPr>
        <p:spPr bwMode="auto">
          <a:xfrm>
            <a:off x="8359379" y="3937392"/>
            <a:ext cx="216000" cy="216000"/>
          </a:xfrm>
          <a:custGeom>
            <a:avLst/>
            <a:gdLst>
              <a:gd name="T0" fmla="*/ 352 w 512"/>
              <a:gd name="T1" fmla="*/ 146 h 512"/>
              <a:gd name="T2" fmla="*/ 352 w 512"/>
              <a:gd name="T3" fmla="*/ 260 h 512"/>
              <a:gd name="T4" fmla="*/ 263 w 512"/>
              <a:gd name="T5" fmla="*/ 259 h 512"/>
              <a:gd name="T6" fmla="*/ 208 w 512"/>
              <a:gd name="T7" fmla="*/ 236 h 512"/>
              <a:gd name="T8" fmla="*/ 160 w 512"/>
              <a:gd name="T9" fmla="*/ 248 h 512"/>
              <a:gd name="T10" fmla="*/ 160 w 512"/>
              <a:gd name="T11" fmla="*/ 134 h 512"/>
              <a:gd name="T12" fmla="*/ 248 w 512"/>
              <a:gd name="T13" fmla="*/ 135 h 512"/>
              <a:gd name="T14" fmla="*/ 352 w 512"/>
              <a:gd name="T15" fmla="*/ 146 h 512"/>
              <a:gd name="T16" fmla="*/ 512 w 512"/>
              <a:gd name="T17" fmla="*/ 256 h 512"/>
              <a:gd name="T18" fmla="*/ 256 w 512"/>
              <a:gd name="T19" fmla="*/ 512 h 512"/>
              <a:gd name="T20" fmla="*/ 0 w 512"/>
              <a:gd name="T21" fmla="*/ 256 h 512"/>
              <a:gd name="T22" fmla="*/ 256 w 512"/>
              <a:gd name="T23" fmla="*/ 0 h 512"/>
              <a:gd name="T24" fmla="*/ 512 w 512"/>
              <a:gd name="T25" fmla="*/ 256 h 512"/>
              <a:gd name="T26" fmla="*/ 373 w 512"/>
              <a:gd name="T27" fmla="*/ 128 h 512"/>
              <a:gd name="T28" fmla="*/ 367 w 512"/>
              <a:gd name="T29" fmla="*/ 118 h 512"/>
              <a:gd name="T30" fmla="*/ 356 w 512"/>
              <a:gd name="T31" fmla="*/ 119 h 512"/>
              <a:gd name="T32" fmla="*/ 263 w 512"/>
              <a:gd name="T33" fmla="*/ 120 h 512"/>
              <a:gd name="T34" fmla="*/ 143 w 512"/>
              <a:gd name="T35" fmla="*/ 119 h 512"/>
              <a:gd name="T36" fmla="*/ 138 w 512"/>
              <a:gd name="T37" fmla="*/ 128 h 512"/>
              <a:gd name="T38" fmla="*/ 138 w 512"/>
              <a:gd name="T39" fmla="*/ 384 h 512"/>
              <a:gd name="T40" fmla="*/ 149 w 512"/>
              <a:gd name="T41" fmla="*/ 394 h 512"/>
              <a:gd name="T42" fmla="*/ 160 w 512"/>
              <a:gd name="T43" fmla="*/ 384 h 512"/>
              <a:gd name="T44" fmla="*/ 160 w 512"/>
              <a:gd name="T45" fmla="*/ 272 h 512"/>
              <a:gd name="T46" fmla="*/ 248 w 512"/>
              <a:gd name="T47" fmla="*/ 274 h 512"/>
              <a:gd name="T48" fmla="*/ 368 w 512"/>
              <a:gd name="T49" fmla="*/ 275 h 512"/>
              <a:gd name="T50" fmla="*/ 373 w 512"/>
              <a:gd name="T51" fmla="*/ 266 h 512"/>
              <a:gd name="T52" fmla="*/ 373 w 512"/>
              <a:gd name="T53" fmla="*/ 128 h 5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512" h="512">
                <a:moveTo>
                  <a:pt x="352" y="146"/>
                </a:moveTo>
                <a:cubicBezTo>
                  <a:pt x="352" y="260"/>
                  <a:pt x="352" y="260"/>
                  <a:pt x="352" y="260"/>
                </a:cubicBezTo>
                <a:cubicBezTo>
                  <a:pt x="337" y="268"/>
                  <a:pt x="293" y="288"/>
                  <a:pt x="263" y="259"/>
                </a:cubicBezTo>
                <a:cubicBezTo>
                  <a:pt x="247" y="242"/>
                  <a:pt x="227" y="236"/>
                  <a:pt x="208" y="236"/>
                </a:cubicBezTo>
                <a:cubicBezTo>
                  <a:pt x="191" y="236"/>
                  <a:pt x="173" y="242"/>
                  <a:pt x="160" y="248"/>
                </a:cubicBezTo>
                <a:cubicBezTo>
                  <a:pt x="160" y="134"/>
                  <a:pt x="160" y="134"/>
                  <a:pt x="160" y="134"/>
                </a:cubicBezTo>
                <a:cubicBezTo>
                  <a:pt x="174" y="126"/>
                  <a:pt x="218" y="105"/>
                  <a:pt x="248" y="135"/>
                </a:cubicBezTo>
                <a:cubicBezTo>
                  <a:pt x="280" y="167"/>
                  <a:pt x="323" y="159"/>
                  <a:pt x="352" y="146"/>
                </a:cubicBezTo>
                <a:close/>
                <a:moveTo>
                  <a:pt x="512" y="256"/>
                </a:moveTo>
                <a:cubicBezTo>
                  <a:pt x="512" y="397"/>
                  <a:pt x="397" y="512"/>
                  <a:pt x="256" y="512"/>
                </a:cubicBezTo>
                <a:cubicBezTo>
                  <a:pt x="114" y="512"/>
                  <a:pt x="0" y="397"/>
                  <a:pt x="0" y="256"/>
                </a:cubicBezTo>
                <a:cubicBezTo>
                  <a:pt x="0" y="114"/>
                  <a:pt x="114" y="0"/>
                  <a:pt x="256" y="0"/>
                </a:cubicBezTo>
                <a:cubicBezTo>
                  <a:pt x="397" y="0"/>
                  <a:pt x="512" y="114"/>
                  <a:pt x="512" y="256"/>
                </a:cubicBezTo>
                <a:close/>
                <a:moveTo>
                  <a:pt x="373" y="128"/>
                </a:moveTo>
                <a:cubicBezTo>
                  <a:pt x="373" y="124"/>
                  <a:pt x="371" y="120"/>
                  <a:pt x="367" y="118"/>
                </a:cubicBezTo>
                <a:cubicBezTo>
                  <a:pt x="364" y="116"/>
                  <a:pt x="360" y="117"/>
                  <a:pt x="356" y="119"/>
                </a:cubicBezTo>
                <a:cubicBezTo>
                  <a:pt x="356" y="119"/>
                  <a:pt x="299" y="156"/>
                  <a:pt x="263" y="120"/>
                </a:cubicBezTo>
                <a:cubicBezTo>
                  <a:pt x="224" y="81"/>
                  <a:pt x="167" y="102"/>
                  <a:pt x="143" y="119"/>
                </a:cubicBezTo>
                <a:cubicBezTo>
                  <a:pt x="140" y="121"/>
                  <a:pt x="138" y="124"/>
                  <a:pt x="138" y="128"/>
                </a:cubicBezTo>
                <a:cubicBezTo>
                  <a:pt x="138" y="384"/>
                  <a:pt x="138" y="384"/>
                  <a:pt x="138" y="384"/>
                </a:cubicBezTo>
                <a:cubicBezTo>
                  <a:pt x="138" y="390"/>
                  <a:pt x="143" y="394"/>
                  <a:pt x="149" y="394"/>
                </a:cubicBezTo>
                <a:cubicBezTo>
                  <a:pt x="155" y="394"/>
                  <a:pt x="160" y="390"/>
                  <a:pt x="160" y="384"/>
                </a:cubicBezTo>
                <a:cubicBezTo>
                  <a:pt x="160" y="272"/>
                  <a:pt x="160" y="272"/>
                  <a:pt x="160" y="272"/>
                </a:cubicBezTo>
                <a:cubicBezTo>
                  <a:pt x="174" y="264"/>
                  <a:pt x="217" y="243"/>
                  <a:pt x="248" y="274"/>
                </a:cubicBezTo>
                <a:cubicBezTo>
                  <a:pt x="286" y="312"/>
                  <a:pt x="343" y="292"/>
                  <a:pt x="368" y="275"/>
                </a:cubicBezTo>
                <a:cubicBezTo>
                  <a:pt x="371" y="273"/>
                  <a:pt x="373" y="270"/>
                  <a:pt x="373" y="266"/>
                </a:cubicBezTo>
                <a:lnTo>
                  <a:pt x="373" y="128"/>
                </a:lnTo>
                <a:close/>
              </a:path>
            </a:pathLst>
          </a:custGeom>
          <a:solidFill>
            <a:srgbClr val="FFC000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sz="1400" dirty="0"/>
          </a:p>
        </p:txBody>
      </p:sp>
      <p:sp>
        <p:nvSpPr>
          <p:cNvPr id="26" name="Rectangle 25"/>
          <p:cNvSpPr/>
          <p:nvPr/>
        </p:nvSpPr>
        <p:spPr>
          <a:xfrm>
            <a:off x="476084" y="4250386"/>
            <a:ext cx="7035370" cy="1588127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spAutoFit/>
          </a:bodyPr>
          <a:lstStyle/>
          <a:p>
            <a:pPr marL="381000" indent="-381000">
              <a:spcBef>
                <a:spcPct val="20000"/>
              </a:spcBef>
              <a:buSzPct val="75000"/>
              <a:buFont typeface="Arial Narrow" pitchFamily="34" charset="0"/>
              <a:buChar char="►"/>
            </a:pPr>
            <a:r>
              <a:rPr lang="fr-FR" sz="1200" b="1" i="1" dirty="0">
                <a:latin typeface="+mj-lt"/>
              </a:rPr>
              <a:t>Situation :</a:t>
            </a:r>
          </a:p>
          <a:p>
            <a:pPr>
              <a:spcBef>
                <a:spcPct val="20000"/>
              </a:spcBef>
              <a:buClr>
                <a:schemeClr val="accent1"/>
              </a:buClr>
              <a:buSzPct val="75000"/>
            </a:pPr>
            <a:r>
              <a:rPr lang="en-US" sz="1200" dirty="0"/>
              <a:t>XXX</a:t>
            </a:r>
          </a:p>
          <a:p>
            <a:pPr marL="381000" indent="-381000">
              <a:spcBef>
                <a:spcPct val="20000"/>
              </a:spcBef>
              <a:buClr>
                <a:schemeClr val="accent1"/>
              </a:buClr>
              <a:buSzPct val="75000"/>
              <a:buFont typeface="Arial Narrow" pitchFamily="34" charset="0"/>
              <a:buChar char="►"/>
            </a:pPr>
            <a:endParaRPr lang="fr-FR" sz="1200" b="1" dirty="0">
              <a:solidFill>
                <a:schemeClr val="bg2">
                  <a:lumMod val="50000"/>
                </a:schemeClr>
              </a:solidFill>
              <a:latin typeface="Calibri" panose="020F0502020204030204" pitchFamily="34" charset="0"/>
              <a:ea typeface="Verdana" panose="020B0604030504040204" pitchFamily="34" charset="0"/>
              <a:cs typeface="Calibri" panose="020F0502020204030204" pitchFamily="34" charset="0"/>
            </a:endParaRPr>
          </a:p>
          <a:p>
            <a:pPr marL="381000" indent="-381000">
              <a:spcBef>
                <a:spcPct val="20000"/>
              </a:spcBef>
              <a:buClr>
                <a:schemeClr val="accent1"/>
              </a:buClr>
              <a:buSzPct val="75000"/>
              <a:buFont typeface="Arial Narrow" pitchFamily="34" charset="0"/>
              <a:buChar char="►"/>
            </a:pPr>
            <a:endParaRPr lang="fr-FR" sz="1200" b="1" dirty="0">
              <a:solidFill>
                <a:schemeClr val="bg2">
                  <a:lumMod val="50000"/>
                </a:schemeClr>
              </a:solidFill>
              <a:latin typeface="Calibri" panose="020F0502020204030204" pitchFamily="34" charset="0"/>
              <a:ea typeface="Verdana" panose="020B0604030504040204" pitchFamily="34" charset="0"/>
              <a:cs typeface="Calibri" panose="020F0502020204030204" pitchFamily="34" charset="0"/>
            </a:endParaRPr>
          </a:p>
          <a:p>
            <a:pPr marL="381000" indent="-381000">
              <a:spcBef>
                <a:spcPct val="20000"/>
              </a:spcBef>
              <a:buClr>
                <a:schemeClr val="accent1"/>
              </a:buClr>
              <a:buSzPct val="75000"/>
              <a:buFont typeface="Arial Narrow" pitchFamily="34" charset="0"/>
              <a:buChar char="►"/>
            </a:pPr>
            <a:endParaRPr lang="fr-FR" sz="1200" b="1" dirty="0">
              <a:solidFill>
                <a:schemeClr val="bg2">
                  <a:lumMod val="50000"/>
                </a:schemeClr>
              </a:solidFill>
              <a:latin typeface="Calibri" panose="020F0502020204030204" pitchFamily="34" charset="0"/>
              <a:ea typeface="Verdana" panose="020B0604030504040204" pitchFamily="34" charset="0"/>
              <a:cs typeface="Calibri" panose="020F0502020204030204" pitchFamily="34" charset="0"/>
            </a:endParaRPr>
          </a:p>
          <a:p>
            <a:pPr marL="381000" indent="-381000">
              <a:spcBef>
                <a:spcPct val="20000"/>
              </a:spcBef>
              <a:buSzPct val="75000"/>
              <a:buFont typeface="Arial Narrow" pitchFamily="34" charset="0"/>
              <a:buChar char="►"/>
            </a:pPr>
            <a:r>
              <a:rPr lang="fr-FR" sz="1200" b="1" i="1" dirty="0" err="1">
                <a:latin typeface="+mj-lt"/>
              </a:rPr>
              <a:t>Auditor’s</a:t>
            </a:r>
            <a:r>
              <a:rPr lang="fr-FR" sz="1200" b="1" i="1" dirty="0">
                <a:latin typeface="+mj-lt"/>
              </a:rPr>
              <a:t> </a:t>
            </a:r>
            <a:r>
              <a:rPr lang="fr-FR" sz="1200" b="1" i="1" dirty="0" err="1">
                <a:latin typeface="+mj-lt"/>
              </a:rPr>
              <a:t>comments</a:t>
            </a:r>
            <a:r>
              <a:rPr lang="fr-FR" sz="1200" b="1" i="1" dirty="0">
                <a:latin typeface="+mj-lt"/>
              </a:rPr>
              <a:t> :</a:t>
            </a:r>
          </a:p>
          <a:p>
            <a:pPr>
              <a:spcBef>
                <a:spcPct val="20000"/>
              </a:spcBef>
              <a:buClr>
                <a:srgbClr val="FFD200"/>
              </a:buClr>
              <a:buSzPct val="75000"/>
            </a:pPr>
            <a:r>
              <a:rPr lang="en-US" sz="1100" dirty="0"/>
              <a:t>XXX</a:t>
            </a:r>
            <a:endParaRPr lang="fr-FR" sz="1100" b="1" u="sng" dirty="0">
              <a:solidFill>
                <a:schemeClr val="bg2">
                  <a:lumMod val="50000"/>
                </a:schemeClr>
              </a:solidFill>
              <a:latin typeface="Calibri" panose="020F0502020204030204" pitchFamily="34" charset="0"/>
              <a:ea typeface="Verdana" panose="020B0604030504040204" pitchFamily="34" charset="0"/>
              <a:cs typeface="Calibri" panose="020F0502020204030204" pitchFamily="34" charset="0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7608076" y="4235371"/>
            <a:ext cx="1095655" cy="1569660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spAutoFit/>
          </a:bodyPr>
          <a:lstStyle/>
          <a:p>
            <a:pPr marL="90488" indent="-90488">
              <a:spcBef>
                <a:spcPct val="20000"/>
              </a:spcBef>
              <a:buSzPct val="75000"/>
              <a:buFont typeface="Arial Narrow" pitchFamily="34" charset="0"/>
              <a:buChar char="►"/>
            </a:pPr>
            <a:r>
              <a:rPr lang="fr-FR" sz="1200" b="1" i="1" dirty="0">
                <a:latin typeface="+mj-lt"/>
              </a:rPr>
              <a:t>Impact in </a:t>
            </a:r>
            <a:r>
              <a:rPr lang="fr-FR" sz="1200" b="1" i="1" dirty="0" err="1">
                <a:latin typeface="+mj-lt"/>
              </a:rPr>
              <a:t>Kcurrency</a:t>
            </a:r>
            <a:endParaRPr lang="fr-FR" sz="1200" b="1" i="1" dirty="0">
              <a:latin typeface="+mj-lt"/>
            </a:endParaRPr>
          </a:p>
          <a:p>
            <a:pPr marL="381000" indent="-381000">
              <a:spcBef>
                <a:spcPct val="20000"/>
              </a:spcBef>
              <a:buSzPct val="75000"/>
              <a:buFont typeface="Arial Narrow" pitchFamily="34" charset="0"/>
              <a:buChar char="►"/>
            </a:pPr>
            <a:endParaRPr lang="fr-FR" sz="1200" b="1" i="1" dirty="0">
              <a:latin typeface="+mj-lt"/>
            </a:endParaRPr>
          </a:p>
          <a:p>
            <a:pPr marL="381000" indent="-381000">
              <a:spcBef>
                <a:spcPct val="20000"/>
              </a:spcBef>
              <a:buSzPct val="75000"/>
              <a:buFont typeface="Arial Narrow" pitchFamily="34" charset="0"/>
              <a:buChar char="►"/>
            </a:pPr>
            <a:endParaRPr lang="fr-FR" sz="1200" b="1" i="1" dirty="0">
              <a:latin typeface="+mj-lt"/>
            </a:endParaRPr>
          </a:p>
          <a:p>
            <a:pPr marL="381000" indent="-381000">
              <a:spcBef>
                <a:spcPct val="20000"/>
              </a:spcBef>
              <a:buSzPct val="75000"/>
              <a:buFont typeface="Arial Narrow" pitchFamily="34" charset="0"/>
              <a:buChar char="►"/>
            </a:pPr>
            <a:endParaRPr lang="fr-FR" sz="1200" b="1" i="1" dirty="0">
              <a:latin typeface="+mj-lt"/>
            </a:endParaRPr>
          </a:p>
          <a:p>
            <a:pPr marL="381000" indent="-381000">
              <a:spcBef>
                <a:spcPct val="20000"/>
              </a:spcBef>
              <a:buSzPct val="75000"/>
              <a:buFont typeface="Arial Narrow" pitchFamily="34" charset="0"/>
              <a:buChar char="►"/>
            </a:pPr>
            <a:endParaRPr lang="fr-FR" sz="1200" b="1" i="1" dirty="0">
              <a:latin typeface="+mj-lt"/>
            </a:endParaRPr>
          </a:p>
          <a:p>
            <a:pPr marL="381000" indent="-381000">
              <a:spcBef>
                <a:spcPct val="20000"/>
              </a:spcBef>
              <a:buSzPct val="75000"/>
              <a:buFont typeface="Arial Narrow" pitchFamily="34" charset="0"/>
              <a:buChar char="►"/>
            </a:pPr>
            <a:endParaRPr lang="fr-FR" sz="1200" b="1" i="1" dirty="0">
              <a:latin typeface="+mj-lt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7608076" y="2028686"/>
            <a:ext cx="1085347" cy="1791260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8" name="Pentagon 6"/>
          <p:cNvSpPr/>
          <p:nvPr/>
        </p:nvSpPr>
        <p:spPr>
          <a:xfrm>
            <a:off x="3723814" y="132929"/>
            <a:ext cx="1386001" cy="516535"/>
          </a:xfrm>
          <a:prstGeom prst="homePlate">
            <a:avLst/>
          </a:prstGeom>
          <a:solidFill>
            <a:schemeClr val="bg1">
              <a:lumMod val="85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88900" rIns="88900" bIns="88900" rtlCol="0" anchor="ctr"/>
          <a:lstStyle/>
          <a:p>
            <a:pPr algn="ctr"/>
            <a:r>
              <a:rPr lang="en-US" sz="1200" dirty="0">
                <a:solidFill>
                  <a:schemeClr val="bg1"/>
                </a:solidFill>
                <a:latin typeface="+mj-lt"/>
              </a:rPr>
              <a:t>Context</a:t>
            </a:r>
          </a:p>
        </p:txBody>
      </p:sp>
      <p:sp>
        <p:nvSpPr>
          <p:cNvPr id="29" name="Chevron 7"/>
          <p:cNvSpPr/>
          <p:nvPr/>
        </p:nvSpPr>
        <p:spPr>
          <a:xfrm>
            <a:off x="4930617" y="132929"/>
            <a:ext cx="1386001" cy="516535"/>
          </a:xfrm>
          <a:prstGeom prst="chevron">
            <a:avLst/>
          </a:prstGeom>
          <a:solidFill>
            <a:srgbClr val="223F87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88900" rIns="0" bIns="88900" rtlCol="0" anchor="ctr"/>
          <a:lstStyle/>
          <a:p>
            <a:pPr algn="ctr"/>
            <a:r>
              <a:rPr lang="en-US" sz="1200" b="1" dirty="0">
                <a:solidFill>
                  <a:schemeClr val="bg1"/>
                </a:solidFill>
                <a:latin typeface="+mj-lt"/>
              </a:rPr>
              <a:t>Accounting &amp; auditing issues</a:t>
            </a:r>
          </a:p>
        </p:txBody>
      </p:sp>
      <p:sp>
        <p:nvSpPr>
          <p:cNvPr id="30" name="Chevron 8"/>
          <p:cNvSpPr/>
          <p:nvPr/>
        </p:nvSpPr>
        <p:spPr>
          <a:xfrm>
            <a:off x="6126958" y="132929"/>
            <a:ext cx="1386001" cy="516535"/>
          </a:xfrm>
          <a:prstGeom prst="chevron">
            <a:avLst/>
          </a:prstGeom>
          <a:solidFill>
            <a:schemeClr val="bg1">
              <a:lumMod val="85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88900" rIns="0" bIns="88900" rtlCol="0" anchor="ctr"/>
          <a:lstStyle/>
          <a:p>
            <a:pPr algn="ctr"/>
            <a:r>
              <a:rPr lang="en-US" sz="1200" dirty="0">
                <a:solidFill>
                  <a:schemeClr val="bg1"/>
                </a:solidFill>
                <a:latin typeface="+mj-lt"/>
              </a:rPr>
              <a:t>Conclusion</a:t>
            </a:r>
          </a:p>
        </p:txBody>
      </p:sp>
      <p:sp>
        <p:nvSpPr>
          <p:cNvPr id="31" name="Chevron 10"/>
          <p:cNvSpPr/>
          <p:nvPr/>
        </p:nvSpPr>
        <p:spPr>
          <a:xfrm>
            <a:off x="7319236" y="132929"/>
            <a:ext cx="1386001" cy="516535"/>
          </a:xfrm>
          <a:prstGeom prst="chevron">
            <a:avLst/>
          </a:prstGeom>
          <a:solidFill>
            <a:schemeClr val="bg1">
              <a:lumMod val="85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88900" rIns="0" bIns="88900" rtlCol="0" anchor="ctr"/>
          <a:lstStyle/>
          <a:p>
            <a:r>
              <a:rPr lang="en-US" sz="1200" dirty="0">
                <a:solidFill>
                  <a:schemeClr val="bg1"/>
                </a:solidFill>
                <a:latin typeface="+mj-lt"/>
              </a:rPr>
              <a:t>Appendices</a:t>
            </a:r>
          </a:p>
        </p:txBody>
      </p:sp>
    </p:spTree>
    <p:extLst>
      <p:ext uri="{BB962C8B-B14F-4D97-AF65-F5344CB8AC3E}">
        <p14:creationId xmlns:p14="http://schemas.microsoft.com/office/powerpoint/2010/main" val="1081576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1"/>
          <p:cNvSpPr txBox="1">
            <a:spLocks/>
          </p:cNvSpPr>
          <p:nvPr/>
        </p:nvSpPr>
        <p:spPr>
          <a:xfrm>
            <a:off x="323528" y="50376"/>
            <a:ext cx="8554658" cy="850106"/>
          </a:xfrm>
          <a:prstGeom prst="rect">
            <a:avLst/>
          </a:prstGeom>
        </p:spPr>
        <p:txBody>
          <a:bodyPr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700" b="1" dirty="0">
                <a:solidFill>
                  <a:prstClr val="black"/>
                </a:solidFill>
              </a:rPr>
              <a:t>Accounting &amp; auditing issues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>
          <a:xfrm>
            <a:off x="2700337" y="6482398"/>
            <a:ext cx="2057400" cy="365125"/>
          </a:xfrm>
        </p:spPr>
        <p:txBody>
          <a:bodyPr/>
          <a:lstStyle/>
          <a:p>
            <a:fld id="{661E6E57-A11E-4CD0-AED6-15B700CC2E98}" type="slidenum">
              <a:rPr lang="fr-FR" smtClean="0">
                <a:latin typeface="EYInterstate Light" panose="02000506000000020004" pitchFamily="2" charset="0"/>
              </a:rPr>
              <a:t>7</a:t>
            </a:fld>
            <a:endParaRPr lang="fr-FR" dirty="0">
              <a:latin typeface="EYInterstate Light" panose="02000506000000020004" pitchFamily="2" charset="0"/>
            </a:endParaRPr>
          </a:p>
        </p:txBody>
      </p:sp>
      <p:sp>
        <p:nvSpPr>
          <p:cNvPr id="5" name="Espace réservé du contenu 2"/>
          <p:cNvSpPr txBox="1">
            <a:spLocks/>
          </p:cNvSpPr>
          <p:nvPr/>
        </p:nvSpPr>
        <p:spPr>
          <a:xfrm>
            <a:off x="397955" y="1257299"/>
            <a:ext cx="8307281" cy="412745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n-US" sz="1600" b="1" dirty="0">
                <a:solidFill>
                  <a:srgbClr val="223F87"/>
                </a:solidFill>
                <a:latin typeface="+mj-lt"/>
              </a:rPr>
              <a:t>Other issues</a:t>
            </a:r>
          </a:p>
          <a:p>
            <a:pPr marL="0" indent="0" algn="just">
              <a:buNone/>
            </a:pPr>
            <a:endParaRPr lang="en-US" sz="1050" b="1" u="sng" dirty="0">
              <a:latin typeface="EYInterstate Light" panose="02000506000000020004" pitchFamily="2" charset="0"/>
            </a:endParaRPr>
          </a:p>
          <a:p>
            <a:pPr marL="0" indent="0" algn="just">
              <a:buNone/>
            </a:pPr>
            <a:endParaRPr lang="en-US" sz="1050" dirty="0">
              <a:latin typeface="EYInterstate Light" panose="02000506000000020004" pitchFamily="2" charset="0"/>
            </a:endParaRPr>
          </a:p>
          <a:p>
            <a:pPr marL="0" indent="0" algn="just">
              <a:buNone/>
            </a:pPr>
            <a:endParaRPr lang="en-US" sz="1050" dirty="0">
              <a:latin typeface="EYInterstate Light" panose="02000506000000020004" pitchFamily="2" charset="0"/>
            </a:endParaRPr>
          </a:p>
          <a:p>
            <a:pPr marL="0" indent="0" algn="just">
              <a:buNone/>
            </a:pPr>
            <a:endParaRPr lang="en-US" sz="1050" dirty="0">
              <a:latin typeface="EYInterstate Light" panose="02000506000000020004" pitchFamily="2" charset="0"/>
            </a:endParaRPr>
          </a:p>
          <a:p>
            <a:pPr marL="0" indent="0" algn="just">
              <a:buNone/>
            </a:pPr>
            <a:endParaRPr lang="en-US" sz="1400" dirty="0">
              <a:solidFill>
                <a:srgbClr val="FF0000"/>
              </a:solidFill>
              <a:latin typeface="EYInterstate Light" panose="02000506000000020004" pitchFamily="2" charset="0"/>
            </a:endParaRPr>
          </a:p>
          <a:p>
            <a:pPr marL="0" indent="0" algn="just">
              <a:buNone/>
            </a:pPr>
            <a:endParaRPr lang="en-US" sz="1400" dirty="0">
              <a:solidFill>
                <a:srgbClr val="FF0000"/>
              </a:solidFill>
              <a:latin typeface="EYInterstate Light" panose="02000506000000020004" pitchFamily="2" charset="0"/>
            </a:endParaRPr>
          </a:p>
          <a:p>
            <a:pPr marL="0" indent="0" algn="just">
              <a:buNone/>
            </a:pPr>
            <a:endParaRPr lang="en-US" sz="1400" dirty="0">
              <a:solidFill>
                <a:srgbClr val="FF0000"/>
              </a:solidFill>
              <a:latin typeface="EYInterstate Light" panose="02000506000000020004" pitchFamily="2" charset="0"/>
            </a:endParaRPr>
          </a:p>
          <a:p>
            <a:pPr marL="0" indent="0" algn="just">
              <a:buNone/>
            </a:pPr>
            <a:endParaRPr lang="en-US" sz="1400" dirty="0">
              <a:solidFill>
                <a:srgbClr val="FF0000"/>
              </a:solidFill>
              <a:latin typeface="EYInterstate Light" panose="02000506000000020004" pitchFamily="2" charset="0"/>
            </a:endParaRPr>
          </a:p>
          <a:p>
            <a:pPr algn="just"/>
            <a:endParaRPr lang="en-US" sz="1400" dirty="0">
              <a:solidFill>
                <a:srgbClr val="FF0000"/>
              </a:solidFill>
              <a:latin typeface="EYInterstate Light" panose="02000506000000020004" pitchFamily="2" charset="0"/>
            </a:endParaRPr>
          </a:p>
          <a:p>
            <a:pPr algn="just"/>
            <a:endParaRPr lang="en-US" sz="1400" dirty="0">
              <a:latin typeface="EYInterstate Light" panose="02000506000000020004" pitchFamily="2" charset="0"/>
            </a:endParaRPr>
          </a:p>
          <a:p>
            <a:pPr marL="0" indent="0" algn="just">
              <a:buNone/>
            </a:pPr>
            <a:endParaRPr lang="en-US" sz="1400" dirty="0">
              <a:latin typeface="EYInterstate Light" panose="02000506000000020004" pitchFamily="2" charset="0"/>
            </a:endParaRPr>
          </a:p>
        </p:txBody>
      </p:sp>
      <p:cxnSp>
        <p:nvCxnSpPr>
          <p:cNvPr id="15" name="Connecteur droit 14"/>
          <p:cNvCxnSpPr/>
          <p:nvPr/>
        </p:nvCxnSpPr>
        <p:spPr>
          <a:xfrm>
            <a:off x="488891" y="1592277"/>
            <a:ext cx="8172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Placeholder 4"/>
          <p:cNvSpPr txBox="1">
            <a:spLocks/>
          </p:cNvSpPr>
          <p:nvPr/>
        </p:nvSpPr>
        <p:spPr>
          <a:xfrm>
            <a:off x="738928" y="1721519"/>
            <a:ext cx="7956000" cy="21640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2">
              <a:buClr>
                <a:srgbClr val="FFD200"/>
              </a:buClr>
              <a:buSzPct val="75000"/>
              <a:defRPr/>
            </a:pPr>
            <a:r>
              <a:rPr lang="en-US" sz="1400" b="1" dirty="0">
                <a:solidFill>
                  <a:srgbClr val="223F87"/>
                </a:solidFill>
                <a:latin typeface="+mj-lt"/>
              </a:rPr>
              <a:t>Division (BG – Entity Code)  - </a:t>
            </a:r>
            <a:r>
              <a:rPr lang="fr-FR" sz="1400" b="1" dirty="0">
                <a:solidFill>
                  <a:srgbClr val="223F87"/>
                </a:solidFill>
                <a:latin typeface="+mj-lt"/>
              </a:rPr>
              <a:t>XXX</a:t>
            </a:r>
            <a:endParaRPr lang="fr-FR" sz="1600" b="1" dirty="0">
              <a:solidFill>
                <a:srgbClr val="223F87"/>
              </a:solidFill>
              <a:latin typeface="+mj-lt"/>
              <a:sym typeface="Wingdings" pitchFamily="2" charset="2"/>
            </a:endParaRPr>
          </a:p>
        </p:txBody>
      </p:sp>
      <p:sp>
        <p:nvSpPr>
          <p:cNvPr id="19" name="Text Placeholder 4"/>
          <p:cNvSpPr txBox="1">
            <a:spLocks/>
          </p:cNvSpPr>
          <p:nvPr/>
        </p:nvSpPr>
        <p:spPr>
          <a:xfrm>
            <a:off x="488891" y="1721519"/>
            <a:ext cx="288000" cy="21640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2">
              <a:buClr>
                <a:srgbClr val="FFD200"/>
              </a:buClr>
              <a:buSzPct val="75000"/>
              <a:defRPr/>
            </a:pPr>
            <a:r>
              <a:rPr lang="fr-FR" sz="1600" b="1" dirty="0">
                <a:solidFill>
                  <a:schemeClr val="bg1"/>
                </a:solidFill>
                <a:latin typeface="+mj-lt"/>
              </a:rPr>
              <a:t>1</a:t>
            </a:r>
            <a:endParaRPr lang="fr-FR" sz="1600" b="1" dirty="0">
              <a:solidFill>
                <a:schemeClr val="bg1"/>
              </a:solidFill>
              <a:latin typeface="+mj-lt"/>
              <a:sym typeface="Wingdings" pitchFamily="2" charset="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477589" y="2028686"/>
            <a:ext cx="8183302" cy="1480405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spAutoFit/>
          </a:bodyPr>
          <a:lstStyle/>
          <a:p>
            <a:pPr marL="381000" indent="-381000">
              <a:spcBef>
                <a:spcPct val="20000"/>
              </a:spcBef>
              <a:buSzPct val="75000"/>
              <a:buFont typeface="Arial Narrow" pitchFamily="34" charset="0"/>
              <a:buChar char="►"/>
            </a:pPr>
            <a:r>
              <a:rPr lang="fr-FR" sz="1100" dirty="0"/>
              <a:t>XX</a:t>
            </a:r>
          </a:p>
          <a:p>
            <a:pPr marL="381000" indent="-381000">
              <a:spcBef>
                <a:spcPct val="20000"/>
              </a:spcBef>
              <a:buClr>
                <a:schemeClr val="accent1"/>
              </a:buClr>
              <a:buSzPct val="75000"/>
              <a:buFont typeface="Arial Narrow" pitchFamily="34" charset="0"/>
              <a:buChar char="►"/>
            </a:pPr>
            <a:endParaRPr lang="fr-FR" sz="1100" dirty="0"/>
          </a:p>
          <a:p>
            <a:pPr marL="381000" indent="-381000">
              <a:spcBef>
                <a:spcPct val="20000"/>
              </a:spcBef>
              <a:buClr>
                <a:schemeClr val="accent1"/>
              </a:buClr>
              <a:buSzPct val="75000"/>
              <a:buFont typeface="Arial Narrow" pitchFamily="34" charset="0"/>
              <a:buChar char="►"/>
            </a:pPr>
            <a:endParaRPr lang="fr-FR" sz="1100" dirty="0"/>
          </a:p>
          <a:p>
            <a:pPr marL="381000" indent="-381000">
              <a:spcBef>
                <a:spcPct val="20000"/>
              </a:spcBef>
              <a:buSzPct val="75000"/>
              <a:buFont typeface="Arial Narrow" pitchFamily="34" charset="0"/>
              <a:buChar char="►"/>
            </a:pPr>
            <a:r>
              <a:rPr lang="fr-FR" sz="1100" dirty="0"/>
              <a:t>XX</a:t>
            </a:r>
          </a:p>
          <a:p>
            <a:pPr>
              <a:spcBef>
                <a:spcPct val="20000"/>
              </a:spcBef>
              <a:buClr>
                <a:srgbClr val="FFD200"/>
              </a:buClr>
              <a:buSzPct val="75000"/>
            </a:pPr>
            <a:endParaRPr lang="fr-FR" sz="1100" b="1" u="sng" dirty="0">
              <a:solidFill>
                <a:schemeClr val="bg2">
                  <a:lumMod val="50000"/>
                </a:schemeClr>
              </a:solidFill>
              <a:latin typeface="Calibri" panose="020F0502020204030204" pitchFamily="34" charset="0"/>
              <a:ea typeface="Verdana" panose="020B0604030504040204" pitchFamily="34" charset="0"/>
              <a:cs typeface="Calibri" panose="020F0502020204030204" pitchFamily="34" charset="0"/>
            </a:endParaRPr>
          </a:p>
          <a:p>
            <a:pPr>
              <a:spcBef>
                <a:spcPct val="20000"/>
              </a:spcBef>
              <a:buClr>
                <a:srgbClr val="FFD200"/>
              </a:buClr>
              <a:buSzPct val="75000"/>
            </a:pPr>
            <a:endParaRPr lang="fr-FR" sz="1100" b="1" u="sng" dirty="0">
              <a:solidFill>
                <a:schemeClr val="bg2">
                  <a:lumMod val="50000"/>
                </a:schemeClr>
              </a:solidFill>
              <a:latin typeface="Calibri" panose="020F0502020204030204" pitchFamily="34" charset="0"/>
              <a:ea typeface="Verdana" panose="020B0604030504040204" pitchFamily="34" charset="0"/>
              <a:cs typeface="Calibri" panose="020F0502020204030204" pitchFamily="34" charset="0"/>
            </a:endParaRPr>
          </a:p>
          <a:p>
            <a:pPr>
              <a:spcBef>
                <a:spcPct val="20000"/>
              </a:spcBef>
              <a:buClr>
                <a:srgbClr val="FFD200"/>
              </a:buClr>
              <a:buSzPct val="75000"/>
            </a:pPr>
            <a:endParaRPr lang="fr-FR" sz="1100" b="1" u="sng" dirty="0">
              <a:solidFill>
                <a:schemeClr val="bg2">
                  <a:lumMod val="50000"/>
                </a:schemeClr>
              </a:solidFill>
              <a:latin typeface="Calibri" panose="020F0502020204030204" pitchFamily="34" charset="0"/>
              <a:ea typeface="Verdana" panose="020B0604030504040204" pitchFamily="34" charset="0"/>
              <a:cs typeface="Calibri" panose="020F0502020204030204" pitchFamily="34" charset="0"/>
            </a:endParaRPr>
          </a:p>
        </p:txBody>
      </p:sp>
      <p:sp>
        <p:nvSpPr>
          <p:cNvPr id="23" name="Text Placeholder 4"/>
          <p:cNvSpPr txBox="1">
            <a:spLocks/>
          </p:cNvSpPr>
          <p:nvPr/>
        </p:nvSpPr>
        <p:spPr>
          <a:xfrm>
            <a:off x="737423" y="3738936"/>
            <a:ext cx="7956000" cy="21640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2">
              <a:buClr>
                <a:srgbClr val="FFD200"/>
              </a:buClr>
              <a:buSzPct val="75000"/>
              <a:defRPr/>
            </a:pPr>
            <a:r>
              <a:rPr lang="en-US" sz="1400" b="1" dirty="0">
                <a:solidFill>
                  <a:srgbClr val="223F87"/>
                </a:solidFill>
                <a:latin typeface="+mj-lt"/>
              </a:rPr>
              <a:t>Division (BG – Entity Code)  - </a:t>
            </a:r>
            <a:r>
              <a:rPr lang="fr-FR" sz="1400" b="1" dirty="0">
                <a:solidFill>
                  <a:srgbClr val="223F87"/>
                </a:solidFill>
                <a:latin typeface="+mj-lt"/>
              </a:rPr>
              <a:t>XXX</a:t>
            </a:r>
            <a:endParaRPr lang="fr-FR" sz="1600" b="1" dirty="0">
              <a:solidFill>
                <a:srgbClr val="223F87"/>
              </a:solidFill>
              <a:latin typeface="+mj-lt"/>
              <a:sym typeface="Wingdings" pitchFamily="2" charset="2"/>
            </a:endParaRPr>
          </a:p>
        </p:txBody>
      </p:sp>
      <p:sp>
        <p:nvSpPr>
          <p:cNvPr id="24" name="Text Placeholder 4"/>
          <p:cNvSpPr txBox="1">
            <a:spLocks/>
          </p:cNvSpPr>
          <p:nvPr/>
        </p:nvSpPr>
        <p:spPr>
          <a:xfrm>
            <a:off x="487386" y="3738936"/>
            <a:ext cx="288000" cy="21640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2">
              <a:buClr>
                <a:srgbClr val="FFD200"/>
              </a:buClr>
              <a:buSzPct val="75000"/>
              <a:defRPr/>
            </a:pPr>
            <a:r>
              <a:rPr lang="fr-FR" sz="1600" b="1" dirty="0">
                <a:solidFill>
                  <a:schemeClr val="bg1"/>
                </a:solidFill>
                <a:latin typeface="+mj-lt"/>
              </a:rPr>
              <a:t>2</a:t>
            </a:r>
            <a:endParaRPr lang="fr-FR" sz="1600" b="1" dirty="0">
              <a:solidFill>
                <a:schemeClr val="bg1"/>
              </a:solidFill>
              <a:latin typeface="+mj-lt"/>
              <a:sym typeface="Wingdings" pitchFamily="2" charset="2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476083" y="4046103"/>
            <a:ext cx="8184807" cy="1886670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spAutoFit/>
          </a:bodyPr>
          <a:lstStyle/>
          <a:p>
            <a:pPr marL="381000" indent="-381000">
              <a:spcBef>
                <a:spcPct val="20000"/>
              </a:spcBef>
              <a:buSzPct val="75000"/>
              <a:buFont typeface="Arial Narrow" pitchFamily="34" charset="0"/>
              <a:buChar char="►"/>
            </a:pPr>
            <a:r>
              <a:rPr lang="fr-FR" sz="1100" dirty="0"/>
              <a:t>XX</a:t>
            </a:r>
          </a:p>
          <a:p>
            <a:pPr marL="381000" indent="-381000">
              <a:spcBef>
                <a:spcPct val="20000"/>
              </a:spcBef>
              <a:buSzPct val="75000"/>
              <a:buFont typeface="Arial Narrow" pitchFamily="34" charset="0"/>
              <a:buChar char="►"/>
            </a:pPr>
            <a:endParaRPr lang="fr-FR" sz="1100" dirty="0"/>
          </a:p>
          <a:p>
            <a:pPr marL="381000" indent="-381000">
              <a:spcBef>
                <a:spcPct val="20000"/>
              </a:spcBef>
              <a:buSzPct val="75000"/>
              <a:buFont typeface="Arial Narrow" pitchFamily="34" charset="0"/>
              <a:buChar char="►"/>
            </a:pPr>
            <a:endParaRPr lang="fr-FR" sz="1100" dirty="0"/>
          </a:p>
          <a:p>
            <a:pPr marL="381000" indent="-381000">
              <a:spcBef>
                <a:spcPct val="20000"/>
              </a:spcBef>
              <a:buSzPct val="75000"/>
              <a:buFont typeface="Arial Narrow" pitchFamily="34" charset="0"/>
              <a:buChar char="►"/>
            </a:pPr>
            <a:endParaRPr lang="fr-FR" sz="1100" dirty="0"/>
          </a:p>
          <a:p>
            <a:pPr marL="381000" indent="-381000">
              <a:spcBef>
                <a:spcPct val="20000"/>
              </a:spcBef>
              <a:buSzPct val="75000"/>
              <a:buFont typeface="Arial Narrow" pitchFamily="34" charset="0"/>
              <a:buChar char="►"/>
            </a:pPr>
            <a:endParaRPr lang="fr-FR" sz="1100" dirty="0"/>
          </a:p>
          <a:p>
            <a:pPr marL="381000" indent="-381000">
              <a:spcBef>
                <a:spcPct val="20000"/>
              </a:spcBef>
              <a:buSzPct val="75000"/>
              <a:buFont typeface="Arial Narrow" pitchFamily="34" charset="0"/>
              <a:buChar char="►"/>
            </a:pPr>
            <a:endParaRPr lang="fr-FR" sz="1100" dirty="0"/>
          </a:p>
          <a:p>
            <a:pPr marL="381000" indent="-381000">
              <a:spcBef>
                <a:spcPct val="20000"/>
              </a:spcBef>
              <a:buSzPct val="75000"/>
              <a:buFont typeface="Arial Narrow" pitchFamily="34" charset="0"/>
              <a:buChar char="►"/>
            </a:pPr>
            <a:endParaRPr lang="fr-FR" sz="1100" dirty="0"/>
          </a:p>
          <a:p>
            <a:pPr marL="381000" indent="-381000">
              <a:spcBef>
                <a:spcPct val="20000"/>
              </a:spcBef>
              <a:buSzPct val="75000"/>
              <a:buFont typeface="Arial Narrow" pitchFamily="34" charset="0"/>
              <a:buChar char="►"/>
            </a:pPr>
            <a:endParaRPr lang="fr-FR" sz="1100" dirty="0"/>
          </a:p>
          <a:p>
            <a:pPr marL="381000" indent="-381000">
              <a:spcBef>
                <a:spcPct val="20000"/>
              </a:spcBef>
              <a:buSzPct val="75000"/>
              <a:buFont typeface="Arial Narrow" pitchFamily="34" charset="0"/>
              <a:buChar char="►"/>
            </a:pPr>
            <a:endParaRPr lang="fr-FR" sz="1100" dirty="0"/>
          </a:p>
        </p:txBody>
      </p:sp>
      <p:sp>
        <p:nvSpPr>
          <p:cNvPr id="28" name="Pentagon 6"/>
          <p:cNvSpPr/>
          <p:nvPr/>
        </p:nvSpPr>
        <p:spPr>
          <a:xfrm>
            <a:off x="3723814" y="132929"/>
            <a:ext cx="1386001" cy="516535"/>
          </a:xfrm>
          <a:prstGeom prst="homePlate">
            <a:avLst/>
          </a:prstGeom>
          <a:solidFill>
            <a:schemeClr val="bg1">
              <a:lumMod val="85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88900" rIns="88900" bIns="88900" rtlCol="0" anchor="ctr"/>
          <a:lstStyle/>
          <a:p>
            <a:pPr algn="ctr"/>
            <a:r>
              <a:rPr lang="en-US" sz="1200" dirty="0">
                <a:solidFill>
                  <a:schemeClr val="bg1"/>
                </a:solidFill>
                <a:latin typeface="+mj-lt"/>
              </a:rPr>
              <a:t>Context</a:t>
            </a:r>
          </a:p>
        </p:txBody>
      </p:sp>
      <p:sp>
        <p:nvSpPr>
          <p:cNvPr id="29" name="Chevron 7"/>
          <p:cNvSpPr/>
          <p:nvPr/>
        </p:nvSpPr>
        <p:spPr>
          <a:xfrm>
            <a:off x="4930617" y="132929"/>
            <a:ext cx="1386001" cy="516535"/>
          </a:xfrm>
          <a:prstGeom prst="chevron">
            <a:avLst/>
          </a:prstGeom>
          <a:solidFill>
            <a:srgbClr val="223F87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88900" rIns="0" bIns="88900" rtlCol="0" anchor="ctr"/>
          <a:lstStyle/>
          <a:p>
            <a:pPr algn="ctr"/>
            <a:r>
              <a:rPr lang="en-US" sz="1200" b="1" dirty="0">
                <a:solidFill>
                  <a:schemeClr val="bg1"/>
                </a:solidFill>
                <a:latin typeface="+mj-lt"/>
              </a:rPr>
              <a:t>Accounting &amp; auditing issues</a:t>
            </a:r>
          </a:p>
        </p:txBody>
      </p:sp>
      <p:sp>
        <p:nvSpPr>
          <p:cNvPr id="30" name="Chevron 8"/>
          <p:cNvSpPr/>
          <p:nvPr/>
        </p:nvSpPr>
        <p:spPr>
          <a:xfrm>
            <a:off x="6126958" y="132929"/>
            <a:ext cx="1386001" cy="516535"/>
          </a:xfrm>
          <a:prstGeom prst="chevron">
            <a:avLst/>
          </a:prstGeom>
          <a:solidFill>
            <a:schemeClr val="bg1">
              <a:lumMod val="85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88900" rIns="0" bIns="88900" rtlCol="0" anchor="ctr"/>
          <a:lstStyle/>
          <a:p>
            <a:pPr algn="ctr"/>
            <a:r>
              <a:rPr lang="en-US" sz="1200" dirty="0">
                <a:solidFill>
                  <a:schemeClr val="bg1"/>
                </a:solidFill>
                <a:latin typeface="+mj-lt"/>
              </a:rPr>
              <a:t>Conclusion</a:t>
            </a:r>
          </a:p>
        </p:txBody>
      </p:sp>
      <p:sp>
        <p:nvSpPr>
          <p:cNvPr id="31" name="Chevron 10"/>
          <p:cNvSpPr/>
          <p:nvPr/>
        </p:nvSpPr>
        <p:spPr>
          <a:xfrm>
            <a:off x="7319236" y="132929"/>
            <a:ext cx="1386001" cy="516535"/>
          </a:xfrm>
          <a:prstGeom prst="chevron">
            <a:avLst/>
          </a:prstGeom>
          <a:solidFill>
            <a:schemeClr val="bg1">
              <a:lumMod val="85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88900" rIns="0" bIns="88900" rtlCol="0" anchor="ctr"/>
          <a:lstStyle/>
          <a:p>
            <a:r>
              <a:rPr lang="en-US" sz="1200" dirty="0">
                <a:solidFill>
                  <a:schemeClr val="bg1"/>
                </a:solidFill>
                <a:latin typeface="+mj-lt"/>
              </a:rPr>
              <a:t>Appendices</a:t>
            </a:r>
          </a:p>
        </p:txBody>
      </p:sp>
    </p:spTree>
    <p:extLst>
      <p:ext uri="{BB962C8B-B14F-4D97-AF65-F5344CB8AC3E}">
        <p14:creationId xmlns:p14="http://schemas.microsoft.com/office/powerpoint/2010/main" val="1277679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1"/>
          <p:cNvSpPr txBox="1">
            <a:spLocks/>
          </p:cNvSpPr>
          <p:nvPr/>
        </p:nvSpPr>
        <p:spPr>
          <a:xfrm>
            <a:off x="323528" y="50376"/>
            <a:ext cx="8554658" cy="850106"/>
          </a:xfrm>
          <a:prstGeom prst="rect">
            <a:avLst/>
          </a:prstGeom>
        </p:spPr>
        <p:txBody>
          <a:bodyPr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700" b="1" dirty="0">
                <a:solidFill>
                  <a:prstClr val="black"/>
                </a:solidFill>
              </a:rPr>
              <a:t>Internal control matters 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>
          <a:xfrm>
            <a:off x="2700337" y="6482398"/>
            <a:ext cx="2057400" cy="365125"/>
          </a:xfrm>
        </p:spPr>
        <p:txBody>
          <a:bodyPr/>
          <a:lstStyle/>
          <a:p>
            <a:fld id="{661E6E57-A11E-4CD0-AED6-15B700CC2E98}" type="slidenum">
              <a:rPr lang="fr-FR" smtClean="0">
                <a:latin typeface="EYInterstate Light" panose="02000506000000020004" pitchFamily="2" charset="0"/>
              </a:rPr>
              <a:t>8</a:t>
            </a:fld>
            <a:endParaRPr lang="fr-FR" dirty="0">
              <a:latin typeface="EYInterstate Light" panose="02000506000000020004" pitchFamily="2" charset="0"/>
            </a:endParaRPr>
          </a:p>
        </p:txBody>
      </p:sp>
      <p:sp>
        <p:nvSpPr>
          <p:cNvPr id="5" name="Espace réservé du contenu 2"/>
          <p:cNvSpPr txBox="1">
            <a:spLocks/>
          </p:cNvSpPr>
          <p:nvPr/>
        </p:nvSpPr>
        <p:spPr>
          <a:xfrm>
            <a:off x="397955" y="1257299"/>
            <a:ext cx="8307281" cy="412745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n-US" sz="1600" b="1" dirty="0">
                <a:solidFill>
                  <a:srgbClr val="223F87"/>
                </a:solidFill>
                <a:latin typeface="+mj-lt"/>
              </a:rPr>
              <a:t>If necessary</a:t>
            </a:r>
          </a:p>
          <a:p>
            <a:pPr marL="0" indent="0" algn="just">
              <a:buNone/>
            </a:pPr>
            <a:endParaRPr lang="en-US" sz="1050" b="1" u="sng" dirty="0">
              <a:latin typeface="EYInterstate Light" panose="02000506000000020004" pitchFamily="2" charset="0"/>
            </a:endParaRPr>
          </a:p>
          <a:p>
            <a:pPr marL="0" indent="0" algn="just">
              <a:buNone/>
            </a:pPr>
            <a:endParaRPr lang="en-US" sz="1050" dirty="0">
              <a:latin typeface="EYInterstate Light" panose="02000506000000020004" pitchFamily="2" charset="0"/>
            </a:endParaRPr>
          </a:p>
          <a:p>
            <a:pPr marL="0" indent="0" algn="just">
              <a:buNone/>
            </a:pPr>
            <a:endParaRPr lang="en-US" sz="1050" dirty="0">
              <a:latin typeface="EYInterstate Light" panose="02000506000000020004" pitchFamily="2" charset="0"/>
            </a:endParaRPr>
          </a:p>
          <a:p>
            <a:pPr marL="0" indent="0" algn="just">
              <a:buNone/>
            </a:pPr>
            <a:endParaRPr lang="en-US" sz="1050" dirty="0">
              <a:latin typeface="EYInterstate Light" panose="02000506000000020004" pitchFamily="2" charset="0"/>
            </a:endParaRPr>
          </a:p>
          <a:p>
            <a:pPr marL="0" indent="0" algn="just">
              <a:buNone/>
            </a:pPr>
            <a:endParaRPr lang="en-US" sz="1400" dirty="0">
              <a:solidFill>
                <a:srgbClr val="FF0000"/>
              </a:solidFill>
              <a:latin typeface="EYInterstate Light" panose="02000506000000020004" pitchFamily="2" charset="0"/>
            </a:endParaRPr>
          </a:p>
          <a:p>
            <a:pPr marL="0" indent="0" algn="just">
              <a:buNone/>
            </a:pPr>
            <a:endParaRPr lang="en-US" sz="1400" dirty="0">
              <a:solidFill>
                <a:srgbClr val="FF0000"/>
              </a:solidFill>
              <a:latin typeface="EYInterstate Light" panose="02000506000000020004" pitchFamily="2" charset="0"/>
            </a:endParaRPr>
          </a:p>
          <a:p>
            <a:pPr marL="0" indent="0" algn="just">
              <a:buNone/>
            </a:pPr>
            <a:endParaRPr lang="en-US" sz="1400" dirty="0">
              <a:solidFill>
                <a:srgbClr val="FF0000"/>
              </a:solidFill>
              <a:latin typeface="EYInterstate Light" panose="02000506000000020004" pitchFamily="2" charset="0"/>
            </a:endParaRPr>
          </a:p>
          <a:p>
            <a:pPr marL="0" indent="0" algn="just">
              <a:buNone/>
            </a:pPr>
            <a:endParaRPr lang="en-US" sz="1400" dirty="0">
              <a:solidFill>
                <a:srgbClr val="FF0000"/>
              </a:solidFill>
              <a:latin typeface="EYInterstate Light" panose="02000506000000020004" pitchFamily="2" charset="0"/>
            </a:endParaRPr>
          </a:p>
          <a:p>
            <a:pPr algn="just"/>
            <a:endParaRPr lang="en-US" sz="1400" dirty="0">
              <a:solidFill>
                <a:srgbClr val="FF0000"/>
              </a:solidFill>
              <a:latin typeface="EYInterstate Light" panose="02000506000000020004" pitchFamily="2" charset="0"/>
            </a:endParaRPr>
          </a:p>
          <a:p>
            <a:pPr algn="just"/>
            <a:endParaRPr lang="en-US" sz="1400" dirty="0">
              <a:latin typeface="EYInterstate Light" panose="02000506000000020004" pitchFamily="2" charset="0"/>
            </a:endParaRPr>
          </a:p>
          <a:p>
            <a:pPr marL="0" indent="0" algn="just">
              <a:buNone/>
            </a:pPr>
            <a:endParaRPr lang="en-US" sz="1400" dirty="0">
              <a:latin typeface="EYInterstate Light" panose="02000506000000020004" pitchFamily="2" charset="0"/>
            </a:endParaRPr>
          </a:p>
        </p:txBody>
      </p:sp>
      <p:cxnSp>
        <p:nvCxnSpPr>
          <p:cNvPr id="15" name="Connecteur droit 14"/>
          <p:cNvCxnSpPr/>
          <p:nvPr/>
        </p:nvCxnSpPr>
        <p:spPr>
          <a:xfrm>
            <a:off x="488891" y="1592277"/>
            <a:ext cx="8172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Placeholder 4"/>
          <p:cNvSpPr txBox="1">
            <a:spLocks/>
          </p:cNvSpPr>
          <p:nvPr/>
        </p:nvSpPr>
        <p:spPr>
          <a:xfrm>
            <a:off x="738928" y="1721519"/>
            <a:ext cx="7956000" cy="21640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2">
              <a:buClr>
                <a:srgbClr val="FFD200"/>
              </a:buClr>
              <a:buSzPct val="75000"/>
              <a:defRPr/>
            </a:pPr>
            <a:r>
              <a:rPr lang="fr-FR" sz="1400" b="1" dirty="0" err="1">
                <a:solidFill>
                  <a:srgbClr val="223F87"/>
                </a:solidFill>
                <a:latin typeface="+mj-lt"/>
              </a:rPr>
              <a:t>Internal</a:t>
            </a:r>
            <a:r>
              <a:rPr lang="fr-FR" sz="1400" b="1" dirty="0">
                <a:solidFill>
                  <a:srgbClr val="223F87"/>
                </a:solidFill>
                <a:latin typeface="+mj-lt"/>
              </a:rPr>
              <a:t> control </a:t>
            </a:r>
            <a:r>
              <a:rPr lang="fr-FR" sz="1400" b="1" dirty="0" err="1">
                <a:solidFill>
                  <a:srgbClr val="223F87"/>
                </a:solidFill>
                <a:latin typeface="+mj-lt"/>
              </a:rPr>
              <a:t>matters</a:t>
            </a:r>
            <a:r>
              <a:rPr lang="fr-FR" sz="1400" b="1" dirty="0">
                <a:solidFill>
                  <a:srgbClr val="223F87"/>
                </a:solidFill>
                <a:latin typeface="+mj-lt"/>
              </a:rPr>
              <a:t> </a:t>
            </a:r>
            <a:endParaRPr lang="fr-FR" sz="1600" b="1" dirty="0">
              <a:solidFill>
                <a:srgbClr val="223F87"/>
              </a:solidFill>
              <a:latin typeface="+mj-lt"/>
              <a:sym typeface="Wingdings" pitchFamily="2" charset="2"/>
            </a:endParaRPr>
          </a:p>
        </p:txBody>
      </p:sp>
      <p:sp>
        <p:nvSpPr>
          <p:cNvPr id="19" name="Text Placeholder 4"/>
          <p:cNvSpPr txBox="1">
            <a:spLocks/>
          </p:cNvSpPr>
          <p:nvPr/>
        </p:nvSpPr>
        <p:spPr>
          <a:xfrm>
            <a:off x="488891" y="1721519"/>
            <a:ext cx="288000" cy="21640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2">
              <a:buClr>
                <a:srgbClr val="FFD200"/>
              </a:buClr>
              <a:buSzPct val="75000"/>
              <a:defRPr/>
            </a:pPr>
            <a:r>
              <a:rPr lang="fr-FR" sz="1600" b="1" dirty="0">
                <a:solidFill>
                  <a:schemeClr val="bg1"/>
                </a:solidFill>
                <a:latin typeface="+mj-lt"/>
              </a:rPr>
              <a:t>1</a:t>
            </a:r>
            <a:endParaRPr lang="fr-FR" sz="1600" b="1" dirty="0">
              <a:solidFill>
                <a:schemeClr val="bg1"/>
              </a:solidFill>
              <a:latin typeface="+mj-lt"/>
              <a:sym typeface="Wingdings" pitchFamily="2" charset="2"/>
            </a:endParaRPr>
          </a:p>
        </p:txBody>
      </p:sp>
      <p:sp>
        <p:nvSpPr>
          <p:cNvPr id="28" name="Pentagon 6"/>
          <p:cNvSpPr/>
          <p:nvPr/>
        </p:nvSpPr>
        <p:spPr>
          <a:xfrm>
            <a:off x="3723814" y="132929"/>
            <a:ext cx="1386001" cy="516535"/>
          </a:xfrm>
          <a:prstGeom prst="homePlate">
            <a:avLst/>
          </a:prstGeom>
          <a:solidFill>
            <a:schemeClr val="bg1">
              <a:lumMod val="85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88900" rIns="88900" bIns="88900" rtlCol="0" anchor="ctr"/>
          <a:lstStyle/>
          <a:p>
            <a:pPr algn="ctr"/>
            <a:r>
              <a:rPr lang="en-US" sz="1200" dirty="0">
                <a:solidFill>
                  <a:schemeClr val="bg1"/>
                </a:solidFill>
                <a:latin typeface="+mj-lt"/>
              </a:rPr>
              <a:t>Context</a:t>
            </a:r>
          </a:p>
        </p:txBody>
      </p:sp>
      <p:sp>
        <p:nvSpPr>
          <p:cNvPr id="29" name="Chevron 7"/>
          <p:cNvSpPr/>
          <p:nvPr/>
        </p:nvSpPr>
        <p:spPr>
          <a:xfrm>
            <a:off x="4930617" y="132929"/>
            <a:ext cx="1386001" cy="516535"/>
          </a:xfrm>
          <a:prstGeom prst="chevron">
            <a:avLst/>
          </a:prstGeom>
          <a:solidFill>
            <a:srgbClr val="223F87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88900" rIns="0" bIns="88900" rtlCol="0" anchor="ctr"/>
          <a:lstStyle/>
          <a:p>
            <a:pPr algn="ctr"/>
            <a:r>
              <a:rPr lang="en-US" sz="1200" b="1" dirty="0">
                <a:solidFill>
                  <a:schemeClr val="bg1"/>
                </a:solidFill>
                <a:latin typeface="+mj-lt"/>
              </a:rPr>
              <a:t>Accounting &amp; auditing issues</a:t>
            </a:r>
          </a:p>
        </p:txBody>
      </p:sp>
      <p:sp>
        <p:nvSpPr>
          <p:cNvPr id="30" name="Chevron 8"/>
          <p:cNvSpPr/>
          <p:nvPr/>
        </p:nvSpPr>
        <p:spPr>
          <a:xfrm>
            <a:off x="6126958" y="132929"/>
            <a:ext cx="1386001" cy="516535"/>
          </a:xfrm>
          <a:prstGeom prst="chevron">
            <a:avLst/>
          </a:prstGeom>
          <a:solidFill>
            <a:schemeClr val="bg1">
              <a:lumMod val="85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88900" rIns="0" bIns="88900" rtlCol="0" anchor="ctr"/>
          <a:lstStyle/>
          <a:p>
            <a:pPr algn="ctr"/>
            <a:r>
              <a:rPr lang="en-US" sz="1200" dirty="0">
                <a:solidFill>
                  <a:schemeClr val="bg1"/>
                </a:solidFill>
                <a:latin typeface="+mj-lt"/>
              </a:rPr>
              <a:t>Conclusion</a:t>
            </a:r>
          </a:p>
        </p:txBody>
      </p:sp>
      <p:sp>
        <p:nvSpPr>
          <p:cNvPr id="31" name="Chevron 10"/>
          <p:cNvSpPr/>
          <p:nvPr/>
        </p:nvSpPr>
        <p:spPr>
          <a:xfrm>
            <a:off x="7319236" y="132929"/>
            <a:ext cx="1386001" cy="516535"/>
          </a:xfrm>
          <a:prstGeom prst="chevron">
            <a:avLst/>
          </a:prstGeom>
          <a:solidFill>
            <a:schemeClr val="bg1">
              <a:lumMod val="85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88900" rIns="0" bIns="88900" rtlCol="0" anchor="ctr"/>
          <a:lstStyle/>
          <a:p>
            <a:r>
              <a:rPr lang="en-US" sz="1200" dirty="0">
                <a:solidFill>
                  <a:schemeClr val="bg1"/>
                </a:solidFill>
                <a:latin typeface="+mj-lt"/>
              </a:rPr>
              <a:t>Appendices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7900190"/>
              </p:ext>
            </p:extLst>
          </p:nvPr>
        </p:nvGraphicFramePr>
        <p:xfrm>
          <a:off x="360740" y="2092681"/>
          <a:ext cx="8381710" cy="1658036"/>
        </p:xfrm>
        <a:graphic>
          <a:graphicData uri="http://schemas.openxmlformats.org/drawingml/2006/table">
            <a:tbl>
              <a:tblPr firstRow="1" bandRow="1" bandCol="1"/>
              <a:tblGrid>
                <a:gridCol w="7472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28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8284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0848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6774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87811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80864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Priority</a:t>
                      </a:r>
                      <a:endParaRPr lang="fr-FR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Process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BAU (plant)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Risk</a:t>
                      </a:r>
                      <a:endParaRPr lang="fr-FR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Issue noted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Recommandation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Compensating control in place ?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7879">
                <a:tc rowSpan="2">
                  <a:txBody>
                    <a:bodyPr/>
                    <a:lstStyle/>
                    <a:p>
                      <a:pPr algn="l" rtl="0" fontAlgn="ctr">
                        <a:buClr>
                          <a:srgbClr val="000000"/>
                        </a:buClr>
                        <a:buSzPts val="900"/>
                        <a:buFont typeface="EYInterstate Light" panose="02000506000000020004" pitchFamily="2" charset="0"/>
                        <a:buNone/>
                      </a:pPr>
                      <a:endParaRPr lang="fr-FR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17145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l" fontAlgn="ctr"/>
                      <a:endParaRPr lang="fr-FR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5725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l" fontAlgn="ctr"/>
                      <a:endParaRPr lang="fr-FR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5725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l" fontAlgn="ctr"/>
                      <a:endParaRPr lang="fr-FR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5725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l" fontAlgn="ctr"/>
                      <a:endParaRPr lang="fr-FR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5725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l" fontAlgn="ctr"/>
                      <a:endParaRPr lang="fr-FR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5725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Clr>
                          <a:srgbClr val="000000"/>
                        </a:buClr>
                        <a:buSzPts val="900"/>
                        <a:buFont typeface="EYInterstate Light" panose="02000506000000020004" pitchFamily="2" charset="0"/>
                        <a:buNone/>
                      </a:pPr>
                      <a:endParaRPr lang="fr-FR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17145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3745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ctr">
                        <a:buClr>
                          <a:srgbClr val="000000"/>
                        </a:buClr>
                        <a:buSzPts val="900"/>
                        <a:buFont typeface="EYInterstate Light" panose="02000506000000020004" pitchFamily="2" charset="0"/>
                        <a:buChar char="•"/>
                      </a:pPr>
                      <a:endParaRPr lang="fr-FR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17145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2774">
                <a:tc>
                  <a:txBody>
                    <a:bodyPr/>
                    <a:lstStyle/>
                    <a:p>
                      <a:pPr algn="l" rtl="0" fontAlgn="ctr">
                        <a:buClr>
                          <a:srgbClr val="000000"/>
                        </a:buClr>
                        <a:buSzPts val="900"/>
                        <a:buFont typeface="EYInterstate Light" panose="02000506000000020004" pitchFamily="2" charset="0"/>
                        <a:buChar char="•"/>
                      </a:pPr>
                      <a:endParaRPr lang="en-US" sz="900" b="0" i="0" u="none" strike="noStrike" noProof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17145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85725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85725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85725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85725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85725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5725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2774">
                <a:tc>
                  <a:txBody>
                    <a:bodyPr/>
                    <a:lstStyle/>
                    <a:p>
                      <a:pPr algn="l" rtl="0" fontAlgn="ctr">
                        <a:buClr>
                          <a:srgbClr val="000000"/>
                        </a:buClr>
                        <a:buSzPts val="900"/>
                        <a:buFont typeface="EYInterstate Light" panose="02000506000000020004" pitchFamily="2" charset="0"/>
                        <a:buChar char="•"/>
                      </a:pPr>
                      <a:endParaRPr lang="fr-FR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17145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85725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85725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85725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85725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85725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85725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7" name="Freeform 858"/>
          <p:cNvSpPr>
            <a:spLocks noChangeAspect="1" noEditPoints="1"/>
          </p:cNvSpPr>
          <p:nvPr/>
        </p:nvSpPr>
        <p:spPr bwMode="auto">
          <a:xfrm>
            <a:off x="608532" y="2790726"/>
            <a:ext cx="233403" cy="233403"/>
          </a:xfrm>
          <a:custGeom>
            <a:avLst/>
            <a:gdLst>
              <a:gd name="T0" fmla="*/ 352 w 512"/>
              <a:gd name="T1" fmla="*/ 146 h 512"/>
              <a:gd name="T2" fmla="*/ 352 w 512"/>
              <a:gd name="T3" fmla="*/ 260 h 512"/>
              <a:gd name="T4" fmla="*/ 263 w 512"/>
              <a:gd name="T5" fmla="*/ 259 h 512"/>
              <a:gd name="T6" fmla="*/ 208 w 512"/>
              <a:gd name="T7" fmla="*/ 236 h 512"/>
              <a:gd name="T8" fmla="*/ 160 w 512"/>
              <a:gd name="T9" fmla="*/ 248 h 512"/>
              <a:gd name="T10" fmla="*/ 160 w 512"/>
              <a:gd name="T11" fmla="*/ 134 h 512"/>
              <a:gd name="T12" fmla="*/ 248 w 512"/>
              <a:gd name="T13" fmla="*/ 135 h 512"/>
              <a:gd name="T14" fmla="*/ 352 w 512"/>
              <a:gd name="T15" fmla="*/ 146 h 512"/>
              <a:gd name="T16" fmla="*/ 512 w 512"/>
              <a:gd name="T17" fmla="*/ 256 h 512"/>
              <a:gd name="T18" fmla="*/ 256 w 512"/>
              <a:gd name="T19" fmla="*/ 512 h 512"/>
              <a:gd name="T20" fmla="*/ 0 w 512"/>
              <a:gd name="T21" fmla="*/ 256 h 512"/>
              <a:gd name="T22" fmla="*/ 256 w 512"/>
              <a:gd name="T23" fmla="*/ 0 h 512"/>
              <a:gd name="T24" fmla="*/ 512 w 512"/>
              <a:gd name="T25" fmla="*/ 256 h 512"/>
              <a:gd name="T26" fmla="*/ 373 w 512"/>
              <a:gd name="T27" fmla="*/ 128 h 512"/>
              <a:gd name="T28" fmla="*/ 367 w 512"/>
              <a:gd name="T29" fmla="*/ 118 h 512"/>
              <a:gd name="T30" fmla="*/ 356 w 512"/>
              <a:gd name="T31" fmla="*/ 119 h 512"/>
              <a:gd name="T32" fmla="*/ 263 w 512"/>
              <a:gd name="T33" fmla="*/ 120 h 512"/>
              <a:gd name="T34" fmla="*/ 143 w 512"/>
              <a:gd name="T35" fmla="*/ 119 h 512"/>
              <a:gd name="T36" fmla="*/ 138 w 512"/>
              <a:gd name="T37" fmla="*/ 128 h 512"/>
              <a:gd name="T38" fmla="*/ 138 w 512"/>
              <a:gd name="T39" fmla="*/ 384 h 512"/>
              <a:gd name="T40" fmla="*/ 149 w 512"/>
              <a:gd name="T41" fmla="*/ 394 h 512"/>
              <a:gd name="T42" fmla="*/ 160 w 512"/>
              <a:gd name="T43" fmla="*/ 384 h 512"/>
              <a:gd name="T44" fmla="*/ 160 w 512"/>
              <a:gd name="T45" fmla="*/ 272 h 512"/>
              <a:gd name="T46" fmla="*/ 248 w 512"/>
              <a:gd name="T47" fmla="*/ 274 h 512"/>
              <a:gd name="T48" fmla="*/ 368 w 512"/>
              <a:gd name="T49" fmla="*/ 275 h 512"/>
              <a:gd name="T50" fmla="*/ 373 w 512"/>
              <a:gd name="T51" fmla="*/ 266 h 512"/>
              <a:gd name="T52" fmla="*/ 373 w 512"/>
              <a:gd name="T53" fmla="*/ 128 h 5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512" h="512">
                <a:moveTo>
                  <a:pt x="352" y="146"/>
                </a:moveTo>
                <a:cubicBezTo>
                  <a:pt x="352" y="260"/>
                  <a:pt x="352" y="260"/>
                  <a:pt x="352" y="260"/>
                </a:cubicBezTo>
                <a:cubicBezTo>
                  <a:pt x="337" y="268"/>
                  <a:pt x="293" y="288"/>
                  <a:pt x="263" y="259"/>
                </a:cubicBezTo>
                <a:cubicBezTo>
                  <a:pt x="247" y="242"/>
                  <a:pt x="227" y="236"/>
                  <a:pt x="208" y="236"/>
                </a:cubicBezTo>
                <a:cubicBezTo>
                  <a:pt x="191" y="236"/>
                  <a:pt x="173" y="242"/>
                  <a:pt x="160" y="248"/>
                </a:cubicBezTo>
                <a:cubicBezTo>
                  <a:pt x="160" y="134"/>
                  <a:pt x="160" y="134"/>
                  <a:pt x="160" y="134"/>
                </a:cubicBezTo>
                <a:cubicBezTo>
                  <a:pt x="174" y="126"/>
                  <a:pt x="218" y="105"/>
                  <a:pt x="248" y="135"/>
                </a:cubicBezTo>
                <a:cubicBezTo>
                  <a:pt x="280" y="167"/>
                  <a:pt x="323" y="159"/>
                  <a:pt x="352" y="146"/>
                </a:cubicBezTo>
                <a:close/>
                <a:moveTo>
                  <a:pt x="512" y="256"/>
                </a:moveTo>
                <a:cubicBezTo>
                  <a:pt x="512" y="397"/>
                  <a:pt x="397" y="512"/>
                  <a:pt x="256" y="512"/>
                </a:cubicBezTo>
                <a:cubicBezTo>
                  <a:pt x="114" y="512"/>
                  <a:pt x="0" y="397"/>
                  <a:pt x="0" y="256"/>
                </a:cubicBezTo>
                <a:cubicBezTo>
                  <a:pt x="0" y="114"/>
                  <a:pt x="114" y="0"/>
                  <a:pt x="256" y="0"/>
                </a:cubicBezTo>
                <a:cubicBezTo>
                  <a:pt x="397" y="0"/>
                  <a:pt x="512" y="114"/>
                  <a:pt x="512" y="256"/>
                </a:cubicBezTo>
                <a:close/>
                <a:moveTo>
                  <a:pt x="373" y="128"/>
                </a:moveTo>
                <a:cubicBezTo>
                  <a:pt x="373" y="124"/>
                  <a:pt x="371" y="120"/>
                  <a:pt x="367" y="118"/>
                </a:cubicBezTo>
                <a:cubicBezTo>
                  <a:pt x="364" y="116"/>
                  <a:pt x="360" y="117"/>
                  <a:pt x="356" y="119"/>
                </a:cubicBezTo>
                <a:cubicBezTo>
                  <a:pt x="356" y="119"/>
                  <a:pt x="299" y="156"/>
                  <a:pt x="263" y="120"/>
                </a:cubicBezTo>
                <a:cubicBezTo>
                  <a:pt x="224" y="81"/>
                  <a:pt x="167" y="102"/>
                  <a:pt x="143" y="119"/>
                </a:cubicBezTo>
                <a:cubicBezTo>
                  <a:pt x="140" y="121"/>
                  <a:pt x="138" y="124"/>
                  <a:pt x="138" y="128"/>
                </a:cubicBezTo>
                <a:cubicBezTo>
                  <a:pt x="138" y="384"/>
                  <a:pt x="138" y="384"/>
                  <a:pt x="138" y="384"/>
                </a:cubicBezTo>
                <a:cubicBezTo>
                  <a:pt x="138" y="390"/>
                  <a:pt x="143" y="394"/>
                  <a:pt x="149" y="394"/>
                </a:cubicBezTo>
                <a:cubicBezTo>
                  <a:pt x="155" y="394"/>
                  <a:pt x="160" y="390"/>
                  <a:pt x="160" y="384"/>
                </a:cubicBezTo>
                <a:cubicBezTo>
                  <a:pt x="160" y="272"/>
                  <a:pt x="160" y="272"/>
                  <a:pt x="160" y="272"/>
                </a:cubicBezTo>
                <a:cubicBezTo>
                  <a:pt x="174" y="264"/>
                  <a:pt x="217" y="243"/>
                  <a:pt x="248" y="274"/>
                </a:cubicBezTo>
                <a:cubicBezTo>
                  <a:pt x="286" y="312"/>
                  <a:pt x="343" y="292"/>
                  <a:pt x="368" y="275"/>
                </a:cubicBezTo>
                <a:cubicBezTo>
                  <a:pt x="371" y="273"/>
                  <a:pt x="373" y="270"/>
                  <a:pt x="373" y="266"/>
                </a:cubicBezTo>
                <a:lnTo>
                  <a:pt x="373" y="128"/>
                </a:lnTo>
                <a:close/>
              </a:path>
            </a:pathLst>
          </a:custGeom>
          <a:solidFill>
            <a:srgbClr val="FF0000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/>
          </a:p>
        </p:txBody>
      </p:sp>
      <p:sp>
        <p:nvSpPr>
          <p:cNvPr id="18" name="Freeform 858"/>
          <p:cNvSpPr>
            <a:spLocks noChangeAspect="1" noEditPoints="1"/>
          </p:cNvSpPr>
          <p:nvPr/>
        </p:nvSpPr>
        <p:spPr bwMode="auto">
          <a:xfrm>
            <a:off x="608532" y="3146884"/>
            <a:ext cx="233403" cy="233403"/>
          </a:xfrm>
          <a:custGeom>
            <a:avLst/>
            <a:gdLst>
              <a:gd name="T0" fmla="*/ 352 w 512"/>
              <a:gd name="T1" fmla="*/ 146 h 512"/>
              <a:gd name="T2" fmla="*/ 352 w 512"/>
              <a:gd name="T3" fmla="*/ 260 h 512"/>
              <a:gd name="T4" fmla="*/ 263 w 512"/>
              <a:gd name="T5" fmla="*/ 259 h 512"/>
              <a:gd name="T6" fmla="*/ 208 w 512"/>
              <a:gd name="T7" fmla="*/ 236 h 512"/>
              <a:gd name="T8" fmla="*/ 160 w 512"/>
              <a:gd name="T9" fmla="*/ 248 h 512"/>
              <a:gd name="T10" fmla="*/ 160 w 512"/>
              <a:gd name="T11" fmla="*/ 134 h 512"/>
              <a:gd name="T12" fmla="*/ 248 w 512"/>
              <a:gd name="T13" fmla="*/ 135 h 512"/>
              <a:gd name="T14" fmla="*/ 352 w 512"/>
              <a:gd name="T15" fmla="*/ 146 h 512"/>
              <a:gd name="T16" fmla="*/ 512 w 512"/>
              <a:gd name="T17" fmla="*/ 256 h 512"/>
              <a:gd name="T18" fmla="*/ 256 w 512"/>
              <a:gd name="T19" fmla="*/ 512 h 512"/>
              <a:gd name="T20" fmla="*/ 0 w 512"/>
              <a:gd name="T21" fmla="*/ 256 h 512"/>
              <a:gd name="T22" fmla="*/ 256 w 512"/>
              <a:gd name="T23" fmla="*/ 0 h 512"/>
              <a:gd name="T24" fmla="*/ 512 w 512"/>
              <a:gd name="T25" fmla="*/ 256 h 512"/>
              <a:gd name="T26" fmla="*/ 373 w 512"/>
              <a:gd name="T27" fmla="*/ 128 h 512"/>
              <a:gd name="T28" fmla="*/ 367 w 512"/>
              <a:gd name="T29" fmla="*/ 118 h 512"/>
              <a:gd name="T30" fmla="*/ 356 w 512"/>
              <a:gd name="T31" fmla="*/ 119 h 512"/>
              <a:gd name="T32" fmla="*/ 263 w 512"/>
              <a:gd name="T33" fmla="*/ 120 h 512"/>
              <a:gd name="T34" fmla="*/ 143 w 512"/>
              <a:gd name="T35" fmla="*/ 119 h 512"/>
              <a:gd name="T36" fmla="*/ 138 w 512"/>
              <a:gd name="T37" fmla="*/ 128 h 512"/>
              <a:gd name="T38" fmla="*/ 138 w 512"/>
              <a:gd name="T39" fmla="*/ 384 h 512"/>
              <a:gd name="T40" fmla="*/ 149 w 512"/>
              <a:gd name="T41" fmla="*/ 394 h 512"/>
              <a:gd name="T42" fmla="*/ 160 w 512"/>
              <a:gd name="T43" fmla="*/ 384 h 512"/>
              <a:gd name="T44" fmla="*/ 160 w 512"/>
              <a:gd name="T45" fmla="*/ 272 h 512"/>
              <a:gd name="T46" fmla="*/ 248 w 512"/>
              <a:gd name="T47" fmla="*/ 274 h 512"/>
              <a:gd name="T48" fmla="*/ 368 w 512"/>
              <a:gd name="T49" fmla="*/ 275 h 512"/>
              <a:gd name="T50" fmla="*/ 373 w 512"/>
              <a:gd name="T51" fmla="*/ 266 h 512"/>
              <a:gd name="T52" fmla="*/ 373 w 512"/>
              <a:gd name="T53" fmla="*/ 128 h 5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512" h="512">
                <a:moveTo>
                  <a:pt x="352" y="146"/>
                </a:moveTo>
                <a:cubicBezTo>
                  <a:pt x="352" y="260"/>
                  <a:pt x="352" y="260"/>
                  <a:pt x="352" y="260"/>
                </a:cubicBezTo>
                <a:cubicBezTo>
                  <a:pt x="337" y="268"/>
                  <a:pt x="293" y="288"/>
                  <a:pt x="263" y="259"/>
                </a:cubicBezTo>
                <a:cubicBezTo>
                  <a:pt x="247" y="242"/>
                  <a:pt x="227" y="236"/>
                  <a:pt x="208" y="236"/>
                </a:cubicBezTo>
                <a:cubicBezTo>
                  <a:pt x="191" y="236"/>
                  <a:pt x="173" y="242"/>
                  <a:pt x="160" y="248"/>
                </a:cubicBezTo>
                <a:cubicBezTo>
                  <a:pt x="160" y="134"/>
                  <a:pt x="160" y="134"/>
                  <a:pt x="160" y="134"/>
                </a:cubicBezTo>
                <a:cubicBezTo>
                  <a:pt x="174" y="126"/>
                  <a:pt x="218" y="105"/>
                  <a:pt x="248" y="135"/>
                </a:cubicBezTo>
                <a:cubicBezTo>
                  <a:pt x="280" y="167"/>
                  <a:pt x="323" y="159"/>
                  <a:pt x="352" y="146"/>
                </a:cubicBezTo>
                <a:close/>
                <a:moveTo>
                  <a:pt x="512" y="256"/>
                </a:moveTo>
                <a:cubicBezTo>
                  <a:pt x="512" y="397"/>
                  <a:pt x="397" y="512"/>
                  <a:pt x="256" y="512"/>
                </a:cubicBezTo>
                <a:cubicBezTo>
                  <a:pt x="114" y="512"/>
                  <a:pt x="0" y="397"/>
                  <a:pt x="0" y="256"/>
                </a:cubicBezTo>
                <a:cubicBezTo>
                  <a:pt x="0" y="114"/>
                  <a:pt x="114" y="0"/>
                  <a:pt x="256" y="0"/>
                </a:cubicBezTo>
                <a:cubicBezTo>
                  <a:pt x="397" y="0"/>
                  <a:pt x="512" y="114"/>
                  <a:pt x="512" y="256"/>
                </a:cubicBezTo>
                <a:close/>
                <a:moveTo>
                  <a:pt x="373" y="128"/>
                </a:moveTo>
                <a:cubicBezTo>
                  <a:pt x="373" y="124"/>
                  <a:pt x="371" y="120"/>
                  <a:pt x="367" y="118"/>
                </a:cubicBezTo>
                <a:cubicBezTo>
                  <a:pt x="364" y="116"/>
                  <a:pt x="360" y="117"/>
                  <a:pt x="356" y="119"/>
                </a:cubicBezTo>
                <a:cubicBezTo>
                  <a:pt x="356" y="119"/>
                  <a:pt x="299" y="156"/>
                  <a:pt x="263" y="120"/>
                </a:cubicBezTo>
                <a:cubicBezTo>
                  <a:pt x="224" y="81"/>
                  <a:pt x="167" y="102"/>
                  <a:pt x="143" y="119"/>
                </a:cubicBezTo>
                <a:cubicBezTo>
                  <a:pt x="140" y="121"/>
                  <a:pt x="138" y="124"/>
                  <a:pt x="138" y="128"/>
                </a:cubicBezTo>
                <a:cubicBezTo>
                  <a:pt x="138" y="384"/>
                  <a:pt x="138" y="384"/>
                  <a:pt x="138" y="384"/>
                </a:cubicBezTo>
                <a:cubicBezTo>
                  <a:pt x="138" y="390"/>
                  <a:pt x="143" y="394"/>
                  <a:pt x="149" y="394"/>
                </a:cubicBezTo>
                <a:cubicBezTo>
                  <a:pt x="155" y="394"/>
                  <a:pt x="160" y="390"/>
                  <a:pt x="160" y="384"/>
                </a:cubicBezTo>
                <a:cubicBezTo>
                  <a:pt x="160" y="272"/>
                  <a:pt x="160" y="272"/>
                  <a:pt x="160" y="272"/>
                </a:cubicBezTo>
                <a:cubicBezTo>
                  <a:pt x="174" y="264"/>
                  <a:pt x="217" y="243"/>
                  <a:pt x="248" y="274"/>
                </a:cubicBezTo>
                <a:cubicBezTo>
                  <a:pt x="286" y="312"/>
                  <a:pt x="343" y="292"/>
                  <a:pt x="368" y="275"/>
                </a:cubicBezTo>
                <a:cubicBezTo>
                  <a:pt x="371" y="273"/>
                  <a:pt x="373" y="270"/>
                  <a:pt x="373" y="266"/>
                </a:cubicBezTo>
                <a:lnTo>
                  <a:pt x="373" y="128"/>
                </a:lnTo>
                <a:close/>
              </a:path>
            </a:pathLst>
          </a:custGeom>
          <a:solidFill>
            <a:srgbClr val="FFC000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/>
          </a:p>
        </p:txBody>
      </p:sp>
      <p:sp>
        <p:nvSpPr>
          <p:cNvPr id="20" name="Freeform 858"/>
          <p:cNvSpPr>
            <a:spLocks noChangeAspect="1" noEditPoints="1"/>
          </p:cNvSpPr>
          <p:nvPr/>
        </p:nvSpPr>
        <p:spPr bwMode="auto">
          <a:xfrm>
            <a:off x="608532" y="3462840"/>
            <a:ext cx="233403" cy="233403"/>
          </a:xfrm>
          <a:custGeom>
            <a:avLst/>
            <a:gdLst>
              <a:gd name="T0" fmla="*/ 352 w 512"/>
              <a:gd name="T1" fmla="*/ 146 h 512"/>
              <a:gd name="T2" fmla="*/ 352 w 512"/>
              <a:gd name="T3" fmla="*/ 260 h 512"/>
              <a:gd name="T4" fmla="*/ 263 w 512"/>
              <a:gd name="T5" fmla="*/ 259 h 512"/>
              <a:gd name="T6" fmla="*/ 208 w 512"/>
              <a:gd name="T7" fmla="*/ 236 h 512"/>
              <a:gd name="T8" fmla="*/ 160 w 512"/>
              <a:gd name="T9" fmla="*/ 248 h 512"/>
              <a:gd name="T10" fmla="*/ 160 w 512"/>
              <a:gd name="T11" fmla="*/ 134 h 512"/>
              <a:gd name="T12" fmla="*/ 248 w 512"/>
              <a:gd name="T13" fmla="*/ 135 h 512"/>
              <a:gd name="T14" fmla="*/ 352 w 512"/>
              <a:gd name="T15" fmla="*/ 146 h 512"/>
              <a:gd name="T16" fmla="*/ 512 w 512"/>
              <a:gd name="T17" fmla="*/ 256 h 512"/>
              <a:gd name="T18" fmla="*/ 256 w 512"/>
              <a:gd name="T19" fmla="*/ 512 h 512"/>
              <a:gd name="T20" fmla="*/ 0 w 512"/>
              <a:gd name="T21" fmla="*/ 256 h 512"/>
              <a:gd name="T22" fmla="*/ 256 w 512"/>
              <a:gd name="T23" fmla="*/ 0 h 512"/>
              <a:gd name="T24" fmla="*/ 512 w 512"/>
              <a:gd name="T25" fmla="*/ 256 h 512"/>
              <a:gd name="T26" fmla="*/ 373 w 512"/>
              <a:gd name="T27" fmla="*/ 128 h 512"/>
              <a:gd name="T28" fmla="*/ 367 w 512"/>
              <a:gd name="T29" fmla="*/ 118 h 512"/>
              <a:gd name="T30" fmla="*/ 356 w 512"/>
              <a:gd name="T31" fmla="*/ 119 h 512"/>
              <a:gd name="T32" fmla="*/ 263 w 512"/>
              <a:gd name="T33" fmla="*/ 120 h 512"/>
              <a:gd name="T34" fmla="*/ 143 w 512"/>
              <a:gd name="T35" fmla="*/ 119 h 512"/>
              <a:gd name="T36" fmla="*/ 138 w 512"/>
              <a:gd name="T37" fmla="*/ 128 h 512"/>
              <a:gd name="T38" fmla="*/ 138 w 512"/>
              <a:gd name="T39" fmla="*/ 384 h 512"/>
              <a:gd name="T40" fmla="*/ 149 w 512"/>
              <a:gd name="T41" fmla="*/ 394 h 512"/>
              <a:gd name="T42" fmla="*/ 160 w 512"/>
              <a:gd name="T43" fmla="*/ 384 h 512"/>
              <a:gd name="T44" fmla="*/ 160 w 512"/>
              <a:gd name="T45" fmla="*/ 272 h 512"/>
              <a:gd name="T46" fmla="*/ 248 w 512"/>
              <a:gd name="T47" fmla="*/ 274 h 512"/>
              <a:gd name="T48" fmla="*/ 368 w 512"/>
              <a:gd name="T49" fmla="*/ 275 h 512"/>
              <a:gd name="T50" fmla="*/ 373 w 512"/>
              <a:gd name="T51" fmla="*/ 266 h 512"/>
              <a:gd name="T52" fmla="*/ 373 w 512"/>
              <a:gd name="T53" fmla="*/ 128 h 5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512" h="512">
                <a:moveTo>
                  <a:pt x="352" y="146"/>
                </a:moveTo>
                <a:cubicBezTo>
                  <a:pt x="352" y="260"/>
                  <a:pt x="352" y="260"/>
                  <a:pt x="352" y="260"/>
                </a:cubicBezTo>
                <a:cubicBezTo>
                  <a:pt x="337" y="268"/>
                  <a:pt x="293" y="288"/>
                  <a:pt x="263" y="259"/>
                </a:cubicBezTo>
                <a:cubicBezTo>
                  <a:pt x="247" y="242"/>
                  <a:pt x="227" y="236"/>
                  <a:pt x="208" y="236"/>
                </a:cubicBezTo>
                <a:cubicBezTo>
                  <a:pt x="191" y="236"/>
                  <a:pt x="173" y="242"/>
                  <a:pt x="160" y="248"/>
                </a:cubicBezTo>
                <a:cubicBezTo>
                  <a:pt x="160" y="134"/>
                  <a:pt x="160" y="134"/>
                  <a:pt x="160" y="134"/>
                </a:cubicBezTo>
                <a:cubicBezTo>
                  <a:pt x="174" y="126"/>
                  <a:pt x="218" y="105"/>
                  <a:pt x="248" y="135"/>
                </a:cubicBezTo>
                <a:cubicBezTo>
                  <a:pt x="280" y="167"/>
                  <a:pt x="323" y="159"/>
                  <a:pt x="352" y="146"/>
                </a:cubicBezTo>
                <a:close/>
                <a:moveTo>
                  <a:pt x="512" y="256"/>
                </a:moveTo>
                <a:cubicBezTo>
                  <a:pt x="512" y="397"/>
                  <a:pt x="397" y="512"/>
                  <a:pt x="256" y="512"/>
                </a:cubicBezTo>
                <a:cubicBezTo>
                  <a:pt x="114" y="512"/>
                  <a:pt x="0" y="397"/>
                  <a:pt x="0" y="256"/>
                </a:cubicBezTo>
                <a:cubicBezTo>
                  <a:pt x="0" y="114"/>
                  <a:pt x="114" y="0"/>
                  <a:pt x="256" y="0"/>
                </a:cubicBezTo>
                <a:cubicBezTo>
                  <a:pt x="397" y="0"/>
                  <a:pt x="512" y="114"/>
                  <a:pt x="512" y="256"/>
                </a:cubicBezTo>
                <a:close/>
                <a:moveTo>
                  <a:pt x="373" y="128"/>
                </a:moveTo>
                <a:cubicBezTo>
                  <a:pt x="373" y="124"/>
                  <a:pt x="371" y="120"/>
                  <a:pt x="367" y="118"/>
                </a:cubicBezTo>
                <a:cubicBezTo>
                  <a:pt x="364" y="116"/>
                  <a:pt x="360" y="117"/>
                  <a:pt x="356" y="119"/>
                </a:cubicBezTo>
                <a:cubicBezTo>
                  <a:pt x="356" y="119"/>
                  <a:pt x="299" y="156"/>
                  <a:pt x="263" y="120"/>
                </a:cubicBezTo>
                <a:cubicBezTo>
                  <a:pt x="224" y="81"/>
                  <a:pt x="167" y="102"/>
                  <a:pt x="143" y="119"/>
                </a:cubicBezTo>
                <a:cubicBezTo>
                  <a:pt x="140" y="121"/>
                  <a:pt x="138" y="124"/>
                  <a:pt x="138" y="128"/>
                </a:cubicBezTo>
                <a:cubicBezTo>
                  <a:pt x="138" y="384"/>
                  <a:pt x="138" y="384"/>
                  <a:pt x="138" y="384"/>
                </a:cubicBezTo>
                <a:cubicBezTo>
                  <a:pt x="138" y="390"/>
                  <a:pt x="143" y="394"/>
                  <a:pt x="149" y="394"/>
                </a:cubicBezTo>
                <a:cubicBezTo>
                  <a:pt x="155" y="394"/>
                  <a:pt x="160" y="390"/>
                  <a:pt x="160" y="384"/>
                </a:cubicBezTo>
                <a:cubicBezTo>
                  <a:pt x="160" y="272"/>
                  <a:pt x="160" y="272"/>
                  <a:pt x="160" y="272"/>
                </a:cubicBezTo>
                <a:cubicBezTo>
                  <a:pt x="174" y="264"/>
                  <a:pt x="217" y="243"/>
                  <a:pt x="248" y="274"/>
                </a:cubicBezTo>
                <a:cubicBezTo>
                  <a:pt x="286" y="312"/>
                  <a:pt x="343" y="292"/>
                  <a:pt x="368" y="275"/>
                </a:cubicBezTo>
                <a:cubicBezTo>
                  <a:pt x="371" y="273"/>
                  <a:pt x="373" y="270"/>
                  <a:pt x="373" y="266"/>
                </a:cubicBezTo>
                <a:lnTo>
                  <a:pt x="373" y="128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588095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9575545"/>
              </p:ext>
            </p:extLst>
          </p:nvPr>
        </p:nvGraphicFramePr>
        <p:xfrm>
          <a:off x="514549" y="3564419"/>
          <a:ext cx="7886697" cy="1621664"/>
        </p:xfrm>
        <a:graphic>
          <a:graphicData uri="http://schemas.openxmlformats.org/drawingml/2006/table">
            <a:tbl>
              <a:tblPr/>
              <a:tblGrid>
                <a:gridCol w="10613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84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664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91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5224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5224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20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5224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5224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52241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52241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146796">
                <a:tc>
                  <a:txBody>
                    <a:bodyPr/>
                    <a:lstStyle/>
                    <a:p>
                      <a:pPr algn="l" fontAlgn="b"/>
                      <a:endParaRPr lang="fr-FR" sz="700" b="0" i="0" u="none" strike="noStrike" dirty="0">
                        <a:solidFill>
                          <a:srgbClr val="000000"/>
                        </a:solidFill>
                        <a:effectLst/>
                        <a:latin typeface="EYInterstate" panose="02000503020000020004" pitchFamily="2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EYInterstate" panose="02000503020000020004" pitchFamily="2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EYInterstate" panose="02000503020000020004" pitchFamily="2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EYInterstate" panose="02000503020000020004" pitchFamily="2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fr-F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EYInterstate" panose="02000503020000020004" pitchFamily="2" charset="0"/>
                        </a:rPr>
                        <a:t>BS (M€)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EYInterstate" panose="02000503020000020004" pitchFamily="2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EYInterstate" panose="02000503020000020004" pitchFamily="2" charset="0"/>
                        </a:rPr>
                        <a:t>P&amp;L (M€)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fr-FR" sz="700" b="0" i="0" u="none" strike="noStrike" dirty="0">
                        <a:solidFill>
                          <a:srgbClr val="000000"/>
                        </a:solidFill>
                        <a:effectLst/>
                        <a:latin typeface="EYInterstate" panose="02000503020000020004" pitchFamily="2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fontAlgn="b"/>
                      <a:r>
                        <a:rPr lang="fr-FR" sz="7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EYInterstate" panose="02000503020000020004" pitchFamily="2" charset="0"/>
                          <a:ea typeface="+mn-ea"/>
                          <a:cs typeface="+mn-cs"/>
                        </a:rPr>
                        <a:t>Page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6796">
                <a:tc>
                  <a:txBody>
                    <a:bodyPr/>
                    <a:lstStyle/>
                    <a:p>
                      <a:pPr algn="l" fontAlgn="b"/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EYInterstate" panose="02000503020000020004" pitchFamily="2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EYInterstate" panose="02000503020000020004" pitchFamily="2" charset="0"/>
                        </a:rPr>
                        <a:t>Metis account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EYInterstate" panose="02000503020000020004" pitchFamily="2" charset="0"/>
                        </a:rPr>
                        <a:t>Account name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EYInterstate" panose="02000503020000020004" pitchFamily="2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EYInterstate" panose="02000503020000020004" pitchFamily="2" charset="0"/>
                        </a:rPr>
                        <a:t>Debit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EYInterstate" panose="02000503020000020004" pitchFamily="2" charset="0"/>
                        </a:rPr>
                        <a:t>Credit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EYInterstate" panose="02000503020000020004" pitchFamily="2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EYInterstate" panose="02000503020000020004" pitchFamily="2" charset="0"/>
                        </a:rPr>
                        <a:t>Debit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EYInterstate" panose="02000503020000020004" pitchFamily="2" charset="0"/>
                        </a:rPr>
                        <a:t>Credit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EYInterstate" panose="02000503020000020004" pitchFamily="2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vMerge="1">
                  <a:txBody>
                    <a:bodyPr/>
                    <a:lstStyle/>
                    <a:p>
                      <a:pPr algn="l" fontAlgn="b"/>
                      <a:endParaRPr lang="fr-FR" sz="700" b="0" i="0" u="none" strike="noStrike" dirty="0">
                        <a:solidFill>
                          <a:srgbClr val="000000"/>
                        </a:solidFill>
                        <a:effectLst/>
                        <a:latin typeface="EYInterstate" panose="02000503020000020004" pitchFamily="2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8161">
                <a:tc>
                  <a:txBody>
                    <a:bodyPr/>
                    <a:lstStyle/>
                    <a:p>
                      <a:pPr algn="l" fontAlgn="b"/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EYInterstate" panose="02000503020000020004" pitchFamily="2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EYInterstate" panose="02000503020000020004" pitchFamily="2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FR" sz="700" b="0" i="0" u="none" strike="noStrike" dirty="0">
                        <a:solidFill>
                          <a:srgbClr val="000000"/>
                        </a:solidFill>
                        <a:effectLst/>
                        <a:latin typeface="EYInterstate" panose="02000503020000020004" pitchFamily="2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EYInterstate" panose="02000503020000020004" pitchFamily="2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5">
                  <a:txBody>
                    <a:bodyPr/>
                    <a:lstStyle/>
                    <a:p>
                      <a:pPr algn="ctr" fontAlgn="b"/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EYInterstate" panose="02000503020000020004" pitchFamily="2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EYInterstate" panose="02000503020000020004" pitchFamily="2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EYInterstate" panose="02000503020000020004" pitchFamily="2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0529">
                <a:tc>
                  <a:txBody>
                    <a:bodyPr/>
                    <a:lstStyle/>
                    <a:p>
                      <a:pPr algn="l" fontAlgn="b"/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EYInterstate" panose="02000503020000020004" pitchFamily="2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EYInterstate" panose="02000503020000020004" pitchFamily="2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EYInterstate" panose="02000503020000020004" pitchFamily="2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EYInterstate" panose="02000503020000020004" pitchFamily="2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EYInterstate" panose="02000503020000020004" pitchFamily="2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EYInterstate" panose="02000503020000020004" pitchFamily="2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EYInterstate" panose="02000503020000020004" pitchFamily="2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EYInterstate" panose="02000503020000020004" pitchFamily="2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EYInterstate" panose="02000503020000020004" pitchFamily="2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EYInterstate" panose="02000503020000020004" pitchFamily="2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EYInterstate" panose="02000503020000020004" pitchFamily="2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6796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EYInterstate" panose="02000503020000020004" pitchFamily="2" charset="0"/>
                        </a:rPr>
                        <a:t>Adjustment Name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EYInterstate" panose="02000503020000020004" pitchFamily="2" charset="0"/>
                        </a:rPr>
                        <a:t>Axxx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EYInterstate" panose="02000503020000020004" pitchFamily="2" charset="0"/>
                        </a:rPr>
                        <a:t>Xxxxx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EYInterstate" panose="02000503020000020004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EYInterstate" panose="02000503020000020004" pitchFamily="2" charset="0"/>
                        </a:rPr>
                        <a:t>XX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EYInterstate" panose="02000503020000020004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EYInterstate" panose="02000503020000020004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EYInterstate" panose="02000503020000020004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EYInterstate" panose="02000503020000020004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EYInterstate" panose="02000503020000020004" pitchFamily="2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endParaRPr lang="fr-FR" sz="700" b="0" i="0" u="none" strike="noStrike" dirty="0">
                        <a:solidFill>
                          <a:srgbClr val="000000"/>
                        </a:solidFill>
                        <a:effectLst/>
                        <a:latin typeface="EYInterstate" panose="02000503020000020004" pitchFamily="2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46796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EYInterstate" panose="02000503020000020004" pitchFamily="2" charset="0"/>
                        </a:rPr>
                        <a:t>Byyy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EYInterstate" panose="02000503020000020004" pitchFamily="2" charset="0"/>
                        </a:rPr>
                        <a:t>Yyyyy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EYInterstate" panose="02000503020000020004" pitchFamily="2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EYInterstate" panose="02000503020000020004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EYInterstate" panose="02000503020000020004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EYInterstate" panose="02000503020000020004" pitchFamily="2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EYInterstate" panose="02000503020000020004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EYInterstate" panose="02000503020000020004" pitchFamily="2" charset="0"/>
                        </a:rPr>
                        <a:t>XX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EYInterstate" panose="02000503020000020004" pitchFamily="2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46796">
                <a:tc>
                  <a:txBody>
                    <a:bodyPr/>
                    <a:lstStyle/>
                    <a:p>
                      <a:pPr algn="l" fontAlgn="ctr"/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EYInterstate" panose="02000503020000020004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EYInterstate" panose="02000503020000020004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EYInterstate" panose="02000503020000020004" pitchFamily="2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EYInterstate" panose="02000503020000020004" pitchFamily="2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EYInterstate" panose="02000503020000020004" pitchFamily="2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EYInterstate" panose="02000503020000020004" pitchFamily="2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EYInterstate" panose="02000503020000020004" pitchFamily="2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EYInterstate" panose="02000503020000020004" pitchFamily="2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EYInterstate" panose="02000503020000020004" pitchFamily="2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EYInterstate" panose="02000503020000020004" pitchFamily="2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EYInterstate" panose="02000503020000020004" pitchFamily="2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46796">
                <a:tc>
                  <a:txBody>
                    <a:bodyPr/>
                    <a:lstStyle/>
                    <a:p>
                      <a:pPr algn="l" fontAlgn="ctr"/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EYInterstate" panose="02000503020000020004" pitchFamily="2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EYInterstate" panose="02000503020000020004" pitchFamily="2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EYInterstate" panose="02000503020000020004" pitchFamily="2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EYInterstate" panose="02000503020000020004" pitchFamily="2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EYInterstate" panose="02000503020000020004" pitchFamily="2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EYInterstate" panose="02000503020000020004" pitchFamily="2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EYInterstate" panose="02000503020000020004" pitchFamily="2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EYInterstate" panose="02000503020000020004" pitchFamily="2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EYInterstate" panose="02000503020000020004" pitchFamily="2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EYInterstate" panose="02000503020000020004" pitchFamily="2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EYInterstate" panose="02000503020000020004" pitchFamily="2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64066">
                <a:tc>
                  <a:txBody>
                    <a:bodyPr/>
                    <a:lstStyle/>
                    <a:p>
                      <a:pPr algn="l" fontAlgn="ctr"/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EYInterstate" panose="02000503020000020004" pitchFamily="2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EYInterstate" panose="02000503020000020004" pitchFamily="2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EYInterstate" panose="02000503020000020004" pitchFamily="2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EYInterstate" panose="02000503020000020004" pitchFamily="2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EYInterstate" panose="02000503020000020004" pitchFamily="2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2">
                  <a:txBody>
                    <a:bodyPr/>
                    <a:lstStyle/>
                    <a:p>
                      <a:pPr algn="l" fontAlgn="ctr"/>
                      <a:r>
                        <a:rPr lang="fr-FR" sz="700" b="1" i="0" u="none" strike="noStrike">
                          <a:solidFill>
                            <a:srgbClr val="000000"/>
                          </a:solidFill>
                          <a:effectLst/>
                          <a:latin typeface="EYInterstate" panose="02000503020000020004" pitchFamily="2" charset="0"/>
                        </a:rPr>
                        <a:t>P&amp;L impact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fr-FR" sz="700" b="0" i="0" u="none" strike="noStrike" dirty="0">
                        <a:solidFill>
                          <a:srgbClr val="000000"/>
                        </a:solidFill>
                        <a:effectLst/>
                        <a:latin typeface="EYInterstate" panose="02000503020000020004" pitchFamily="2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EYInterstate" panose="02000503020000020004" pitchFamily="2" charset="0"/>
                        </a:rPr>
                        <a:t>XX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EYInterstate" panose="02000503020000020004" pitchFamily="2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EYInterstate" panose="02000503020000020004" pitchFamily="2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64066">
                <a:tc>
                  <a:txBody>
                    <a:bodyPr/>
                    <a:lstStyle/>
                    <a:p>
                      <a:pPr algn="l" fontAlgn="ctr"/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EYInterstate" panose="02000503020000020004" pitchFamily="2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EYInterstate" panose="02000503020000020004" pitchFamily="2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EYInterstate" panose="02000503020000020004" pitchFamily="2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EYInterstate" panose="02000503020000020004" pitchFamily="2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EYInterstate" panose="02000503020000020004" pitchFamily="2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700" b="1" i="0" u="none" strike="noStrike">
                          <a:solidFill>
                            <a:srgbClr val="000000"/>
                          </a:solidFill>
                          <a:effectLst/>
                          <a:latin typeface="EYInterstate" panose="02000503020000020004" pitchFamily="2" charset="0"/>
                        </a:rPr>
                        <a:t>Tax effect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EYInterstate" panose="02000503020000020004" pitchFamily="2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EYInterstate" panose="02000503020000020004" pitchFamily="2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EYInterstate" panose="02000503020000020004" pitchFamily="2" charset="0"/>
                        </a:rPr>
                        <a:t>YY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EYInterstate" panose="02000503020000020004" pitchFamily="2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EYInterstate" panose="02000503020000020004" pitchFamily="2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64066">
                <a:tc>
                  <a:txBody>
                    <a:bodyPr/>
                    <a:lstStyle/>
                    <a:p>
                      <a:pPr algn="l" fontAlgn="ctr"/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EYInterstate" panose="02000503020000020004" pitchFamily="2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fr-FR" sz="700" b="0" i="0" u="none" strike="noStrike" dirty="0">
                        <a:solidFill>
                          <a:srgbClr val="000000"/>
                        </a:solidFill>
                        <a:effectLst/>
                        <a:latin typeface="EYInterstate" panose="02000503020000020004" pitchFamily="2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EYInterstate" panose="02000503020000020004" pitchFamily="2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EYInterstate" panose="02000503020000020004" pitchFamily="2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EYInterstate" panose="02000503020000020004" pitchFamily="2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>
                  <a:txBody>
                    <a:bodyPr/>
                    <a:lstStyle/>
                    <a:p>
                      <a:pPr algn="l" fontAlgn="ctr"/>
                      <a:r>
                        <a:rPr lang="fr-FR" sz="700" b="1" i="0" u="none" strike="noStrike">
                          <a:solidFill>
                            <a:srgbClr val="000000"/>
                          </a:solidFill>
                          <a:effectLst/>
                          <a:latin typeface="EYInterstate" panose="02000503020000020004" pitchFamily="2" charset="0"/>
                        </a:rPr>
                        <a:t>Net result impact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700" b="0" i="0" u="none" strike="noStrike">
                          <a:solidFill>
                            <a:srgbClr val="000000"/>
                          </a:solidFill>
                          <a:effectLst/>
                          <a:latin typeface="EYInterstate" panose="02000503020000020004" pitchFamily="2" charset="0"/>
                        </a:rPr>
                        <a:t>ZZ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EYInterstate" panose="02000503020000020004" pitchFamily="2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fr-FR" sz="700" b="0" i="0" u="none" strike="noStrike" dirty="0">
                        <a:solidFill>
                          <a:srgbClr val="000000"/>
                        </a:solidFill>
                        <a:effectLst/>
                        <a:latin typeface="EYInterstate" panose="02000503020000020004" pitchFamily="2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2" name="Titre 1"/>
          <p:cNvSpPr txBox="1">
            <a:spLocks/>
          </p:cNvSpPr>
          <p:nvPr/>
        </p:nvSpPr>
        <p:spPr>
          <a:xfrm>
            <a:off x="323528" y="50376"/>
            <a:ext cx="8381710" cy="850106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700" b="1" dirty="0">
                <a:solidFill>
                  <a:prstClr val="black"/>
                </a:solidFill>
              </a:rPr>
              <a:t>Conclusions</a:t>
            </a:r>
          </a:p>
        </p:txBody>
      </p:sp>
      <p:sp>
        <p:nvSpPr>
          <p:cNvPr id="6" name="Pentagon 5"/>
          <p:cNvSpPr/>
          <p:nvPr/>
        </p:nvSpPr>
        <p:spPr>
          <a:xfrm>
            <a:off x="3723814" y="132929"/>
            <a:ext cx="1386001" cy="516535"/>
          </a:xfrm>
          <a:prstGeom prst="homePlate">
            <a:avLst/>
          </a:prstGeom>
          <a:solidFill>
            <a:schemeClr val="bg1">
              <a:lumMod val="85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88900" rIns="88900" bIns="88900" rtlCol="0" anchor="ctr"/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Context</a:t>
            </a:r>
          </a:p>
        </p:txBody>
      </p:sp>
      <p:sp>
        <p:nvSpPr>
          <p:cNvPr id="7" name="Chevron 6"/>
          <p:cNvSpPr/>
          <p:nvPr/>
        </p:nvSpPr>
        <p:spPr>
          <a:xfrm>
            <a:off x="4930617" y="132929"/>
            <a:ext cx="1386001" cy="516535"/>
          </a:xfrm>
          <a:prstGeom prst="chevron">
            <a:avLst/>
          </a:prstGeom>
          <a:solidFill>
            <a:schemeClr val="bg1">
              <a:lumMod val="85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88900" rIns="0" bIns="88900" rtlCol="0" anchor="ctr"/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Audit approach</a:t>
            </a:r>
          </a:p>
        </p:txBody>
      </p:sp>
      <p:sp>
        <p:nvSpPr>
          <p:cNvPr id="8" name="Chevron 7"/>
          <p:cNvSpPr/>
          <p:nvPr/>
        </p:nvSpPr>
        <p:spPr>
          <a:xfrm>
            <a:off x="6126958" y="132929"/>
            <a:ext cx="1386001" cy="516535"/>
          </a:xfrm>
          <a:prstGeom prst="chevron">
            <a:avLst/>
          </a:prstGeom>
          <a:solidFill>
            <a:srgbClr val="223F87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88900" rIns="0" bIns="88900" rtlCol="0" anchor="ctr"/>
          <a:lstStyle/>
          <a:p>
            <a:pPr algn="ctr"/>
            <a:r>
              <a:rPr lang="en-US" sz="1200" b="1" dirty="0">
                <a:solidFill>
                  <a:schemeClr val="bg1"/>
                </a:solidFill>
              </a:rPr>
              <a:t>Conclusion</a:t>
            </a:r>
          </a:p>
        </p:txBody>
      </p:sp>
      <p:sp>
        <p:nvSpPr>
          <p:cNvPr id="9" name="Chevron 8"/>
          <p:cNvSpPr/>
          <p:nvPr/>
        </p:nvSpPr>
        <p:spPr>
          <a:xfrm>
            <a:off x="7319236" y="132929"/>
            <a:ext cx="1386001" cy="516535"/>
          </a:xfrm>
          <a:prstGeom prst="chevron">
            <a:avLst/>
          </a:prstGeom>
          <a:solidFill>
            <a:schemeClr val="bg1">
              <a:lumMod val="85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88900" rIns="0" bIns="88900" rtlCol="0" anchor="ctr"/>
          <a:lstStyle/>
          <a:p>
            <a:r>
              <a:rPr lang="en-US" sz="1200" dirty="0">
                <a:solidFill>
                  <a:schemeClr val="bg1"/>
                </a:solidFill>
              </a:rPr>
              <a:t>Appendices</a:t>
            </a:r>
          </a:p>
        </p:txBody>
      </p:sp>
      <p:sp>
        <p:nvSpPr>
          <p:cNvPr id="13" name="Espace réservé du contenu 2"/>
          <p:cNvSpPr txBox="1">
            <a:spLocks/>
          </p:cNvSpPr>
          <p:nvPr/>
        </p:nvSpPr>
        <p:spPr>
          <a:xfrm>
            <a:off x="397955" y="1257299"/>
            <a:ext cx="8307281" cy="412745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n-US" sz="1600" b="1" dirty="0">
                <a:solidFill>
                  <a:srgbClr val="223F87"/>
                </a:solidFill>
                <a:latin typeface="+mj-lt"/>
              </a:rPr>
              <a:t>Outstanding items</a:t>
            </a:r>
          </a:p>
          <a:p>
            <a:pPr marL="0" indent="0" algn="just">
              <a:buNone/>
            </a:pPr>
            <a:endParaRPr lang="en-US" sz="1050" b="1" u="sng" dirty="0">
              <a:latin typeface="EYInterstate Light" panose="02000506000000020004" pitchFamily="2" charset="0"/>
            </a:endParaRPr>
          </a:p>
          <a:p>
            <a:pPr marL="0" indent="0" algn="just">
              <a:buNone/>
            </a:pPr>
            <a:endParaRPr lang="en-US" sz="1050" dirty="0">
              <a:latin typeface="EYInterstate Light" panose="02000506000000020004" pitchFamily="2" charset="0"/>
            </a:endParaRPr>
          </a:p>
          <a:p>
            <a:pPr marL="0" indent="0" algn="just">
              <a:buNone/>
            </a:pPr>
            <a:endParaRPr lang="en-US" sz="1050" dirty="0">
              <a:latin typeface="EYInterstate Light" panose="02000506000000020004" pitchFamily="2" charset="0"/>
            </a:endParaRPr>
          </a:p>
          <a:p>
            <a:pPr marL="0" indent="0" algn="just">
              <a:buNone/>
            </a:pPr>
            <a:endParaRPr lang="en-US" sz="1050" dirty="0">
              <a:latin typeface="EYInterstate Light" panose="02000506000000020004" pitchFamily="2" charset="0"/>
            </a:endParaRPr>
          </a:p>
          <a:p>
            <a:pPr marL="0" indent="0" algn="just">
              <a:buNone/>
            </a:pPr>
            <a:endParaRPr lang="en-US" sz="1400" dirty="0">
              <a:solidFill>
                <a:srgbClr val="FF0000"/>
              </a:solidFill>
              <a:latin typeface="EYInterstate Light" panose="02000506000000020004" pitchFamily="2" charset="0"/>
            </a:endParaRPr>
          </a:p>
          <a:p>
            <a:pPr marL="0" indent="0" algn="just">
              <a:buNone/>
            </a:pPr>
            <a:endParaRPr lang="en-US" sz="1400" dirty="0">
              <a:solidFill>
                <a:srgbClr val="FF0000"/>
              </a:solidFill>
              <a:latin typeface="EYInterstate Light" panose="02000506000000020004" pitchFamily="2" charset="0"/>
            </a:endParaRPr>
          </a:p>
          <a:p>
            <a:pPr marL="0" indent="0" algn="just">
              <a:buNone/>
            </a:pPr>
            <a:endParaRPr lang="en-US" sz="1400" dirty="0">
              <a:solidFill>
                <a:srgbClr val="FF0000"/>
              </a:solidFill>
              <a:latin typeface="EYInterstate Light" panose="02000506000000020004" pitchFamily="2" charset="0"/>
            </a:endParaRPr>
          </a:p>
          <a:p>
            <a:pPr marL="0" indent="0" algn="just">
              <a:buNone/>
            </a:pPr>
            <a:endParaRPr lang="en-US" sz="1400" dirty="0">
              <a:solidFill>
                <a:srgbClr val="FF0000"/>
              </a:solidFill>
              <a:latin typeface="EYInterstate Light" panose="02000506000000020004" pitchFamily="2" charset="0"/>
            </a:endParaRPr>
          </a:p>
          <a:p>
            <a:pPr algn="just"/>
            <a:endParaRPr lang="en-US" sz="1400" dirty="0">
              <a:solidFill>
                <a:srgbClr val="FF0000"/>
              </a:solidFill>
              <a:latin typeface="EYInterstate Light" panose="02000506000000020004" pitchFamily="2" charset="0"/>
            </a:endParaRPr>
          </a:p>
          <a:p>
            <a:pPr algn="just"/>
            <a:endParaRPr lang="en-US" sz="1400" dirty="0">
              <a:latin typeface="EYInterstate Light" panose="02000506000000020004" pitchFamily="2" charset="0"/>
            </a:endParaRPr>
          </a:p>
          <a:p>
            <a:pPr marL="0" indent="0" algn="just">
              <a:buNone/>
            </a:pPr>
            <a:endParaRPr lang="en-US" sz="1400" dirty="0">
              <a:latin typeface="EYInterstate Light" panose="02000506000000020004" pitchFamily="2" charset="0"/>
            </a:endParaRPr>
          </a:p>
        </p:txBody>
      </p:sp>
      <p:cxnSp>
        <p:nvCxnSpPr>
          <p:cNvPr id="14" name="Connecteur droit 13"/>
          <p:cNvCxnSpPr/>
          <p:nvPr/>
        </p:nvCxnSpPr>
        <p:spPr>
          <a:xfrm>
            <a:off x="488891" y="1592277"/>
            <a:ext cx="8172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488891" y="1763159"/>
            <a:ext cx="8183302" cy="871008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spAutoFit/>
          </a:bodyPr>
          <a:lstStyle/>
          <a:p>
            <a:pPr marL="381000" indent="-381000">
              <a:spcBef>
                <a:spcPct val="20000"/>
              </a:spcBef>
              <a:buSzPct val="75000"/>
              <a:buFont typeface="Arial Narrow" pitchFamily="34" charset="0"/>
              <a:buChar char="►"/>
            </a:pPr>
            <a:r>
              <a:rPr lang="fr-FR" sz="1100" dirty="0"/>
              <a:t>XX</a:t>
            </a:r>
          </a:p>
          <a:p>
            <a:pPr marL="381000" indent="-381000">
              <a:spcBef>
                <a:spcPct val="20000"/>
              </a:spcBef>
              <a:buClr>
                <a:schemeClr val="accent1"/>
              </a:buClr>
              <a:buSzPct val="75000"/>
              <a:buFont typeface="Arial Narrow" pitchFamily="34" charset="0"/>
              <a:buChar char="►"/>
            </a:pPr>
            <a:endParaRPr lang="fr-FR" sz="1100" dirty="0"/>
          </a:p>
          <a:p>
            <a:pPr marL="381000" indent="-381000">
              <a:spcBef>
                <a:spcPct val="20000"/>
              </a:spcBef>
              <a:buSzPct val="75000"/>
              <a:buFont typeface="Arial Narrow" pitchFamily="34" charset="0"/>
              <a:buChar char="►"/>
            </a:pPr>
            <a:r>
              <a:rPr lang="fr-FR" sz="1100" dirty="0"/>
              <a:t>XX</a:t>
            </a:r>
          </a:p>
          <a:p>
            <a:pPr>
              <a:spcBef>
                <a:spcPct val="20000"/>
              </a:spcBef>
              <a:buClr>
                <a:srgbClr val="FFD200"/>
              </a:buClr>
              <a:buSzPct val="75000"/>
            </a:pPr>
            <a:endParaRPr lang="fr-FR" sz="1100" b="1" u="sng" dirty="0">
              <a:solidFill>
                <a:schemeClr val="bg2">
                  <a:lumMod val="50000"/>
                </a:schemeClr>
              </a:solidFill>
              <a:latin typeface="Calibri" panose="020F0502020204030204" pitchFamily="34" charset="0"/>
              <a:ea typeface="Verdana" panose="020B0604030504040204" pitchFamily="34" charset="0"/>
              <a:cs typeface="Calibri" panose="020F0502020204030204" pitchFamily="34" charset="0"/>
            </a:endParaRPr>
          </a:p>
        </p:txBody>
      </p:sp>
      <p:sp>
        <p:nvSpPr>
          <p:cNvPr id="16" name="Espace réservé du contenu 2"/>
          <p:cNvSpPr txBox="1">
            <a:spLocks/>
          </p:cNvSpPr>
          <p:nvPr/>
        </p:nvSpPr>
        <p:spPr>
          <a:xfrm>
            <a:off x="423613" y="2894462"/>
            <a:ext cx="8307281" cy="412745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n-US" sz="1600" b="1" dirty="0">
                <a:solidFill>
                  <a:srgbClr val="223F87"/>
                </a:solidFill>
                <a:latin typeface="+mj-lt"/>
              </a:rPr>
              <a:t>Summary of audit differences (adjustment, judgmental area)</a:t>
            </a:r>
          </a:p>
          <a:p>
            <a:pPr marL="0" indent="0" algn="just">
              <a:buNone/>
            </a:pPr>
            <a:endParaRPr lang="en-US" sz="1050" b="1" u="sng" dirty="0">
              <a:latin typeface="EYInterstate Light" panose="02000506000000020004" pitchFamily="2" charset="0"/>
            </a:endParaRPr>
          </a:p>
          <a:p>
            <a:pPr marL="0" indent="0" algn="just">
              <a:buNone/>
            </a:pPr>
            <a:endParaRPr lang="en-US" sz="1050" dirty="0">
              <a:latin typeface="EYInterstate Light" panose="02000506000000020004" pitchFamily="2" charset="0"/>
            </a:endParaRPr>
          </a:p>
          <a:p>
            <a:pPr marL="0" indent="0" algn="just">
              <a:buNone/>
            </a:pPr>
            <a:endParaRPr lang="en-US" sz="1050" dirty="0">
              <a:latin typeface="EYInterstate Light" panose="02000506000000020004" pitchFamily="2" charset="0"/>
            </a:endParaRPr>
          </a:p>
          <a:p>
            <a:pPr marL="0" indent="0" algn="just">
              <a:buNone/>
            </a:pPr>
            <a:endParaRPr lang="en-US" sz="1050" dirty="0">
              <a:latin typeface="EYInterstate Light" panose="02000506000000020004" pitchFamily="2" charset="0"/>
            </a:endParaRPr>
          </a:p>
          <a:p>
            <a:pPr marL="0" indent="0" algn="just">
              <a:buNone/>
            </a:pPr>
            <a:endParaRPr lang="en-US" sz="1400" dirty="0">
              <a:solidFill>
                <a:srgbClr val="FF0000"/>
              </a:solidFill>
              <a:latin typeface="EYInterstate Light" panose="02000506000000020004" pitchFamily="2" charset="0"/>
            </a:endParaRPr>
          </a:p>
          <a:p>
            <a:pPr marL="0" indent="0" algn="just">
              <a:buNone/>
            </a:pPr>
            <a:endParaRPr lang="en-US" sz="1400" dirty="0">
              <a:solidFill>
                <a:srgbClr val="FF0000"/>
              </a:solidFill>
              <a:latin typeface="EYInterstate Light" panose="02000506000000020004" pitchFamily="2" charset="0"/>
            </a:endParaRPr>
          </a:p>
          <a:p>
            <a:pPr marL="0" indent="0" algn="just">
              <a:buNone/>
            </a:pPr>
            <a:endParaRPr lang="en-US" sz="1400" dirty="0">
              <a:solidFill>
                <a:srgbClr val="FF0000"/>
              </a:solidFill>
              <a:latin typeface="EYInterstate Light" panose="02000506000000020004" pitchFamily="2" charset="0"/>
            </a:endParaRPr>
          </a:p>
          <a:p>
            <a:pPr marL="0" indent="0" algn="just">
              <a:buNone/>
            </a:pPr>
            <a:endParaRPr lang="en-US" sz="1400" dirty="0">
              <a:solidFill>
                <a:srgbClr val="FF0000"/>
              </a:solidFill>
              <a:latin typeface="EYInterstate Light" panose="02000506000000020004" pitchFamily="2" charset="0"/>
            </a:endParaRPr>
          </a:p>
          <a:p>
            <a:pPr algn="just"/>
            <a:endParaRPr lang="en-US" sz="1400" dirty="0">
              <a:solidFill>
                <a:srgbClr val="FF0000"/>
              </a:solidFill>
              <a:latin typeface="EYInterstate Light" panose="02000506000000020004" pitchFamily="2" charset="0"/>
            </a:endParaRPr>
          </a:p>
          <a:p>
            <a:pPr algn="just"/>
            <a:endParaRPr lang="en-US" sz="1400" dirty="0">
              <a:latin typeface="EYInterstate Light" panose="02000506000000020004" pitchFamily="2" charset="0"/>
            </a:endParaRPr>
          </a:p>
          <a:p>
            <a:pPr marL="0" indent="0" algn="just">
              <a:buNone/>
            </a:pPr>
            <a:endParaRPr lang="en-US" sz="1400" dirty="0">
              <a:latin typeface="EYInterstate Light" panose="02000506000000020004" pitchFamily="2" charset="0"/>
            </a:endParaRPr>
          </a:p>
        </p:txBody>
      </p:sp>
      <p:cxnSp>
        <p:nvCxnSpPr>
          <p:cNvPr id="17" name="Connecteur droit 16"/>
          <p:cNvCxnSpPr/>
          <p:nvPr/>
        </p:nvCxnSpPr>
        <p:spPr>
          <a:xfrm>
            <a:off x="514549" y="3229440"/>
            <a:ext cx="8172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Espace réservé du contenu 2"/>
          <p:cNvSpPr txBox="1">
            <a:spLocks/>
          </p:cNvSpPr>
          <p:nvPr/>
        </p:nvSpPr>
        <p:spPr>
          <a:xfrm>
            <a:off x="432666" y="5300301"/>
            <a:ext cx="8307281" cy="412745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n-US" sz="1600" b="1" dirty="0">
                <a:solidFill>
                  <a:srgbClr val="223F87"/>
                </a:solidFill>
                <a:latin typeface="+mj-lt"/>
              </a:rPr>
              <a:t>Conclusion</a:t>
            </a:r>
          </a:p>
          <a:p>
            <a:pPr marL="0" indent="0" algn="just">
              <a:buNone/>
            </a:pPr>
            <a:endParaRPr lang="en-US" sz="1050" b="1" u="sng" dirty="0">
              <a:latin typeface="EYInterstate Light" panose="02000506000000020004" pitchFamily="2" charset="0"/>
            </a:endParaRPr>
          </a:p>
          <a:p>
            <a:pPr marL="0" indent="0" algn="just">
              <a:buNone/>
            </a:pPr>
            <a:endParaRPr lang="en-US" sz="1050" dirty="0">
              <a:latin typeface="EYInterstate Light" panose="02000506000000020004" pitchFamily="2" charset="0"/>
            </a:endParaRPr>
          </a:p>
          <a:p>
            <a:pPr marL="0" indent="0" algn="just">
              <a:buNone/>
            </a:pPr>
            <a:endParaRPr lang="en-US" sz="1050" dirty="0">
              <a:latin typeface="EYInterstate Light" panose="02000506000000020004" pitchFamily="2" charset="0"/>
            </a:endParaRPr>
          </a:p>
          <a:p>
            <a:pPr marL="0" indent="0" algn="just">
              <a:buNone/>
            </a:pPr>
            <a:endParaRPr lang="en-US" sz="1050" dirty="0">
              <a:latin typeface="EYInterstate Light" panose="02000506000000020004" pitchFamily="2" charset="0"/>
            </a:endParaRPr>
          </a:p>
          <a:p>
            <a:pPr marL="0" indent="0" algn="just">
              <a:buNone/>
            </a:pPr>
            <a:endParaRPr lang="en-US" sz="1400" dirty="0">
              <a:solidFill>
                <a:srgbClr val="FF0000"/>
              </a:solidFill>
              <a:latin typeface="EYInterstate Light" panose="02000506000000020004" pitchFamily="2" charset="0"/>
            </a:endParaRPr>
          </a:p>
          <a:p>
            <a:pPr marL="0" indent="0" algn="just">
              <a:buNone/>
            </a:pPr>
            <a:endParaRPr lang="en-US" sz="1400" dirty="0">
              <a:solidFill>
                <a:srgbClr val="FF0000"/>
              </a:solidFill>
              <a:latin typeface="EYInterstate Light" panose="02000506000000020004" pitchFamily="2" charset="0"/>
            </a:endParaRPr>
          </a:p>
          <a:p>
            <a:pPr marL="0" indent="0" algn="just">
              <a:buNone/>
            </a:pPr>
            <a:endParaRPr lang="en-US" sz="1400" dirty="0">
              <a:solidFill>
                <a:srgbClr val="FF0000"/>
              </a:solidFill>
              <a:latin typeface="EYInterstate Light" panose="02000506000000020004" pitchFamily="2" charset="0"/>
            </a:endParaRPr>
          </a:p>
          <a:p>
            <a:pPr marL="0" indent="0" algn="just">
              <a:buNone/>
            </a:pPr>
            <a:endParaRPr lang="en-US" sz="1400" dirty="0">
              <a:solidFill>
                <a:srgbClr val="FF0000"/>
              </a:solidFill>
              <a:latin typeface="EYInterstate Light" panose="02000506000000020004" pitchFamily="2" charset="0"/>
            </a:endParaRPr>
          </a:p>
          <a:p>
            <a:pPr algn="just"/>
            <a:endParaRPr lang="en-US" sz="1400" dirty="0">
              <a:solidFill>
                <a:srgbClr val="FF0000"/>
              </a:solidFill>
              <a:latin typeface="EYInterstate Light" panose="02000506000000020004" pitchFamily="2" charset="0"/>
            </a:endParaRPr>
          </a:p>
          <a:p>
            <a:pPr algn="just"/>
            <a:endParaRPr lang="en-US" sz="1400" dirty="0">
              <a:latin typeface="EYInterstate Light" panose="02000506000000020004" pitchFamily="2" charset="0"/>
            </a:endParaRPr>
          </a:p>
          <a:p>
            <a:pPr marL="0" indent="0" algn="just">
              <a:buNone/>
            </a:pPr>
            <a:endParaRPr lang="en-US" sz="1400" dirty="0">
              <a:latin typeface="EYInterstate Light" panose="02000506000000020004" pitchFamily="2" charset="0"/>
            </a:endParaRPr>
          </a:p>
        </p:txBody>
      </p:sp>
      <p:cxnSp>
        <p:nvCxnSpPr>
          <p:cNvPr id="19" name="Connecteur droit 18"/>
          <p:cNvCxnSpPr/>
          <p:nvPr/>
        </p:nvCxnSpPr>
        <p:spPr>
          <a:xfrm>
            <a:off x="523602" y="5635279"/>
            <a:ext cx="8172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523602" y="5806161"/>
            <a:ext cx="8183302" cy="261610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spAutoFit/>
          </a:bodyPr>
          <a:lstStyle/>
          <a:p>
            <a:pPr marL="381000" indent="-381000">
              <a:spcBef>
                <a:spcPct val="20000"/>
              </a:spcBef>
              <a:buSzPct val="75000"/>
              <a:buFont typeface="Arial Narrow" pitchFamily="34" charset="0"/>
              <a:buChar char="►"/>
            </a:pPr>
            <a:r>
              <a:rPr lang="fr-FR" sz="1100" dirty="0"/>
              <a:t>XX</a:t>
            </a:r>
            <a:endParaRPr lang="fr-FR" sz="1100" b="1" u="sng" dirty="0">
              <a:solidFill>
                <a:schemeClr val="bg2">
                  <a:lumMod val="50000"/>
                </a:schemeClr>
              </a:solidFill>
              <a:latin typeface="Calibri" panose="020F0502020204030204" pitchFamily="34" charset="0"/>
              <a:ea typeface="Verdana" panose="020B0604030504040204" pitchFamily="34" charset="0"/>
              <a:cs typeface="Calibri" panose="020F0502020204030204" pitchFamily="34" charset="0"/>
            </a:endParaRPr>
          </a:p>
        </p:txBody>
      </p:sp>
      <p:sp>
        <p:nvSpPr>
          <p:cNvPr id="21" name="Slide Number Placeholder 9"/>
          <p:cNvSpPr>
            <a:spLocks noGrp="1"/>
          </p:cNvSpPr>
          <p:nvPr>
            <p:ph type="sldNum" sz="quarter" idx="12"/>
          </p:nvPr>
        </p:nvSpPr>
        <p:spPr>
          <a:xfrm>
            <a:off x="2700337" y="6482398"/>
            <a:ext cx="2057400" cy="365125"/>
          </a:xfrm>
        </p:spPr>
        <p:txBody>
          <a:bodyPr/>
          <a:lstStyle/>
          <a:p>
            <a:fld id="{661E6E57-A11E-4CD0-AED6-15B700CC2E98}" type="slidenum">
              <a:rPr lang="fr-FR" smtClean="0">
                <a:latin typeface="EYInterstate Light" panose="02000506000000020004" pitchFamily="2" charset="0"/>
              </a:rPr>
              <a:t>9</a:t>
            </a:fld>
            <a:endParaRPr lang="fr-FR" dirty="0">
              <a:latin typeface="EYInterstate Light" panose="02000506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40365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 txBox="1">
            <a:spLocks/>
          </p:cNvSpPr>
          <p:nvPr/>
        </p:nvSpPr>
        <p:spPr>
          <a:xfrm>
            <a:off x="323528" y="50376"/>
            <a:ext cx="8381710" cy="850106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700" b="1" dirty="0">
                <a:solidFill>
                  <a:prstClr val="black"/>
                </a:solidFill>
              </a:rPr>
              <a:t>Conclusions</a:t>
            </a:r>
          </a:p>
        </p:txBody>
      </p:sp>
      <p:sp>
        <p:nvSpPr>
          <p:cNvPr id="6" name="Pentagon 5"/>
          <p:cNvSpPr/>
          <p:nvPr/>
        </p:nvSpPr>
        <p:spPr>
          <a:xfrm>
            <a:off x="3723814" y="132929"/>
            <a:ext cx="1386001" cy="516535"/>
          </a:xfrm>
          <a:prstGeom prst="homePlate">
            <a:avLst/>
          </a:prstGeom>
          <a:solidFill>
            <a:schemeClr val="bg1">
              <a:lumMod val="85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88900" rIns="88900" bIns="88900" rtlCol="0" anchor="ctr"/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Context</a:t>
            </a:r>
          </a:p>
        </p:txBody>
      </p:sp>
      <p:sp>
        <p:nvSpPr>
          <p:cNvPr id="7" name="Chevron 6"/>
          <p:cNvSpPr/>
          <p:nvPr/>
        </p:nvSpPr>
        <p:spPr>
          <a:xfrm>
            <a:off x="4930617" y="132929"/>
            <a:ext cx="1386001" cy="516535"/>
          </a:xfrm>
          <a:prstGeom prst="chevron">
            <a:avLst/>
          </a:prstGeom>
          <a:solidFill>
            <a:schemeClr val="bg1">
              <a:lumMod val="85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88900" rIns="0" bIns="88900" rtlCol="0" anchor="ctr"/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Audit approach</a:t>
            </a:r>
          </a:p>
        </p:txBody>
      </p:sp>
      <p:sp>
        <p:nvSpPr>
          <p:cNvPr id="8" name="Chevron 7"/>
          <p:cNvSpPr/>
          <p:nvPr/>
        </p:nvSpPr>
        <p:spPr>
          <a:xfrm>
            <a:off x="6126958" y="132929"/>
            <a:ext cx="1386001" cy="516535"/>
          </a:xfrm>
          <a:prstGeom prst="chevron">
            <a:avLst/>
          </a:prstGeom>
          <a:solidFill>
            <a:srgbClr val="223F87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88900" rIns="0" bIns="88900" rtlCol="0" anchor="ctr"/>
          <a:lstStyle/>
          <a:p>
            <a:pPr algn="ctr"/>
            <a:r>
              <a:rPr lang="en-US" sz="1200" b="1" dirty="0">
                <a:solidFill>
                  <a:schemeClr val="bg1"/>
                </a:solidFill>
              </a:rPr>
              <a:t>Conclusion</a:t>
            </a:r>
          </a:p>
        </p:txBody>
      </p:sp>
      <p:sp>
        <p:nvSpPr>
          <p:cNvPr id="9" name="Chevron 8"/>
          <p:cNvSpPr/>
          <p:nvPr/>
        </p:nvSpPr>
        <p:spPr>
          <a:xfrm>
            <a:off x="7319236" y="132929"/>
            <a:ext cx="1386001" cy="516535"/>
          </a:xfrm>
          <a:prstGeom prst="chevron">
            <a:avLst/>
          </a:prstGeom>
          <a:solidFill>
            <a:schemeClr val="bg1">
              <a:lumMod val="85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88900" rIns="0" bIns="88900" rtlCol="0" anchor="ctr"/>
          <a:lstStyle/>
          <a:p>
            <a:r>
              <a:rPr lang="en-US" sz="1200" dirty="0">
                <a:solidFill>
                  <a:schemeClr val="bg1"/>
                </a:solidFill>
              </a:rPr>
              <a:t>Appendices</a:t>
            </a:r>
          </a:p>
        </p:txBody>
      </p:sp>
      <p:sp>
        <p:nvSpPr>
          <p:cNvPr id="13" name="Espace réservé du contenu 2"/>
          <p:cNvSpPr txBox="1">
            <a:spLocks/>
          </p:cNvSpPr>
          <p:nvPr/>
        </p:nvSpPr>
        <p:spPr>
          <a:xfrm>
            <a:off x="397955" y="1257299"/>
            <a:ext cx="8307281" cy="412745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n-US" sz="1600" b="1" dirty="0">
                <a:solidFill>
                  <a:srgbClr val="223F87"/>
                </a:solidFill>
                <a:latin typeface="+mj-lt"/>
              </a:rPr>
              <a:t>Action plan for point to be followed up</a:t>
            </a:r>
          </a:p>
          <a:p>
            <a:pPr marL="0" indent="0" algn="just">
              <a:buNone/>
            </a:pPr>
            <a:endParaRPr lang="en-US" sz="1050" b="1" u="sng" dirty="0">
              <a:latin typeface="EYInterstate Light" panose="02000506000000020004" pitchFamily="2" charset="0"/>
            </a:endParaRPr>
          </a:p>
          <a:p>
            <a:pPr marL="0" indent="0" algn="just">
              <a:buNone/>
            </a:pPr>
            <a:endParaRPr lang="en-US" sz="1050" dirty="0">
              <a:latin typeface="EYInterstate Light" panose="02000506000000020004" pitchFamily="2" charset="0"/>
            </a:endParaRPr>
          </a:p>
          <a:p>
            <a:pPr marL="0" indent="0" algn="just">
              <a:buNone/>
            </a:pPr>
            <a:endParaRPr lang="en-US" sz="1050" dirty="0">
              <a:latin typeface="EYInterstate Light" panose="02000506000000020004" pitchFamily="2" charset="0"/>
            </a:endParaRPr>
          </a:p>
          <a:p>
            <a:pPr marL="0" indent="0" algn="just">
              <a:buNone/>
            </a:pPr>
            <a:endParaRPr lang="en-US" sz="1050" dirty="0">
              <a:latin typeface="EYInterstate Light" panose="02000506000000020004" pitchFamily="2" charset="0"/>
            </a:endParaRPr>
          </a:p>
          <a:p>
            <a:pPr marL="0" indent="0" algn="just">
              <a:buNone/>
            </a:pPr>
            <a:endParaRPr lang="en-US" sz="1400" dirty="0">
              <a:solidFill>
                <a:srgbClr val="FF0000"/>
              </a:solidFill>
              <a:latin typeface="EYInterstate Light" panose="02000506000000020004" pitchFamily="2" charset="0"/>
            </a:endParaRPr>
          </a:p>
          <a:p>
            <a:pPr marL="0" indent="0" algn="just">
              <a:buNone/>
            </a:pPr>
            <a:endParaRPr lang="en-US" sz="1400" dirty="0">
              <a:solidFill>
                <a:srgbClr val="FF0000"/>
              </a:solidFill>
              <a:latin typeface="EYInterstate Light" panose="02000506000000020004" pitchFamily="2" charset="0"/>
            </a:endParaRPr>
          </a:p>
          <a:p>
            <a:pPr marL="0" indent="0" algn="just">
              <a:buNone/>
            </a:pPr>
            <a:endParaRPr lang="en-US" sz="1400" dirty="0">
              <a:solidFill>
                <a:srgbClr val="FF0000"/>
              </a:solidFill>
              <a:latin typeface="EYInterstate Light" panose="02000506000000020004" pitchFamily="2" charset="0"/>
            </a:endParaRPr>
          </a:p>
          <a:p>
            <a:pPr marL="0" indent="0" algn="just">
              <a:buNone/>
            </a:pPr>
            <a:endParaRPr lang="en-US" sz="1400" dirty="0">
              <a:solidFill>
                <a:srgbClr val="FF0000"/>
              </a:solidFill>
              <a:latin typeface="EYInterstate Light" panose="02000506000000020004" pitchFamily="2" charset="0"/>
            </a:endParaRPr>
          </a:p>
          <a:p>
            <a:pPr algn="just"/>
            <a:endParaRPr lang="en-US" sz="1400" dirty="0">
              <a:solidFill>
                <a:srgbClr val="FF0000"/>
              </a:solidFill>
              <a:latin typeface="EYInterstate Light" panose="02000506000000020004" pitchFamily="2" charset="0"/>
            </a:endParaRPr>
          </a:p>
          <a:p>
            <a:pPr algn="just"/>
            <a:endParaRPr lang="en-US" sz="1400" dirty="0">
              <a:latin typeface="EYInterstate Light" panose="02000506000000020004" pitchFamily="2" charset="0"/>
            </a:endParaRPr>
          </a:p>
          <a:p>
            <a:pPr marL="0" indent="0" algn="just">
              <a:buNone/>
            </a:pPr>
            <a:endParaRPr lang="en-US" sz="1400" dirty="0">
              <a:latin typeface="EYInterstate Light" panose="02000506000000020004" pitchFamily="2" charset="0"/>
            </a:endParaRPr>
          </a:p>
        </p:txBody>
      </p:sp>
      <p:cxnSp>
        <p:nvCxnSpPr>
          <p:cNvPr id="14" name="Connecteur droit 13"/>
          <p:cNvCxnSpPr/>
          <p:nvPr/>
        </p:nvCxnSpPr>
        <p:spPr>
          <a:xfrm>
            <a:off x="488891" y="1592277"/>
            <a:ext cx="8172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Slide Number Placeholder 9"/>
          <p:cNvSpPr>
            <a:spLocks noGrp="1"/>
          </p:cNvSpPr>
          <p:nvPr>
            <p:ph type="sldNum" sz="quarter" idx="12"/>
          </p:nvPr>
        </p:nvSpPr>
        <p:spPr>
          <a:xfrm>
            <a:off x="2700337" y="6482398"/>
            <a:ext cx="2057400" cy="365125"/>
          </a:xfrm>
        </p:spPr>
        <p:txBody>
          <a:bodyPr/>
          <a:lstStyle/>
          <a:p>
            <a:fld id="{661E6E57-A11E-4CD0-AED6-15B700CC2E98}" type="slidenum">
              <a:rPr lang="fr-FR" smtClean="0">
                <a:latin typeface="EYInterstate Light" panose="02000506000000020004" pitchFamily="2" charset="0"/>
              </a:rPr>
              <a:t>10</a:t>
            </a:fld>
            <a:endParaRPr lang="fr-FR" dirty="0">
              <a:latin typeface="EYInterstate Light" panose="02000506000000020004" pitchFamily="2" charset="0"/>
            </a:endParaRPr>
          </a:p>
        </p:txBody>
      </p:sp>
      <p:graphicFrame>
        <p:nvGraphicFramePr>
          <p:cNvPr id="22" name="Table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6526811"/>
              </p:ext>
            </p:extLst>
          </p:nvPr>
        </p:nvGraphicFramePr>
        <p:xfrm>
          <a:off x="488892" y="1725575"/>
          <a:ext cx="8216343" cy="1567097"/>
        </p:xfrm>
        <a:graphic>
          <a:graphicData uri="http://schemas.openxmlformats.org/drawingml/2006/table">
            <a:tbl>
              <a:tblPr firstRow="1" bandRow="1" bandCol="1"/>
              <a:tblGrid>
                <a:gridCol w="11091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7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571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7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3574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46899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Topic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Comments</a:t>
                      </a:r>
                      <a:endParaRPr lang="fr-FR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Action plan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When</a:t>
                      </a:r>
                      <a:endParaRPr lang="fr-FR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Who</a:t>
                      </a:r>
                      <a:endParaRPr lang="fr-FR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2410">
                <a:tc>
                  <a:txBody>
                    <a:bodyPr/>
                    <a:lstStyle/>
                    <a:p>
                      <a:pPr algn="l" rtl="0" fontAlgn="ctr">
                        <a:buClr>
                          <a:srgbClr val="000000"/>
                        </a:buClr>
                        <a:buSzPts val="900"/>
                        <a:buFont typeface="EYInterstate Light" panose="02000506000000020004" pitchFamily="2" charset="0"/>
                        <a:buNone/>
                      </a:pPr>
                      <a:endParaRPr lang="fr-FR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17145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fr-FR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5725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fr-FR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5725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fr-FR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5725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fr-FR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5725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751">
                <a:tc>
                  <a:txBody>
                    <a:bodyPr/>
                    <a:lstStyle/>
                    <a:p>
                      <a:pPr algn="l" rtl="0" fontAlgn="ctr">
                        <a:buClr>
                          <a:srgbClr val="000000"/>
                        </a:buClr>
                        <a:buSzPts val="900"/>
                        <a:buFont typeface="EYInterstate Light" panose="02000506000000020004" pitchFamily="2" charset="0"/>
                        <a:buChar char="•"/>
                      </a:pPr>
                      <a:endParaRPr lang="en-US" sz="900" b="0" i="0" u="none" strike="noStrike" noProof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17145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85725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85725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85725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85725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5037">
                <a:tc>
                  <a:txBody>
                    <a:bodyPr/>
                    <a:lstStyle/>
                    <a:p>
                      <a:pPr algn="l" rtl="0" fontAlgn="ctr">
                        <a:buClr>
                          <a:srgbClr val="000000"/>
                        </a:buClr>
                        <a:buSzPts val="900"/>
                        <a:buFont typeface="EYInterstate Light" panose="02000506000000020004" pitchFamily="2" charset="0"/>
                        <a:buChar char="•"/>
                      </a:pPr>
                      <a:endParaRPr lang="fr-FR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17145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85725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85725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85725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85725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3" name="Freeform 858"/>
          <p:cNvSpPr>
            <a:spLocks noChangeAspect="1" noEditPoints="1"/>
          </p:cNvSpPr>
          <p:nvPr/>
        </p:nvSpPr>
        <p:spPr bwMode="auto">
          <a:xfrm>
            <a:off x="84229" y="2589358"/>
            <a:ext cx="233403" cy="233403"/>
          </a:xfrm>
          <a:custGeom>
            <a:avLst/>
            <a:gdLst>
              <a:gd name="T0" fmla="*/ 352 w 512"/>
              <a:gd name="T1" fmla="*/ 146 h 512"/>
              <a:gd name="T2" fmla="*/ 352 w 512"/>
              <a:gd name="T3" fmla="*/ 260 h 512"/>
              <a:gd name="T4" fmla="*/ 263 w 512"/>
              <a:gd name="T5" fmla="*/ 259 h 512"/>
              <a:gd name="T6" fmla="*/ 208 w 512"/>
              <a:gd name="T7" fmla="*/ 236 h 512"/>
              <a:gd name="T8" fmla="*/ 160 w 512"/>
              <a:gd name="T9" fmla="*/ 248 h 512"/>
              <a:gd name="T10" fmla="*/ 160 w 512"/>
              <a:gd name="T11" fmla="*/ 134 h 512"/>
              <a:gd name="T12" fmla="*/ 248 w 512"/>
              <a:gd name="T13" fmla="*/ 135 h 512"/>
              <a:gd name="T14" fmla="*/ 352 w 512"/>
              <a:gd name="T15" fmla="*/ 146 h 512"/>
              <a:gd name="T16" fmla="*/ 512 w 512"/>
              <a:gd name="T17" fmla="*/ 256 h 512"/>
              <a:gd name="T18" fmla="*/ 256 w 512"/>
              <a:gd name="T19" fmla="*/ 512 h 512"/>
              <a:gd name="T20" fmla="*/ 0 w 512"/>
              <a:gd name="T21" fmla="*/ 256 h 512"/>
              <a:gd name="T22" fmla="*/ 256 w 512"/>
              <a:gd name="T23" fmla="*/ 0 h 512"/>
              <a:gd name="T24" fmla="*/ 512 w 512"/>
              <a:gd name="T25" fmla="*/ 256 h 512"/>
              <a:gd name="T26" fmla="*/ 373 w 512"/>
              <a:gd name="T27" fmla="*/ 128 h 512"/>
              <a:gd name="T28" fmla="*/ 367 w 512"/>
              <a:gd name="T29" fmla="*/ 118 h 512"/>
              <a:gd name="T30" fmla="*/ 356 w 512"/>
              <a:gd name="T31" fmla="*/ 119 h 512"/>
              <a:gd name="T32" fmla="*/ 263 w 512"/>
              <a:gd name="T33" fmla="*/ 120 h 512"/>
              <a:gd name="T34" fmla="*/ 143 w 512"/>
              <a:gd name="T35" fmla="*/ 119 h 512"/>
              <a:gd name="T36" fmla="*/ 138 w 512"/>
              <a:gd name="T37" fmla="*/ 128 h 512"/>
              <a:gd name="T38" fmla="*/ 138 w 512"/>
              <a:gd name="T39" fmla="*/ 384 h 512"/>
              <a:gd name="T40" fmla="*/ 149 w 512"/>
              <a:gd name="T41" fmla="*/ 394 h 512"/>
              <a:gd name="T42" fmla="*/ 160 w 512"/>
              <a:gd name="T43" fmla="*/ 384 h 512"/>
              <a:gd name="T44" fmla="*/ 160 w 512"/>
              <a:gd name="T45" fmla="*/ 272 h 512"/>
              <a:gd name="T46" fmla="*/ 248 w 512"/>
              <a:gd name="T47" fmla="*/ 274 h 512"/>
              <a:gd name="T48" fmla="*/ 368 w 512"/>
              <a:gd name="T49" fmla="*/ 275 h 512"/>
              <a:gd name="T50" fmla="*/ 373 w 512"/>
              <a:gd name="T51" fmla="*/ 266 h 512"/>
              <a:gd name="T52" fmla="*/ 373 w 512"/>
              <a:gd name="T53" fmla="*/ 128 h 5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512" h="512">
                <a:moveTo>
                  <a:pt x="352" y="146"/>
                </a:moveTo>
                <a:cubicBezTo>
                  <a:pt x="352" y="260"/>
                  <a:pt x="352" y="260"/>
                  <a:pt x="352" y="260"/>
                </a:cubicBezTo>
                <a:cubicBezTo>
                  <a:pt x="337" y="268"/>
                  <a:pt x="293" y="288"/>
                  <a:pt x="263" y="259"/>
                </a:cubicBezTo>
                <a:cubicBezTo>
                  <a:pt x="247" y="242"/>
                  <a:pt x="227" y="236"/>
                  <a:pt x="208" y="236"/>
                </a:cubicBezTo>
                <a:cubicBezTo>
                  <a:pt x="191" y="236"/>
                  <a:pt x="173" y="242"/>
                  <a:pt x="160" y="248"/>
                </a:cubicBezTo>
                <a:cubicBezTo>
                  <a:pt x="160" y="134"/>
                  <a:pt x="160" y="134"/>
                  <a:pt x="160" y="134"/>
                </a:cubicBezTo>
                <a:cubicBezTo>
                  <a:pt x="174" y="126"/>
                  <a:pt x="218" y="105"/>
                  <a:pt x="248" y="135"/>
                </a:cubicBezTo>
                <a:cubicBezTo>
                  <a:pt x="280" y="167"/>
                  <a:pt x="323" y="159"/>
                  <a:pt x="352" y="146"/>
                </a:cubicBezTo>
                <a:close/>
                <a:moveTo>
                  <a:pt x="512" y="256"/>
                </a:moveTo>
                <a:cubicBezTo>
                  <a:pt x="512" y="397"/>
                  <a:pt x="397" y="512"/>
                  <a:pt x="256" y="512"/>
                </a:cubicBezTo>
                <a:cubicBezTo>
                  <a:pt x="114" y="512"/>
                  <a:pt x="0" y="397"/>
                  <a:pt x="0" y="256"/>
                </a:cubicBezTo>
                <a:cubicBezTo>
                  <a:pt x="0" y="114"/>
                  <a:pt x="114" y="0"/>
                  <a:pt x="256" y="0"/>
                </a:cubicBezTo>
                <a:cubicBezTo>
                  <a:pt x="397" y="0"/>
                  <a:pt x="512" y="114"/>
                  <a:pt x="512" y="256"/>
                </a:cubicBezTo>
                <a:close/>
                <a:moveTo>
                  <a:pt x="373" y="128"/>
                </a:moveTo>
                <a:cubicBezTo>
                  <a:pt x="373" y="124"/>
                  <a:pt x="371" y="120"/>
                  <a:pt x="367" y="118"/>
                </a:cubicBezTo>
                <a:cubicBezTo>
                  <a:pt x="364" y="116"/>
                  <a:pt x="360" y="117"/>
                  <a:pt x="356" y="119"/>
                </a:cubicBezTo>
                <a:cubicBezTo>
                  <a:pt x="356" y="119"/>
                  <a:pt x="299" y="156"/>
                  <a:pt x="263" y="120"/>
                </a:cubicBezTo>
                <a:cubicBezTo>
                  <a:pt x="224" y="81"/>
                  <a:pt x="167" y="102"/>
                  <a:pt x="143" y="119"/>
                </a:cubicBezTo>
                <a:cubicBezTo>
                  <a:pt x="140" y="121"/>
                  <a:pt x="138" y="124"/>
                  <a:pt x="138" y="128"/>
                </a:cubicBezTo>
                <a:cubicBezTo>
                  <a:pt x="138" y="384"/>
                  <a:pt x="138" y="384"/>
                  <a:pt x="138" y="384"/>
                </a:cubicBezTo>
                <a:cubicBezTo>
                  <a:pt x="138" y="390"/>
                  <a:pt x="143" y="394"/>
                  <a:pt x="149" y="394"/>
                </a:cubicBezTo>
                <a:cubicBezTo>
                  <a:pt x="155" y="394"/>
                  <a:pt x="160" y="390"/>
                  <a:pt x="160" y="384"/>
                </a:cubicBezTo>
                <a:cubicBezTo>
                  <a:pt x="160" y="272"/>
                  <a:pt x="160" y="272"/>
                  <a:pt x="160" y="272"/>
                </a:cubicBezTo>
                <a:cubicBezTo>
                  <a:pt x="174" y="264"/>
                  <a:pt x="217" y="243"/>
                  <a:pt x="248" y="274"/>
                </a:cubicBezTo>
                <a:cubicBezTo>
                  <a:pt x="286" y="312"/>
                  <a:pt x="343" y="292"/>
                  <a:pt x="368" y="275"/>
                </a:cubicBezTo>
                <a:cubicBezTo>
                  <a:pt x="371" y="273"/>
                  <a:pt x="373" y="270"/>
                  <a:pt x="373" y="266"/>
                </a:cubicBezTo>
                <a:lnTo>
                  <a:pt x="373" y="128"/>
                </a:lnTo>
                <a:close/>
              </a:path>
            </a:pathLst>
          </a:custGeom>
          <a:solidFill>
            <a:srgbClr val="FFC000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/>
          </a:p>
        </p:txBody>
      </p:sp>
      <p:sp>
        <p:nvSpPr>
          <p:cNvPr id="24" name="Freeform 858"/>
          <p:cNvSpPr>
            <a:spLocks noChangeAspect="1" noEditPoints="1"/>
          </p:cNvSpPr>
          <p:nvPr/>
        </p:nvSpPr>
        <p:spPr bwMode="auto">
          <a:xfrm>
            <a:off x="90125" y="2217538"/>
            <a:ext cx="233403" cy="233403"/>
          </a:xfrm>
          <a:custGeom>
            <a:avLst/>
            <a:gdLst>
              <a:gd name="T0" fmla="*/ 352 w 512"/>
              <a:gd name="T1" fmla="*/ 146 h 512"/>
              <a:gd name="T2" fmla="*/ 352 w 512"/>
              <a:gd name="T3" fmla="*/ 260 h 512"/>
              <a:gd name="T4" fmla="*/ 263 w 512"/>
              <a:gd name="T5" fmla="*/ 259 h 512"/>
              <a:gd name="T6" fmla="*/ 208 w 512"/>
              <a:gd name="T7" fmla="*/ 236 h 512"/>
              <a:gd name="T8" fmla="*/ 160 w 512"/>
              <a:gd name="T9" fmla="*/ 248 h 512"/>
              <a:gd name="T10" fmla="*/ 160 w 512"/>
              <a:gd name="T11" fmla="*/ 134 h 512"/>
              <a:gd name="T12" fmla="*/ 248 w 512"/>
              <a:gd name="T13" fmla="*/ 135 h 512"/>
              <a:gd name="T14" fmla="*/ 352 w 512"/>
              <a:gd name="T15" fmla="*/ 146 h 512"/>
              <a:gd name="T16" fmla="*/ 512 w 512"/>
              <a:gd name="T17" fmla="*/ 256 h 512"/>
              <a:gd name="T18" fmla="*/ 256 w 512"/>
              <a:gd name="T19" fmla="*/ 512 h 512"/>
              <a:gd name="T20" fmla="*/ 0 w 512"/>
              <a:gd name="T21" fmla="*/ 256 h 512"/>
              <a:gd name="T22" fmla="*/ 256 w 512"/>
              <a:gd name="T23" fmla="*/ 0 h 512"/>
              <a:gd name="T24" fmla="*/ 512 w 512"/>
              <a:gd name="T25" fmla="*/ 256 h 512"/>
              <a:gd name="T26" fmla="*/ 373 w 512"/>
              <a:gd name="T27" fmla="*/ 128 h 512"/>
              <a:gd name="T28" fmla="*/ 367 w 512"/>
              <a:gd name="T29" fmla="*/ 118 h 512"/>
              <a:gd name="T30" fmla="*/ 356 w 512"/>
              <a:gd name="T31" fmla="*/ 119 h 512"/>
              <a:gd name="T32" fmla="*/ 263 w 512"/>
              <a:gd name="T33" fmla="*/ 120 h 512"/>
              <a:gd name="T34" fmla="*/ 143 w 512"/>
              <a:gd name="T35" fmla="*/ 119 h 512"/>
              <a:gd name="T36" fmla="*/ 138 w 512"/>
              <a:gd name="T37" fmla="*/ 128 h 512"/>
              <a:gd name="T38" fmla="*/ 138 w 512"/>
              <a:gd name="T39" fmla="*/ 384 h 512"/>
              <a:gd name="T40" fmla="*/ 149 w 512"/>
              <a:gd name="T41" fmla="*/ 394 h 512"/>
              <a:gd name="T42" fmla="*/ 160 w 512"/>
              <a:gd name="T43" fmla="*/ 384 h 512"/>
              <a:gd name="T44" fmla="*/ 160 w 512"/>
              <a:gd name="T45" fmla="*/ 272 h 512"/>
              <a:gd name="T46" fmla="*/ 248 w 512"/>
              <a:gd name="T47" fmla="*/ 274 h 512"/>
              <a:gd name="T48" fmla="*/ 368 w 512"/>
              <a:gd name="T49" fmla="*/ 275 h 512"/>
              <a:gd name="T50" fmla="*/ 373 w 512"/>
              <a:gd name="T51" fmla="*/ 266 h 512"/>
              <a:gd name="T52" fmla="*/ 373 w 512"/>
              <a:gd name="T53" fmla="*/ 128 h 5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512" h="512">
                <a:moveTo>
                  <a:pt x="352" y="146"/>
                </a:moveTo>
                <a:cubicBezTo>
                  <a:pt x="352" y="260"/>
                  <a:pt x="352" y="260"/>
                  <a:pt x="352" y="260"/>
                </a:cubicBezTo>
                <a:cubicBezTo>
                  <a:pt x="337" y="268"/>
                  <a:pt x="293" y="288"/>
                  <a:pt x="263" y="259"/>
                </a:cubicBezTo>
                <a:cubicBezTo>
                  <a:pt x="247" y="242"/>
                  <a:pt x="227" y="236"/>
                  <a:pt x="208" y="236"/>
                </a:cubicBezTo>
                <a:cubicBezTo>
                  <a:pt x="191" y="236"/>
                  <a:pt x="173" y="242"/>
                  <a:pt x="160" y="248"/>
                </a:cubicBezTo>
                <a:cubicBezTo>
                  <a:pt x="160" y="134"/>
                  <a:pt x="160" y="134"/>
                  <a:pt x="160" y="134"/>
                </a:cubicBezTo>
                <a:cubicBezTo>
                  <a:pt x="174" y="126"/>
                  <a:pt x="218" y="105"/>
                  <a:pt x="248" y="135"/>
                </a:cubicBezTo>
                <a:cubicBezTo>
                  <a:pt x="280" y="167"/>
                  <a:pt x="323" y="159"/>
                  <a:pt x="352" y="146"/>
                </a:cubicBezTo>
                <a:close/>
                <a:moveTo>
                  <a:pt x="512" y="256"/>
                </a:moveTo>
                <a:cubicBezTo>
                  <a:pt x="512" y="397"/>
                  <a:pt x="397" y="512"/>
                  <a:pt x="256" y="512"/>
                </a:cubicBezTo>
                <a:cubicBezTo>
                  <a:pt x="114" y="512"/>
                  <a:pt x="0" y="397"/>
                  <a:pt x="0" y="256"/>
                </a:cubicBezTo>
                <a:cubicBezTo>
                  <a:pt x="0" y="114"/>
                  <a:pt x="114" y="0"/>
                  <a:pt x="256" y="0"/>
                </a:cubicBezTo>
                <a:cubicBezTo>
                  <a:pt x="397" y="0"/>
                  <a:pt x="512" y="114"/>
                  <a:pt x="512" y="256"/>
                </a:cubicBezTo>
                <a:close/>
                <a:moveTo>
                  <a:pt x="373" y="128"/>
                </a:moveTo>
                <a:cubicBezTo>
                  <a:pt x="373" y="124"/>
                  <a:pt x="371" y="120"/>
                  <a:pt x="367" y="118"/>
                </a:cubicBezTo>
                <a:cubicBezTo>
                  <a:pt x="364" y="116"/>
                  <a:pt x="360" y="117"/>
                  <a:pt x="356" y="119"/>
                </a:cubicBezTo>
                <a:cubicBezTo>
                  <a:pt x="356" y="119"/>
                  <a:pt x="299" y="156"/>
                  <a:pt x="263" y="120"/>
                </a:cubicBezTo>
                <a:cubicBezTo>
                  <a:pt x="224" y="81"/>
                  <a:pt x="167" y="102"/>
                  <a:pt x="143" y="119"/>
                </a:cubicBezTo>
                <a:cubicBezTo>
                  <a:pt x="140" y="121"/>
                  <a:pt x="138" y="124"/>
                  <a:pt x="138" y="128"/>
                </a:cubicBezTo>
                <a:cubicBezTo>
                  <a:pt x="138" y="384"/>
                  <a:pt x="138" y="384"/>
                  <a:pt x="138" y="384"/>
                </a:cubicBezTo>
                <a:cubicBezTo>
                  <a:pt x="138" y="390"/>
                  <a:pt x="143" y="394"/>
                  <a:pt x="149" y="394"/>
                </a:cubicBezTo>
                <a:cubicBezTo>
                  <a:pt x="155" y="394"/>
                  <a:pt x="160" y="390"/>
                  <a:pt x="160" y="384"/>
                </a:cubicBezTo>
                <a:cubicBezTo>
                  <a:pt x="160" y="272"/>
                  <a:pt x="160" y="272"/>
                  <a:pt x="160" y="272"/>
                </a:cubicBezTo>
                <a:cubicBezTo>
                  <a:pt x="174" y="264"/>
                  <a:pt x="217" y="243"/>
                  <a:pt x="248" y="274"/>
                </a:cubicBezTo>
                <a:cubicBezTo>
                  <a:pt x="286" y="312"/>
                  <a:pt x="343" y="292"/>
                  <a:pt x="368" y="275"/>
                </a:cubicBezTo>
                <a:cubicBezTo>
                  <a:pt x="371" y="273"/>
                  <a:pt x="373" y="270"/>
                  <a:pt x="373" y="266"/>
                </a:cubicBezTo>
                <a:lnTo>
                  <a:pt x="373" y="128"/>
                </a:lnTo>
                <a:close/>
              </a:path>
            </a:pathLst>
          </a:custGeom>
          <a:solidFill>
            <a:srgbClr val="FF0000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/>
          </a:p>
        </p:txBody>
      </p:sp>
      <p:sp>
        <p:nvSpPr>
          <p:cNvPr id="25" name="Freeform 858"/>
          <p:cNvSpPr>
            <a:spLocks noChangeAspect="1" noEditPoints="1"/>
          </p:cNvSpPr>
          <p:nvPr/>
        </p:nvSpPr>
        <p:spPr bwMode="auto">
          <a:xfrm>
            <a:off x="84229" y="2937114"/>
            <a:ext cx="233403" cy="233403"/>
          </a:xfrm>
          <a:custGeom>
            <a:avLst/>
            <a:gdLst>
              <a:gd name="T0" fmla="*/ 352 w 512"/>
              <a:gd name="T1" fmla="*/ 146 h 512"/>
              <a:gd name="T2" fmla="*/ 352 w 512"/>
              <a:gd name="T3" fmla="*/ 260 h 512"/>
              <a:gd name="T4" fmla="*/ 263 w 512"/>
              <a:gd name="T5" fmla="*/ 259 h 512"/>
              <a:gd name="T6" fmla="*/ 208 w 512"/>
              <a:gd name="T7" fmla="*/ 236 h 512"/>
              <a:gd name="T8" fmla="*/ 160 w 512"/>
              <a:gd name="T9" fmla="*/ 248 h 512"/>
              <a:gd name="T10" fmla="*/ 160 w 512"/>
              <a:gd name="T11" fmla="*/ 134 h 512"/>
              <a:gd name="T12" fmla="*/ 248 w 512"/>
              <a:gd name="T13" fmla="*/ 135 h 512"/>
              <a:gd name="T14" fmla="*/ 352 w 512"/>
              <a:gd name="T15" fmla="*/ 146 h 512"/>
              <a:gd name="T16" fmla="*/ 512 w 512"/>
              <a:gd name="T17" fmla="*/ 256 h 512"/>
              <a:gd name="T18" fmla="*/ 256 w 512"/>
              <a:gd name="T19" fmla="*/ 512 h 512"/>
              <a:gd name="T20" fmla="*/ 0 w 512"/>
              <a:gd name="T21" fmla="*/ 256 h 512"/>
              <a:gd name="T22" fmla="*/ 256 w 512"/>
              <a:gd name="T23" fmla="*/ 0 h 512"/>
              <a:gd name="T24" fmla="*/ 512 w 512"/>
              <a:gd name="T25" fmla="*/ 256 h 512"/>
              <a:gd name="T26" fmla="*/ 373 w 512"/>
              <a:gd name="T27" fmla="*/ 128 h 512"/>
              <a:gd name="T28" fmla="*/ 367 w 512"/>
              <a:gd name="T29" fmla="*/ 118 h 512"/>
              <a:gd name="T30" fmla="*/ 356 w 512"/>
              <a:gd name="T31" fmla="*/ 119 h 512"/>
              <a:gd name="T32" fmla="*/ 263 w 512"/>
              <a:gd name="T33" fmla="*/ 120 h 512"/>
              <a:gd name="T34" fmla="*/ 143 w 512"/>
              <a:gd name="T35" fmla="*/ 119 h 512"/>
              <a:gd name="T36" fmla="*/ 138 w 512"/>
              <a:gd name="T37" fmla="*/ 128 h 512"/>
              <a:gd name="T38" fmla="*/ 138 w 512"/>
              <a:gd name="T39" fmla="*/ 384 h 512"/>
              <a:gd name="T40" fmla="*/ 149 w 512"/>
              <a:gd name="T41" fmla="*/ 394 h 512"/>
              <a:gd name="T42" fmla="*/ 160 w 512"/>
              <a:gd name="T43" fmla="*/ 384 h 512"/>
              <a:gd name="T44" fmla="*/ 160 w 512"/>
              <a:gd name="T45" fmla="*/ 272 h 512"/>
              <a:gd name="T46" fmla="*/ 248 w 512"/>
              <a:gd name="T47" fmla="*/ 274 h 512"/>
              <a:gd name="T48" fmla="*/ 368 w 512"/>
              <a:gd name="T49" fmla="*/ 275 h 512"/>
              <a:gd name="T50" fmla="*/ 373 w 512"/>
              <a:gd name="T51" fmla="*/ 266 h 512"/>
              <a:gd name="T52" fmla="*/ 373 w 512"/>
              <a:gd name="T53" fmla="*/ 128 h 5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512" h="512">
                <a:moveTo>
                  <a:pt x="352" y="146"/>
                </a:moveTo>
                <a:cubicBezTo>
                  <a:pt x="352" y="260"/>
                  <a:pt x="352" y="260"/>
                  <a:pt x="352" y="260"/>
                </a:cubicBezTo>
                <a:cubicBezTo>
                  <a:pt x="337" y="268"/>
                  <a:pt x="293" y="288"/>
                  <a:pt x="263" y="259"/>
                </a:cubicBezTo>
                <a:cubicBezTo>
                  <a:pt x="247" y="242"/>
                  <a:pt x="227" y="236"/>
                  <a:pt x="208" y="236"/>
                </a:cubicBezTo>
                <a:cubicBezTo>
                  <a:pt x="191" y="236"/>
                  <a:pt x="173" y="242"/>
                  <a:pt x="160" y="248"/>
                </a:cubicBezTo>
                <a:cubicBezTo>
                  <a:pt x="160" y="134"/>
                  <a:pt x="160" y="134"/>
                  <a:pt x="160" y="134"/>
                </a:cubicBezTo>
                <a:cubicBezTo>
                  <a:pt x="174" y="126"/>
                  <a:pt x="218" y="105"/>
                  <a:pt x="248" y="135"/>
                </a:cubicBezTo>
                <a:cubicBezTo>
                  <a:pt x="280" y="167"/>
                  <a:pt x="323" y="159"/>
                  <a:pt x="352" y="146"/>
                </a:cubicBezTo>
                <a:close/>
                <a:moveTo>
                  <a:pt x="512" y="256"/>
                </a:moveTo>
                <a:cubicBezTo>
                  <a:pt x="512" y="397"/>
                  <a:pt x="397" y="512"/>
                  <a:pt x="256" y="512"/>
                </a:cubicBezTo>
                <a:cubicBezTo>
                  <a:pt x="114" y="512"/>
                  <a:pt x="0" y="397"/>
                  <a:pt x="0" y="256"/>
                </a:cubicBezTo>
                <a:cubicBezTo>
                  <a:pt x="0" y="114"/>
                  <a:pt x="114" y="0"/>
                  <a:pt x="256" y="0"/>
                </a:cubicBezTo>
                <a:cubicBezTo>
                  <a:pt x="397" y="0"/>
                  <a:pt x="512" y="114"/>
                  <a:pt x="512" y="256"/>
                </a:cubicBezTo>
                <a:close/>
                <a:moveTo>
                  <a:pt x="373" y="128"/>
                </a:moveTo>
                <a:cubicBezTo>
                  <a:pt x="373" y="124"/>
                  <a:pt x="371" y="120"/>
                  <a:pt x="367" y="118"/>
                </a:cubicBezTo>
                <a:cubicBezTo>
                  <a:pt x="364" y="116"/>
                  <a:pt x="360" y="117"/>
                  <a:pt x="356" y="119"/>
                </a:cubicBezTo>
                <a:cubicBezTo>
                  <a:pt x="356" y="119"/>
                  <a:pt x="299" y="156"/>
                  <a:pt x="263" y="120"/>
                </a:cubicBezTo>
                <a:cubicBezTo>
                  <a:pt x="224" y="81"/>
                  <a:pt x="167" y="102"/>
                  <a:pt x="143" y="119"/>
                </a:cubicBezTo>
                <a:cubicBezTo>
                  <a:pt x="140" y="121"/>
                  <a:pt x="138" y="124"/>
                  <a:pt x="138" y="128"/>
                </a:cubicBezTo>
                <a:cubicBezTo>
                  <a:pt x="138" y="384"/>
                  <a:pt x="138" y="384"/>
                  <a:pt x="138" y="384"/>
                </a:cubicBezTo>
                <a:cubicBezTo>
                  <a:pt x="138" y="390"/>
                  <a:pt x="143" y="394"/>
                  <a:pt x="149" y="394"/>
                </a:cubicBezTo>
                <a:cubicBezTo>
                  <a:pt x="155" y="394"/>
                  <a:pt x="160" y="390"/>
                  <a:pt x="160" y="384"/>
                </a:cubicBezTo>
                <a:cubicBezTo>
                  <a:pt x="160" y="272"/>
                  <a:pt x="160" y="272"/>
                  <a:pt x="160" y="272"/>
                </a:cubicBezTo>
                <a:cubicBezTo>
                  <a:pt x="174" y="264"/>
                  <a:pt x="217" y="243"/>
                  <a:pt x="248" y="274"/>
                </a:cubicBezTo>
                <a:cubicBezTo>
                  <a:pt x="286" y="312"/>
                  <a:pt x="343" y="292"/>
                  <a:pt x="368" y="275"/>
                </a:cubicBezTo>
                <a:cubicBezTo>
                  <a:pt x="371" y="273"/>
                  <a:pt x="373" y="270"/>
                  <a:pt x="373" y="266"/>
                </a:cubicBezTo>
                <a:lnTo>
                  <a:pt x="373" y="128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214938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 txBox="1">
            <a:spLocks/>
          </p:cNvSpPr>
          <p:nvPr/>
        </p:nvSpPr>
        <p:spPr>
          <a:xfrm>
            <a:off x="323528" y="50376"/>
            <a:ext cx="8381710" cy="850106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700" b="1" dirty="0">
                <a:solidFill>
                  <a:prstClr val="black"/>
                </a:solidFill>
              </a:rPr>
              <a:t>P&amp;L</a:t>
            </a:r>
          </a:p>
          <a:p>
            <a:pPr lvl="0" algn="l"/>
            <a:r>
              <a:rPr lang="en-US" sz="1700" b="1" dirty="0">
                <a:solidFill>
                  <a:prstClr val="black"/>
                </a:solidFill>
              </a:rPr>
              <a:t>Analytical review</a:t>
            </a:r>
          </a:p>
          <a:p>
            <a:pPr algn="l"/>
            <a:endParaRPr lang="en-US" sz="1700" b="1" dirty="0">
              <a:latin typeface="EYInterstate Light" panose="02000506000000020004" pitchFamily="2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71043" y="4629101"/>
            <a:ext cx="8352717" cy="124649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marL="0" lvl="1" algn="just">
              <a:buClr>
                <a:srgbClr val="002060"/>
              </a:buClr>
              <a:buSzPct val="75000"/>
            </a:pPr>
            <a:r>
              <a:rPr lang="fr-FR" sz="1200" b="1" i="1" u="sng" dirty="0" err="1">
                <a:latin typeface="+mj-lt"/>
              </a:rPr>
              <a:t>Comments</a:t>
            </a:r>
            <a:r>
              <a:rPr lang="fr-FR" sz="1200" b="1" i="1" u="sng" dirty="0">
                <a:latin typeface="+mj-lt"/>
              </a:rPr>
              <a:t>: </a:t>
            </a:r>
          </a:p>
          <a:p>
            <a:pPr marL="0" lvl="1" algn="just">
              <a:buClr>
                <a:srgbClr val="002060"/>
              </a:buClr>
              <a:buSzPct val="75000"/>
            </a:pPr>
            <a:endParaRPr lang="fr-FR" sz="1050" b="1" u="sng" dirty="0">
              <a:solidFill>
                <a:srgbClr val="C00000"/>
              </a:solidFill>
              <a:latin typeface="EYInterstate Light" panose="02000506000000020004" pitchFamily="2" charset="0"/>
              <a:cs typeface="Calibri" panose="020F0502020204030204" pitchFamily="34" charset="0"/>
            </a:endParaRPr>
          </a:p>
          <a:p>
            <a:pPr marL="0" lvl="1" algn="just">
              <a:buClr>
                <a:srgbClr val="002060"/>
              </a:buClr>
              <a:buSzPct val="75000"/>
            </a:pPr>
            <a:r>
              <a:rPr lang="fr-FR" sz="1100" b="1" i="1" dirty="0" err="1">
                <a:solidFill>
                  <a:srgbClr val="FF0000"/>
                </a:solidFill>
                <a:latin typeface="+mj-lt"/>
                <a:cs typeface="Calibri" panose="020F0502020204030204" pitchFamily="34" charset="0"/>
              </a:rPr>
              <a:t>From</a:t>
            </a:r>
            <a:r>
              <a:rPr lang="fr-FR" sz="1100" b="1" i="1" dirty="0">
                <a:solidFill>
                  <a:srgbClr val="FF0000"/>
                </a:solidFill>
                <a:latin typeface="+mj-lt"/>
                <a:cs typeface="Calibri" panose="020F0502020204030204" pitchFamily="34" charset="0"/>
              </a:rPr>
              <a:t> report O-CO-C270 </a:t>
            </a:r>
            <a:r>
              <a:rPr lang="fr-FR" sz="1100" b="1" i="1" dirty="0" err="1">
                <a:solidFill>
                  <a:srgbClr val="FF0000"/>
                </a:solidFill>
                <a:latin typeface="+mj-lt"/>
                <a:cs typeface="Calibri" panose="020F0502020204030204" pitchFamily="34" charset="0"/>
              </a:rPr>
              <a:t>please</a:t>
            </a:r>
            <a:r>
              <a:rPr lang="fr-FR" sz="1100" b="1" i="1" dirty="0">
                <a:solidFill>
                  <a:srgbClr val="FF0000"/>
                </a:solidFill>
                <a:latin typeface="+mj-lt"/>
                <a:cs typeface="Calibri" panose="020F0502020204030204" pitchFamily="34" charset="0"/>
              </a:rPr>
              <a:t> </a:t>
            </a:r>
            <a:r>
              <a:rPr lang="fr-FR" sz="1100" b="1" i="1" dirty="0" err="1">
                <a:solidFill>
                  <a:srgbClr val="FF0000"/>
                </a:solidFill>
                <a:latin typeface="+mj-lt"/>
                <a:cs typeface="Calibri" panose="020F0502020204030204" pitchFamily="34" charset="0"/>
              </a:rPr>
              <a:t>fill</a:t>
            </a:r>
            <a:r>
              <a:rPr lang="fr-FR" sz="1100" b="1" i="1" dirty="0">
                <a:solidFill>
                  <a:srgbClr val="FF0000"/>
                </a:solidFill>
                <a:latin typeface="+mj-lt"/>
                <a:cs typeface="Calibri" panose="020F0502020204030204" pitchFamily="34" charset="0"/>
              </a:rPr>
              <a:t> up the </a:t>
            </a:r>
            <a:r>
              <a:rPr lang="fr-FR" sz="1100" b="1" i="1" dirty="0" err="1">
                <a:solidFill>
                  <a:srgbClr val="FF0000"/>
                </a:solidFill>
                <a:latin typeface="+mj-lt"/>
                <a:cs typeface="Calibri" panose="020F0502020204030204" pitchFamily="34" charset="0"/>
              </a:rPr>
              <a:t>above</a:t>
            </a:r>
            <a:r>
              <a:rPr lang="fr-FR" sz="1100" b="1" i="1" dirty="0">
                <a:solidFill>
                  <a:srgbClr val="FF0000"/>
                </a:solidFill>
                <a:latin typeface="+mj-lt"/>
                <a:cs typeface="Calibri" panose="020F0502020204030204" pitchFamily="34" charset="0"/>
              </a:rPr>
              <a:t> </a:t>
            </a:r>
            <a:r>
              <a:rPr lang="fr-FR" sz="1100" b="1" i="1" dirty="0" err="1">
                <a:solidFill>
                  <a:srgbClr val="FF0000"/>
                </a:solidFill>
                <a:latin typeface="+mj-lt"/>
                <a:cs typeface="Calibri" panose="020F0502020204030204" pitchFamily="34" charset="0"/>
              </a:rPr>
              <a:t>template</a:t>
            </a:r>
            <a:r>
              <a:rPr lang="fr-FR" sz="1100" b="1" i="1" dirty="0">
                <a:solidFill>
                  <a:srgbClr val="FF0000"/>
                </a:solidFill>
                <a:latin typeface="+mj-lt"/>
                <a:cs typeface="Calibri" panose="020F0502020204030204" pitchFamily="34" charset="0"/>
              </a:rPr>
              <a:t> and </a:t>
            </a:r>
            <a:r>
              <a:rPr lang="fr-FR" sz="1100" b="1" i="1" dirty="0" err="1">
                <a:solidFill>
                  <a:srgbClr val="FF0000"/>
                </a:solidFill>
                <a:latin typeface="+mj-lt"/>
                <a:cs typeface="Calibri" panose="020F0502020204030204" pitchFamily="34" charset="0"/>
              </a:rPr>
              <a:t>attached</a:t>
            </a:r>
            <a:r>
              <a:rPr lang="fr-FR" sz="1100" b="1" i="1" dirty="0">
                <a:solidFill>
                  <a:srgbClr val="FF0000"/>
                </a:solidFill>
                <a:latin typeface="+mj-lt"/>
                <a:cs typeface="Calibri" panose="020F0502020204030204" pitchFamily="34" charset="0"/>
              </a:rPr>
              <a:t> the full report to </a:t>
            </a:r>
            <a:r>
              <a:rPr lang="fr-FR" sz="1100" b="1" i="1" dirty="0" err="1">
                <a:solidFill>
                  <a:srgbClr val="FF0000"/>
                </a:solidFill>
                <a:latin typeface="+mj-lt"/>
                <a:cs typeface="Calibri" panose="020F0502020204030204" pitchFamily="34" charset="0"/>
              </a:rPr>
              <a:t>your</a:t>
            </a:r>
            <a:r>
              <a:rPr lang="fr-FR" sz="1100" b="1" i="1" dirty="0">
                <a:solidFill>
                  <a:srgbClr val="FF0000"/>
                </a:solidFill>
                <a:latin typeface="+mj-lt"/>
                <a:cs typeface="Calibri" panose="020F0502020204030204" pitchFamily="34" charset="0"/>
              </a:rPr>
              <a:t> SRM</a:t>
            </a:r>
          </a:p>
          <a:p>
            <a:pPr marL="0" lvl="1" algn="just">
              <a:buClr>
                <a:srgbClr val="002060"/>
              </a:buClr>
              <a:buSzPct val="75000"/>
            </a:pPr>
            <a:r>
              <a:rPr lang="fr-FR" sz="1100" b="1" i="1" dirty="0" err="1">
                <a:solidFill>
                  <a:srgbClr val="FF0000"/>
                </a:solidFill>
                <a:latin typeface="+mj-lt"/>
                <a:cs typeface="Calibri" panose="020F0502020204030204" pitchFamily="34" charset="0"/>
              </a:rPr>
              <a:t>Describe</a:t>
            </a:r>
            <a:r>
              <a:rPr lang="fr-FR" sz="1100" b="1" i="1" dirty="0">
                <a:solidFill>
                  <a:srgbClr val="FF0000"/>
                </a:solidFill>
                <a:latin typeface="+mj-lt"/>
                <a:cs typeface="Calibri" panose="020F0502020204030204" pitchFamily="34" charset="0"/>
              </a:rPr>
              <a:t> </a:t>
            </a:r>
            <a:r>
              <a:rPr lang="fr-FR" sz="1100" b="1" i="1" dirty="0" err="1">
                <a:solidFill>
                  <a:srgbClr val="FF0000"/>
                </a:solidFill>
                <a:latin typeface="+mj-lt"/>
                <a:cs typeface="Calibri" panose="020F0502020204030204" pitchFamily="34" charset="0"/>
              </a:rPr>
              <a:t>significant</a:t>
            </a:r>
            <a:r>
              <a:rPr lang="fr-FR" sz="1100" b="1" i="1" dirty="0">
                <a:solidFill>
                  <a:srgbClr val="FF0000"/>
                </a:solidFill>
                <a:latin typeface="+mj-lt"/>
                <a:cs typeface="Calibri" panose="020F0502020204030204" pitchFamily="34" charset="0"/>
              </a:rPr>
              <a:t> transactions and variations</a:t>
            </a:r>
          </a:p>
          <a:p>
            <a:pPr marL="0" lvl="1" algn="just">
              <a:buClr>
                <a:srgbClr val="002060"/>
              </a:buClr>
              <a:buSzPct val="75000"/>
            </a:pPr>
            <a:r>
              <a:rPr lang="fr-FR" sz="1100" b="1" i="1" dirty="0" err="1">
                <a:solidFill>
                  <a:srgbClr val="FF0000"/>
                </a:solidFill>
                <a:latin typeface="+mj-lt"/>
                <a:cs typeface="Calibri" panose="020F0502020204030204" pitchFamily="34" charset="0"/>
              </a:rPr>
              <a:t>Please</a:t>
            </a:r>
            <a:r>
              <a:rPr lang="fr-FR" sz="1100" b="1" i="1" dirty="0">
                <a:solidFill>
                  <a:srgbClr val="FF0000"/>
                </a:solidFill>
                <a:latin typeface="+mj-lt"/>
                <a:cs typeface="Calibri" panose="020F0502020204030204" pitchFamily="34" charset="0"/>
              </a:rPr>
              <a:t> </a:t>
            </a:r>
            <a:r>
              <a:rPr lang="fr-FR" sz="1100" b="1" i="1" dirty="0" err="1">
                <a:solidFill>
                  <a:srgbClr val="FF0000"/>
                </a:solidFill>
                <a:latin typeface="+mj-lt"/>
                <a:cs typeface="Calibri" panose="020F0502020204030204" pitchFamily="34" charset="0"/>
              </a:rPr>
              <a:t>detailled</a:t>
            </a:r>
            <a:r>
              <a:rPr lang="fr-FR" sz="1100" b="1" i="1" dirty="0">
                <a:solidFill>
                  <a:srgbClr val="FF0000"/>
                </a:solidFill>
                <a:latin typeface="+mj-lt"/>
                <a:cs typeface="Calibri" panose="020F0502020204030204" pitchFamily="34" charset="0"/>
              </a:rPr>
              <a:t> </a:t>
            </a:r>
            <a:r>
              <a:rPr lang="fr-FR" sz="1100" b="1" i="1" dirty="0" err="1">
                <a:solidFill>
                  <a:srgbClr val="FF0000"/>
                </a:solidFill>
                <a:latin typeface="+mj-lt"/>
                <a:cs typeface="Calibri" panose="020F0502020204030204" pitchFamily="34" charset="0"/>
              </a:rPr>
              <a:t>significant</a:t>
            </a:r>
            <a:r>
              <a:rPr lang="fr-FR" sz="1100" b="1" i="1" dirty="0">
                <a:solidFill>
                  <a:srgbClr val="FF0000"/>
                </a:solidFill>
                <a:latin typeface="+mj-lt"/>
                <a:cs typeface="Calibri" panose="020F0502020204030204" pitchFamily="34" charset="0"/>
              </a:rPr>
              <a:t> </a:t>
            </a:r>
            <a:r>
              <a:rPr lang="fr-FR" sz="1100" b="1" i="1" dirty="0" err="1">
                <a:solidFill>
                  <a:srgbClr val="FF0000"/>
                </a:solidFill>
                <a:latin typeface="+mj-lt"/>
                <a:cs typeface="Calibri" panose="020F0502020204030204" pitchFamily="34" charset="0"/>
              </a:rPr>
              <a:t>amounts</a:t>
            </a:r>
            <a:r>
              <a:rPr lang="fr-FR" sz="1100" b="1" i="1" dirty="0">
                <a:solidFill>
                  <a:srgbClr val="FF0000"/>
                </a:solidFill>
                <a:latin typeface="+mj-lt"/>
                <a:cs typeface="Calibri" panose="020F0502020204030204" pitchFamily="34" charset="0"/>
              </a:rPr>
              <a:t> in </a:t>
            </a:r>
            <a:r>
              <a:rPr lang="fr-FR" sz="1100" b="1" i="1" dirty="0" err="1">
                <a:solidFill>
                  <a:srgbClr val="FF0000"/>
                </a:solidFill>
                <a:latin typeface="+mj-lt"/>
                <a:cs typeface="Calibri" panose="020F0502020204030204" pitchFamily="34" charset="0"/>
              </a:rPr>
              <a:t>other</a:t>
            </a:r>
            <a:r>
              <a:rPr lang="fr-FR" sz="1100" b="1" i="1" dirty="0">
                <a:solidFill>
                  <a:srgbClr val="FF0000"/>
                </a:solidFill>
                <a:latin typeface="+mj-lt"/>
                <a:cs typeface="Calibri" panose="020F0502020204030204" pitchFamily="34" charset="0"/>
              </a:rPr>
              <a:t> non </a:t>
            </a:r>
            <a:r>
              <a:rPr lang="fr-FR" sz="1100" b="1" i="1" dirty="0" err="1">
                <a:solidFill>
                  <a:srgbClr val="FF0000"/>
                </a:solidFill>
                <a:latin typeface="+mj-lt"/>
                <a:cs typeface="Calibri" panose="020F0502020204030204" pitchFamily="34" charset="0"/>
              </a:rPr>
              <a:t>reccuring</a:t>
            </a:r>
            <a:r>
              <a:rPr lang="fr-FR" sz="1100" b="1" i="1" dirty="0">
                <a:solidFill>
                  <a:srgbClr val="FF0000"/>
                </a:solidFill>
                <a:latin typeface="+mj-lt"/>
                <a:cs typeface="Calibri" panose="020F0502020204030204" pitchFamily="34" charset="0"/>
              </a:rPr>
              <a:t> items</a:t>
            </a:r>
          </a:p>
          <a:p>
            <a:pPr marL="0" lvl="1" algn="just">
              <a:buClr>
                <a:srgbClr val="002060"/>
              </a:buClr>
              <a:buSzPct val="75000"/>
            </a:pPr>
            <a:endParaRPr lang="fr-FR" sz="900" b="1" i="1" dirty="0">
              <a:solidFill>
                <a:srgbClr val="0070C0"/>
              </a:solidFill>
              <a:latin typeface="EYInterstate Light" panose="02000506000000020004" pitchFamily="2" charset="0"/>
              <a:cs typeface="Calibri" panose="020F0502020204030204" pitchFamily="34" charset="0"/>
            </a:endParaRPr>
          </a:p>
          <a:p>
            <a:pPr marL="0" lvl="1" algn="just">
              <a:buClr>
                <a:srgbClr val="002060"/>
              </a:buClr>
              <a:buSzPct val="75000"/>
            </a:pPr>
            <a:endParaRPr lang="fr-FR" sz="1050" b="1" dirty="0">
              <a:solidFill>
                <a:srgbClr val="C00000"/>
              </a:solidFill>
              <a:latin typeface="EYInterstate Light" panose="02000506000000020004" pitchFamily="2" charset="0"/>
              <a:cs typeface="Calibri" panose="020F0502020204030204" pitchFamily="34" charset="0"/>
            </a:endParaRPr>
          </a:p>
        </p:txBody>
      </p:sp>
      <p:sp>
        <p:nvSpPr>
          <p:cNvPr id="7" name="Pentagon 6"/>
          <p:cNvSpPr/>
          <p:nvPr/>
        </p:nvSpPr>
        <p:spPr>
          <a:xfrm>
            <a:off x="3723814" y="132929"/>
            <a:ext cx="1386001" cy="516535"/>
          </a:xfrm>
          <a:prstGeom prst="homePlate">
            <a:avLst/>
          </a:prstGeom>
          <a:solidFill>
            <a:schemeClr val="bg1">
              <a:lumMod val="85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88900" rIns="88900" bIns="88900" rtlCol="0" anchor="ctr"/>
          <a:lstStyle/>
          <a:p>
            <a:pPr algn="ctr"/>
            <a:r>
              <a:rPr lang="en-US" sz="1200" dirty="0">
                <a:solidFill>
                  <a:schemeClr val="bg1"/>
                </a:solidFill>
                <a:latin typeface="+mj-lt"/>
              </a:rPr>
              <a:t>Context</a:t>
            </a:r>
          </a:p>
        </p:txBody>
      </p:sp>
      <p:sp>
        <p:nvSpPr>
          <p:cNvPr id="9" name="Chevron 8"/>
          <p:cNvSpPr/>
          <p:nvPr/>
        </p:nvSpPr>
        <p:spPr>
          <a:xfrm>
            <a:off x="4930617" y="132929"/>
            <a:ext cx="1386001" cy="516535"/>
          </a:xfrm>
          <a:prstGeom prst="chevron">
            <a:avLst/>
          </a:prstGeom>
          <a:solidFill>
            <a:schemeClr val="bg1">
              <a:lumMod val="85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88900" rIns="0" bIns="88900" rtlCol="0" anchor="ctr"/>
          <a:lstStyle/>
          <a:p>
            <a:pPr algn="ctr"/>
            <a:r>
              <a:rPr lang="en-US" sz="1200" dirty="0">
                <a:solidFill>
                  <a:schemeClr val="bg1"/>
                </a:solidFill>
                <a:latin typeface="+mj-lt"/>
              </a:rPr>
              <a:t>Audit approach</a:t>
            </a:r>
          </a:p>
        </p:txBody>
      </p:sp>
      <p:sp>
        <p:nvSpPr>
          <p:cNvPr id="10" name="Chevron 9"/>
          <p:cNvSpPr/>
          <p:nvPr/>
        </p:nvSpPr>
        <p:spPr>
          <a:xfrm>
            <a:off x="6126958" y="132929"/>
            <a:ext cx="1386001" cy="516535"/>
          </a:xfrm>
          <a:prstGeom prst="chevron">
            <a:avLst/>
          </a:prstGeom>
          <a:solidFill>
            <a:schemeClr val="bg1">
              <a:lumMod val="85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88900" rIns="0" bIns="88900" rtlCol="0" anchor="ctr"/>
          <a:lstStyle/>
          <a:p>
            <a:pPr algn="ctr"/>
            <a:r>
              <a:rPr lang="en-US" sz="1200" dirty="0">
                <a:solidFill>
                  <a:schemeClr val="bg1"/>
                </a:solidFill>
                <a:latin typeface="+mj-lt"/>
              </a:rPr>
              <a:t>Conclusion</a:t>
            </a:r>
          </a:p>
        </p:txBody>
      </p:sp>
      <p:sp>
        <p:nvSpPr>
          <p:cNvPr id="11" name="Chevron 10"/>
          <p:cNvSpPr/>
          <p:nvPr/>
        </p:nvSpPr>
        <p:spPr>
          <a:xfrm>
            <a:off x="7319236" y="132929"/>
            <a:ext cx="1386001" cy="516535"/>
          </a:xfrm>
          <a:prstGeom prst="chevron">
            <a:avLst/>
          </a:prstGeom>
          <a:solidFill>
            <a:srgbClr val="223F87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88900" rIns="0" bIns="88900" rtlCol="0" anchor="ctr"/>
          <a:lstStyle/>
          <a:p>
            <a:r>
              <a:rPr lang="en-US" sz="1200" b="1" dirty="0">
                <a:solidFill>
                  <a:schemeClr val="bg1"/>
                </a:solidFill>
                <a:latin typeface="+mj-lt"/>
              </a:rPr>
              <a:t>Appendices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855121"/>
              </p:ext>
            </p:extLst>
          </p:nvPr>
        </p:nvGraphicFramePr>
        <p:xfrm>
          <a:off x="997859" y="957218"/>
          <a:ext cx="6515100" cy="3486150"/>
        </p:xfrm>
        <a:graphic>
          <a:graphicData uri="http://schemas.openxmlformats.org/drawingml/2006/table">
            <a:tbl>
              <a:tblPr firstRow="1" firstCol="1" bandRow="1"/>
              <a:tblGrid>
                <a:gridCol w="3467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00025">
                <a:tc>
                  <a:txBody>
                    <a:bodyPr/>
                    <a:lstStyle/>
                    <a:p>
                      <a:pPr algn="just" fontAlgn="ctr"/>
                      <a:r>
                        <a:rPr lang="fr-FR" sz="900" b="0" i="1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(in € millions)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20xx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20xx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Var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Var 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Note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just" fontAlgn="ctr"/>
                      <a:r>
                        <a:rPr lang="fr-F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EXTERNAL SALES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just" fontAlgn="ctr"/>
                      <a:r>
                        <a:rPr lang="fr-FR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Cost</a:t>
                      </a:r>
                      <a:r>
                        <a:rPr lang="fr-F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of sales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just" fontAlgn="ctr"/>
                      <a:r>
                        <a:rPr lang="fr-FR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Research</a:t>
                      </a:r>
                      <a:r>
                        <a:rPr lang="fr-F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and </a:t>
                      </a:r>
                      <a:r>
                        <a:rPr lang="fr-FR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development</a:t>
                      </a:r>
                      <a:r>
                        <a:rPr lang="fr-F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</a:t>
                      </a:r>
                      <a:r>
                        <a:rPr lang="fr-FR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costs</a:t>
                      </a:r>
                      <a:endParaRPr lang="fr-FR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just" fontAlgn="ctr"/>
                      <a:r>
                        <a:rPr lang="fr-FR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Selling</a:t>
                      </a:r>
                      <a:r>
                        <a:rPr lang="fr-F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and administrative </a:t>
                      </a:r>
                      <a:r>
                        <a:rPr lang="fr-FR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expenses</a:t>
                      </a:r>
                      <a:endParaRPr lang="fr-FR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just" fontAlgn="ctr"/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OPERATING INCOME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Amortization of intangible assets acquired in business combinations</a:t>
                      </a:r>
                      <a:endParaRPr lang="fr-FR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Other non-recurring operating income</a:t>
                      </a:r>
                      <a:endParaRPr lang="fr-FR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Other non-recurring operating expense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Income from loans, cash investments and marketable securities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just" fontAlgn="ctr"/>
                      <a:r>
                        <a:rPr lang="fr-F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Finance </a:t>
                      </a:r>
                      <a:r>
                        <a:rPr lang="fr-FR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costs</a:t>
                      </a:r>
                      <a:endParaRPr lang="fr-FR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Other financial income and expense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INCOME BEFORE </a:t>
                      </a:r>
                      <a:endParaRPr lang="fr-FR" sz="900" b="1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just" fontAlgn="ctr"/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Taxes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just" fontAlgn="ctr"/>
                      <a:r>
                        <a:rPr lang="fr-FR" sz="900" b="0" i="1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of which deferred taxes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0" i="1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0" i="1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0" i="1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0" i="1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0" i="1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NET INCOME </a:t>
                      </a:r>
                      <a:endParaRPr lang="fr-FR" sz="900" b="1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endParaRPr lang="fr-FR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12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12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just" fontAlgn="ctr"/>
                      <a:r>
                        <a:rPr lang="fr-F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INTERCOMPANY SALES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</a:tbl>
          </a:graphicData>
        </a:graphic>
      </p:graphicFrame>
      <p:sp>
        <p:nvSpPr>
          <p:cNvPr id="12" name="Slide Number Placeholder 9"/>
          <p:cNvSpPr>
            <a:spLocks noGrp="1"/>
          </p:cNvSpPr>
          <p:nvPr>
            <p:ph type="sldNum" sz="quarter" idx="12"/>
          </p:nvPr>
        </p:nvSpPr>
        <p:spPr>
          <a:xfrm>
            <a:off x="2700337" y="6482398"/>
            <a:ext cx="2057400" cy="365125"/>
          </a:xfrm>
        </p:spPr>
        <p:txBody>
          <a:bodyPr/>
          <a:lstStyle/>
          <a:p>
            <a:fld id="{661E6E57-A11E-4CD0-AED6-15B700CC2E98}" type="slidenum">
              <a:rPr lang="fr-FR" smtClean="0">
                <a:latin typeface="EYInterstate Light" panose="02000506000000020004" pitchFamily="2" charset="0"/>
              </a:rPr>
              <a:t>11</a:t>
            </a:fld>
            <a:endParaRPr lang="fr-FR" dirty="0">
              <a:latin typeface="EYInterstate Light" panose="02000506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32919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 txBox="1">
            <a:spLocks/>
          </p:cNvSpPr>
          <p:nvPr/>
        </p:nvSpPr>
        <p:spPr>
          <a:xfrm>
            <a:off x="323528" y="50376"/>
            <a:ext cx="8381710" cy="850106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700" b="1" dirty="0">
                <a:solidFill>
                  <a:prstClr val="black"/>
                </a:solidFill>
              </a:rPr>
              <a:t>P&amp;L</a:t>
            </a:r>
          </a:p>
          <a:p>
            <a:pPr lvl="0" algn="l"/>
            <a:r>
              <a:rPr lang="en-US" sz="1700" b="1" dirty="0">
                <a:solidFill>
                  <a:prstClr val="black"/>
                </a:solidFill>
              </a:rPr>
              <a:t>Analytical review</a:t>
            </a:r>
          </a:p>
          <a:p>
            <a:pPr algn="l"/>
            <a:endParaRPr lang="en-US" sz="1700" b="1" dirty="0">
              <a:latin typeface="EYInterstate Light" panose="02000506000000020004" pitchFamily="2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71046" y="2730676"/>
            <a:ext cx="8352717" cy="1023357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marL="0" lvl="1" algn="just">
              <a:buClr>
                <a:srgbClr val="002060"/>
              </a:buClr>
              <a:buSzPct val="75000"/>
            </a:pPr>
            <a:r>
              <a:rPr lang="fr-FR" sz="1200" b="1" i="1" u="sng" dirty="0" err="1">
                <a:latin typeface="+mj-lt"/>
              </a:rPr>
              <a:t>Comments</a:t>
            </a:r>
            <a:r>
              <a:rPr lang="fr-FR" sz="1050" b="1" u="sng" dirty="0">
                <a:solidFill>
                  <a:srgbClr val="C00000"/>
                </a:solidFill>
                <a:latin typeface="+mj-lt"/>
                <a:cs typeface="Calibri" panose="020F0502020204030204" pitchFamily="34" charset="0"/>
              </a:rPr>
              <a:t>: </a:t>
            </a:r>
          </a:p>
          <a:p>
            <a:pPr marL="0" lvl="1" algn="just">
              <a:buClr>
                <a:srgbClr val="002060"/>
              </a:buClr>
              <a:buSzPct val="75000"/>
            </a:pPr>
            <a:endParaRPr lang="fr-FR" sz="1050" b="1" u="sng" dirty="0">
              <a:solidFill>
                <a:srgbClr val="C00000"/>
              </a:solidFill>
              <a:latin typeface="+mj-lt"/>
              <a:cs typeface="Calibri" panose="020F0502020204030204" pitchFamily="34" charset="0"/>
            </a:endParaRPr>
          </a:p>
          <a:p>
            <a:pPr marL="0" lvl="1" algn="just">
              <a:buClr>
                <a:srgbClr val="002060"/>
              </a:buClr>
              <a:buSzPct val="75000"/>
            </a:pPr>
            <a:r>
              <a:rPr lang="fr-FR" sz="1100" b="1" i="1" dirty="0" err="1">
                <a:solidFill>
                  <a:srgbClr val="FF0000"/>
                </a:solidFill>
                <a:latin typeface="+mj-lt"/>
                <a:cs typeface="Calibri" panose="020F0502020204030204" pitchFamily="34" charset="0"/>
              </a:rPr>
              <a:t>Describe</a:t>
            </a:r>
            <a:r>
              <a:rPr lang="fr-FR" sz="1100" b="1" i="1" dirty="0">
                <a:solidFill>
                  <a:srgbClr val="FF0000"/>
                </a:solidFill>
                <a:latin typeface="+mj-lt"/>
                <a:cs typeface="Calibri" panose="020F0502020204030204" pitchFamily="34" charset="0"/>
              </a:rPr>
              <a:t> </a:t>
            </a:r>
            <a:r>
              <a:rPr lang="fr-FR" sz="1100" b="1" i="1" dirty="0" err="1">
                <a:solidFill>
                  <a:srgbClr val="FF0000"/>
                </a:solidFill>
                <a:latin typeface="+mj-lt"/>
                <a:cs typeface="Calibri" panose="020F0502020204030204" pitchFamily="34" charset="0"/>
              </a:rPr>
              <a:t>significant</a:t>
            </a:r>
            <a:r>
              <a:rPr lang="fr-FR" sz="1100" b="1" i="1" dirty="0">
                <a:solidFill>
                  <a:srgbClr val="FF0000"/>
                </a:solidFill>
                <a:latin typeface="+mj-lt"/>
                <a:cs typeface="Calibri" panose="020F0502020204030204" pitchFamily="34" charset="0"/>
              </a:rPr>
              <a:t> transactions and variations</a:t>
            </a:r>
          </a:p>
          <a:p>
            <a:pPr marL="0" lvl="1" algn="just">
              <a:buClr>
                <a:srgbClr val="002060"/>
              </a:buClr>
              <a:buSzPct val="75000"/>
            </a:pPr>
            <a:endParaRPr lang="fr-FR" sz="900" b="1" i="1" dirty="0">
              <a:solidFill>
                <a:srgbClr val="0070C0"/>
              </a:solidFill>
              <a:latin typeface="+mj-lt"/>
              <a:cs typeface="Calibri" panose="020F0502020204030204" pitchFamily="34" charset="0"/>
            </a:endParaRPr>
          </a:p>
          <a:p>
            <a:pPr marL="0" lvl="1" algn="just">
              <a:buClr>
                <a:srgbClr val="002060"/>
              </a:buClr>
              <a:buSzPct val="75000"/>
            </a:pPr>
            <a:r>
              <a:rPr lang="fr-FR" sz="900" b="1" dirty="0">
                <a:solidFill>
                  <a:srgbClr val="000000"/>
                </a:solidFill>
                <a:latin typeface="+mj-lt"/>
              </a:rPr>
              <a:t>(1)  </a:t>
            </a:r>
            <a:r>
              <a:rPr lang="fr-FR" sz="900" dirty="0">
                <a:solidFill>
                  <a:srgbClr val="000000"/>
                </a:solidFill>
                <a:latin typeface="+mj-lt"/>
              </a:rPr>
              <a:t>XXX</a:t>
            </a:r>
          </a:p>
          <a:p>
            <a:pPr marL="0" lvl="1" algn="just">
              <a:buClr>
                <a:srgbClr val="002060"/>
              </a:buClr>
              <a:buSzPct val="75000"/>
            </a:pPr>
            <a:endParaRPr lang="fr-FR" sz="900" b="1" dirty="0">
              <a:solidFill>
                <a:srgbClr val="000000"/>
              </a:solidFill>
              <a:latin typeface="+mj-lt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9451684"/>
              </p:ext>
            </p:extLst>
          </p:nvPr>
        </p:nvGraphicFramePr>
        <p:xfrm>
          <a:off x="1159264" y="4044493"/>
          <a:ext cx="6515100" cy="1081128"/>
        </p:xfrm>
        <a:graphic>
          <a:graphicData uri="http://schemas.openxmlformats.org/drawingml/2006/table">
            <a:tbl>
              <a:tblPr firstRow="1" firstCol="1" bandRow="1"/>
              <a:tblGrid>
                <a:gridCol w="3467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00025">
                <a:tc>
                  <a:txBody>
                    <a:bodyPr/>
                    <a:lstStyle/>
                    <a:p>
                      <a:pPr algn="just" fontAlgn="ctr"/>
                      <a:r>
                        <a:rPr lang="fr-FR" sz="900" b="0" i="1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(in € millions)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20xx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20xx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Var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Var 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Note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just" fontAlgn="ctr"/>
                      <a:r>
                        <a:rPr lang="fr-FR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Research</a:t>
                      </a:r>
                      <a:r>
                        <a:rPr lang="fr-FR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and </a:t>
                      </a:r>
                      <a:r>
                        <a:rPr lang="fr-FR" sz="900" b="0" i="0" u="none" strike="noStrike" baseline="0" dirty="0" err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developments</a:t>
                      </a:r>
                      <a:r>
                        <a:rPr lang="fr-FR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</a:t>
                      </a:r>
                      <a:r>
                        <a:rPr lang="fr-FR" sz="900" b="0" i="0" u="none" strike="noStrike" baseline="0" dirty="0" err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costs</a:t>
                      </a:r>
                      <a:r>
                        <a:rPr lang="fr-FR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, </a:t>
                      </a:r>
                      <a:r>
                        <a:rPr lang="fr-FR" sz="900" b="0" i="0" u="none" strike="noStrike" baseline="0" dirty="0" err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gross</a:t>
                      </a:r>
                      <a:endParaRPr lang="fr-FR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258">
                <a:tc>
                  <a:txBody>
                    <a:bodyPr/>
                    <a:lstStyle/>
                    <a:p>
                      <a:pPr algn="just" fontAlgn="ctr"/>
                      <a:r>
                        <a:rPr lang="fr-FR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Capitalized</a:t>
                      </a:r>
                      <a:r>
                        <a:rPr lang="fr-F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</a:t>
                      </a:r>
                      <a:r>
                        <a:rPr lang="fr-FR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development</a:t>
                      </a:r>
                      <a:r>
                        <a:rPr lang="fr-F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</a:t>
                      </a:r>
                      <a:r>
                        <a:rPr lang="fr-FR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costs</a:t>
                      </a:r>
                      <a:endParaRPr lang="fr-FR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0079">
                <a:tc>
                  <a:txBody>
                    <a:bodyPr/>
                    <a:lstStyle/>
                    <a:p>
                      <a:pPr algn="just" fontAlgn="ctr"/>
                      <a:r>
                        <a:rPr lang="fr-FR" sz="900" b="0" i="1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of </a:t>
                      </a:r>
                      <a:r>
                        <a:rPr lang="fr-FR" sz="900" b="0" i="1" u="none" strike="noStrike" dirty="0" err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which</a:t>
                      </a:r>
                      <a:r>
                        <a:rPr lang="fr-FR" sz="900" b="0" i="1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in </a:t>
                      </a:r>
                      <a:r>
                        <a:rPr lang="fr-FR" sz="900" b="0" i="1" u="none" strike="noStrike" dirty="0" err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inventory</a:t>
                      </a:r>
                      <a:endParaRPr lang="fr-FR" sz="900" b="0" i="1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 fontAlgn="ctr"/>
                      <a:r>
                        <a:rPr lang="fr-FR" sz="900" b="0" i="1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Of </a:t>
                      </a:r>
                      <a:r>
                        <a:rPr lang="fr-FR" sz="900" b="0" i="1" u="none" strike="noStrike" dirty="0" err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which</a:t>
                      </a:r>
                      <a:r>
                        <a:rPr lang="fr-FR" sz="900" b="0" i="1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in intangible </a:t>
                      </a:r>
                      <a:r>
                        <a:rPr lang="fr-FR" sz="900" b="0" i="1" u="none" strike="noStrike" dirty="0" err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assets</a:t>
                      </a:r>
                      <a:endParaRPr lang="fr-FR" sz="900" b="0" i="1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32196595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just" fontAlgn="ctr"/>
                      <a:r>
                        <a:rPr lang="fr-F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RESEARCH</a:t>
                      </a:r>
                      <a:r>
                        <a:rPr lang="fr-FR" sz="900" b="1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AND DEVELOPMENT COSTS</a:t>
                      </a:r>
                      <a:endParaRPr lang="fr-FR" sz="9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280097" y="5243089"/>
            <a:ext cx="8352717" cy="90794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marL="0" lvl="1" algn="just">
              <a:buClr>
                <a:srgbClr val="002060"/>
              </a:buClr>
              <a:buSzPct val="75000"/>
            </a:pPr>
            <a:r>
              <a:rPr lang="fr-FR" sz="1200" b="1" i="1" u="sng" dirty="0" err="1">
                <a:latin typeface="+mj-lt"/>
              </a:rPr>
              <a:t>Comments</a:t>
            </a:r>
            <a:r>
              <a:rPr lang="fr-FR" sz="1200" b="1" i="1" u="sng" dirty="0">
                <a:latin typeface="+mj-lt"/>
              </a:rPr>
              <a:t>: </a:t>
            </a:r>
          </a:p>
          <a:p>
            <a:pPr marL="0" lvl="1" algn="just">
              <a:buClr>
                <a:srgbClr val="002060"/>
              </a:buClr>
              <a:buSzPct val="75000"/>
            </a:pPr>
            <a:endParaRPr lang="fr-FR" sz="1050" b="1" u="sng" dirty="0">
              <a:solidFill>
                <a:srgbClr val="C00000"/>
              </a:solidFill>
              <a:latin typeface="+mj-lt"/>
              <a:cs typeface="Calibri" panose="020F0502020204030204" pitchFamily="34" charset="0"/>
            </a:endParaRPr>
          </a:p>
          <a:p>
            <a:pPr marL="0" lvl="1" algn="just">
              <a:buClr>
                <a:srgbClr val="002060"/>
              </a:buClr>
              <a:buSzPct val="75000"/>
            </a:pPr>
            <a:r>
              <a:rPr lang="fr-FR" sz="1100" b="1" i="1" dirty="0" err="1">
                <a:solidFill>
                  <a:srgbClr val="FF0000"/>
                </a:solidFill>
                <a:latin typeface="+mj-lt"/>
                <a:cs typeface="Calibri" panose="020F0502020204030204" pitchFamily="34" charset="0"/>
              </a:rPr>
              <a:t>Describe</a:t>
            </a:r>
            <a:r>
              <a:rPr lang="fr-FR" sz="1100" b="1" i="1" dirty="0">
                <a:solidFill>
                  <a:srgbClr val="FF0000"/>
                </a:solidFill>
                <a:latin typeface="+mj-lt"/>
                <a:cs typeface="Calibri" panose="020F0502020204030204" pitchFamily="34" charset="0"/>
              </a:rPr>
              <a:t> </a:t>
            </a:r>
            <a:r>
              <a:rPr lang="fr-FR" sz="1100" b="1" i="1" dirty="0" err="1">
                <a:solidFill>
                  <a:srgbClr val="FF0000"/>
                </a:solidFill>
                <a:latin typeface="+mj-lt"/>
                <a:cs typeface="Calibri" panose="020F0502020204030204" pitchFamily="34" charset="0"/>
              </a:rPr>
              <a:t>significant</a:t>
            </a:r>
            <a:r>
              <a:rPr lang="fr-FR" sz="1100" b="1" i="1" dirty="0">
                <a:solidFill>
                  <a:srgbClr val="FF0000"/>
                </a:solidFill>
                <a:latin typeface="+mj-lt"/>
                <a:cs typeface="Calibri" panose="020F0502020204030204" pitchFamily="34" charset="0"/>
              </a:rPr>
              <a:t> transactions and variations</a:t>
            </a:r>
          </a:p>
          <a:p>
            <a:pPr marL="0" lvl="1" algn="just">
              <a:buClr>
                <a:srgbClr val="002060"/>
              </a:buClr>
              <a:buSzPct val="75000"/>
            </a:pPr>
            <a:endParaRPr lang="fr-FR" sz="900" b="1" i="1" dirty="0">
              <a:solidFill>
                <a:srgbClr val="0070C0"/>
              </a:solidFill>
              <a:latin typeface="+mj-lt"/>
              <a:cs typeface="Calibri" panose="020F0502020204030204" pitchFamily="34" charset="0"/>
            </a:endParaRPr>
          </a:p>
          <a:p>
            <a:pPr marL="0" lvl="1" algn="just">
              <a:buClr>
                <a:srgbClr val="002060"/>
              </a:buClr>
              <a:buSzPct val="75000"/>
            </a:pPr>
            <a:endParaRPr lang="fr-FR" sz="1050" b="1" dirty="0">
              <a:solidFill>
                <a:srgbClr val="C00000"/>
              </a:solidFill>
              <a:latin typeface="+mj-lt"/>
              <a:cs typeface="Calibri" panose="020F0502020204030204" pitchFamily="34" charset="0"/>
            </a:endParaRPr>
          </a:p>
        </p:txBody>
      </p:sp>
      <p:graphicFrame>
        <p:nvGraphicFramePr>
          <p:cNvPr id="13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7478510"/>
              </p:ext>
            </p:extLst>
          </p:nvPr>
        </p:nvGraphicFramePr>
        <p:xfrm>
          <a:off x="1159264" y="955595"/>
          <a:ext cx="6515100" cy="1601580"/>
        </p:xfrm>
        <a:graphic>
          <a:graphicData uri="http://schemas.openxmlformats.org/drawingml/2006/table">
            <a:tbl>
              <a:tblPr firstRow="1" firstCol="1" bandRow="1"/>
              <a:tblGrid>
                <a:gridCol w="3467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00025">
                <a:tc>
                  <a:txBody>
                    <a:bodyPr/>
                    <a:lstStyle/>
                    <a:p>
                      <a:pPr algn="just" fontAlgn="ctr"/>
                      <a:r>
                        <a:rPr lang="fr-FR" sz="900" b="0" i="1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(in € millions)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20xx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20xx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Var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Var 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Note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1477">
                <a:tc>
                  <a:txBody>
                    <a:bodyPr/>
                    <a:lstStyle/>
                    <a:p>
                      <a:pPr marL="0" algn="just" defTabSz="914400" rtl="0" eaLnBrk="1" fontAlgn="ctr" latinLnBrk="0" hangingPunct="1"/>
                      <a:r>
                        <a:rPr lang="fr-FR" sz="900" b="0" i="0" u="none" strike="noStrike" kern="1200" baseline="0" dirty="0" err="1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Amortization</a:t>
                      </a:r>
                      <a:r>
                        <a:rPr lang="fr-FR" sz="900" b="0" i="0" u="none" strike="noStrike" kern="1200" baseline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 of </a:t>
                      </a:r>
                      <a:r>
                        <a:rPr lang="fr-FR" sz="900" b="0" i="0" u="none" strike="noStrike" kern="1200" baseline="0" dirty="0" err="1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capitalized</a:t>
                      </a:r>
                      <a:r>
                        <a:rPr lang="fr-FR" sz="900" b="0" i="0" u="none" strike="noStrike" kern="1200" baseline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 </a:t>
                      </a:r>
                      <a:r>
                        <a:rPr lang="fr-FR" sz="900" b="0" i="0" u="none" strike="noStrike" kern="1200" baseline="0" dirty="0" err="1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development</a:t>
                      </a:r>
                      <a:r>
                        <a:rPr lang="fr-FR" sz="900" b="0" i="0" u="none" strike="noStrike" kern="1200" baseline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 </a:t>
                      </a:r>
                      <a:r>
                        <a:rPr lang="fr-FR" sz="900" b="0" i="0" u="none" strike="noStrike" kern="1200" baseline="0" dirty="0" err="1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costs</a:t>
                      </a:r>
                      <a:endParaRPr lang="fr-FR" sz="900" b="0" i="0" u="none" strike="noStrike" kern="1200" baseline="0" dirty="0">
                        <a:solidFill>
                          <a:srgbClr val="000000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(1)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9176">
                <a:tc>
                  <a:txBody>
                    <a:bodyPr/>
                    <a:lstStyle/>
                    <a:p>
                      <a:pPr marL="0" algn="just" defTabSz="914400" rtl="0" eaLnBrk="1" fontAlgn="ctr" latinLnBrk="0" hangingPunct="1"/>
                      <a:r>
                        <a:rPr lang="fr-FR" sz="900" b="0" i="0" u="none" strike="noStrike" kern="1200" baseline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Provisions for </a:t>
                      </a:r>
                      <a:r>
                        <a:rPr lang="fr-FR" sz="900" b="0" i="0" u="none" strike="noStrike" kern="1200" baseline="0" dirty="0" err="1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impairment</a:t>
                      </a:r>
                      <a:r>
                        <a:rPr lang="fr-FR" sz="900" b="0" i="0" u="none" strike="noStrike" kern="1200" baseline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 of </a:t>
                      </a:r>
                      <a:r>
                        <a:rPr lang="fr-FR" sz="900" b="0" i="0" u="none" strike="noStrike" kern="1200" baseline="0" dirty="0" err="1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capitalized</a:t>
                      </a:r>
                      <a:r>
                        <a:rPr lang="fr-FR" sz="900" b="0" i="0" u="none" strike="noStrike" kern="1200" baseline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 </a:t>
                      </a:r>
                      <a:r>
                        <a:rPr lang="fr-FR" sz="900" b="0" i="0" u="none" strike="noStrike" kern="1200" baseline="0" dirty="0" err="1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development</a:t>
                      </a:r>
                      <a:r>
                        <a:rPr lang="fr-FR" sz="900" b="0" i="0" u="none" strike="noStrike" kern="1200" baseline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 </a:t>
                      </a:r>
                      <a:r>
                        <a:rPr lang="fr-FR" sz="900" b="0" i="0" u="none" strike="noStrike" kern="1200" baseline="0" dirty="0" err="1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costs</a:t>
                      </a:r>
                      <a:endParaRPr lang="fr-FR" sz="900" b="0" i="0" u="none" strike="noStrike" kern="1200" baseline="0" dirty="0">
                        <a:solidFill>
                          <a:srgbClr val="000000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(2)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6586910"/>
                  </a:ext>
                </a:extLst>
              </a:tr>
              <a:tr h="190123">
                <a:tc>
                  <a:txBody>
                    <a:bodyPr/>
                    <a:lstStyle/>
                    <a:p>
                      <a:pPr marL="0" algn="just" defTabSz="914400" rtl="0" eaLnBrk="1" fontAlgn="ctr" latinLnBrk="0" hangingPunct="1"/>
                      <a:r>
                        <a:rPr lang="fr-FR" sz="900" b="0" i="0" u="none" strike="noStrike" kern="1200" baseline="0" dirty="0" err="1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Amortization</a:t>
                      </a:r>
                      <a:r>
                        <a:rPr lang="fr-FR" sz="900" b="0" i="0" u="none" strike="noStrike" kern="1200" baseline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 of </a:t>
                      </a:r>
                      <a:r>
                        <a:rPr lang="fr-FR" sz="900" b="0" i="0" u="none" strike="noStrike" kern="1200" baseline="0" dirty="0" err="1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other</a:t>
                      </a:r>
                      <a:r>
                        <a:rPr lang="fr-FR" sz="900" b="0" i="0" u="none" strike="noStrike" kern="1200" baseline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 intangible </a:t>
                      </a:r>
                      <a:r>
                        <a:rPr lang="fr-FR" sz="900" b="0" i="0" u="none" strike="noStrike" kern="1200" baseline="0" dirty="0" err="1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assets</a:t>
                      </a:r>
                      <a:endParaRPr lang="fr-FR" sz="900" b="0" i="0" u="none" strike="noStrike" kern="1200" baseline="0" dirty="0">
                        <a:solidFill>
                          <a:srgbClr val="000000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…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48528751"/>
                  </a:ext>
                </a:extLst>
              </a:tr>
              <a:tr h="217283">
                <a:tc>
                  <a:txBody>
                    <a:bodyPr/>
                    <a:lstStyle/>
                    <a:p>
                      <a:pPr marL="0" algn="just" defTabSz="914400" rtl="0" eaLnBrk="1" fontAlgn="ctr" latinLnBrk="0" hangingPunct="1"/>
                      <a:r>
                        <a:rPr lang="fr-FR" sz="900" b="0" i="0" u="none" strike="noStrike" kern="1200" baseline="0" dirty="0" err="1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Depreciation</a:t>
                      </a:r>
                      <a:r>
                        <a:rPr lang="fr-FR" sz="900" b="0" i="0" u="none" strike="noStrike" kern="1200" baseline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 of </a:t>
                      </a:r>
                      <a:r>
                        <a:rPr lang="fr-FR" sz="900" b="0" i="0" u="none" strike="noStrike" kern="1200" baseline="0" dirty="0" err="1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specific</a:t>
                      </a:r>
                      <a:r>
                        <a:rPr lang="fr-FR" sz="900" b="0" i="0" u="none" strike="noStrike" kern="1200" baseline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 </a:t>
                      </a:r>
                      <a:r>
                        <a:rPr lang="fr-FR" sz="900" b="0" i="0" u="none" strike="noStrike" kern="1200" baseline="0" dirty="0" err="1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tooling</a:t>
                      </a:r>
                      <a:endParaRPr lang="fr-FR" sz="900" b="0" i="0" u="none" strike="noStrike" kern="1200" baseline="0" dirty="0">
                        <a:solidFill>
                          <a:srgbClr val="000000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2016">
                <a:tc>
                  <a:txBody>
                    <a:bodyPr/>
                    <a:lstStyle/>
                    <a:p>
                      <a:pPr marL="0" algn="just" defTabSz="914400" rtl="0" eaLnBrk="1" fontAlgn="ctr" latinLnBrk="0" hangingPunct="1"/>
                      <a:r>
                        <a:rPr lang="fr-FR" sz="900" b="0" i="0" u="none" strike="noStrike" kern="1200" baseline="0" dirty="0" err="1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Depreciation</a:t>
                      </a:r>
                      <a:r>
                        <a:rPr lang="fr-FR" sz="900" b="0" i="0" u="none" strike="noStrike" kern="1200" baseline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 and </a:t>
                      </a:r>
                      <a:r>
                        <a:rPr lang="fr-FR" sz="900" b="0" i="0" u="none" strike="noStrike" kern="1200" baseline="0" dirty="0" err="1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impairment</a:t>
                      </a:r>
                      <a:r>
                        <a:rPr lang="fr-FR" sz="900" b="0" i="0" u="none" strike="noStrike" kern="1200" baseline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 of </a:t>
                      </a:r>
                      <a:r>
                        <a:rPr lang="fr-FR" sz="900" b="0" i="0" u="none" strike="noStrike" kern="1200" baseline="0" dirty="0" err="1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other</a:t>
                      </a:r>
                      <a:r>
                        <a:rPr lang="fr-FR" sz="900" b="0" i="0" u="none" strike="noStrike" kern="1200" baseline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 </a:t>
                      </a:r>
                      <a:r>
                        <a:rPr lang="fr-FR" sz="900" b="0" i="0" u="none" strike="noStrike" kern="1200" baseline="0" dirty="0" err="1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property</a:t>
                      </a:r>
                      <a:r>
                        <a:rPr lang="fr-FR" sz="900" b="0" i="0" u="none" strike="noStrike" kern="1200" baseline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, plant and </a:t>
                      </a:r>
                      <a:r>
                        <a:rPr lang="fr-FR" sz="900" b="0" i="0" u="none" strike="noStrike" kern="1200" baseline="0" dirty="0" err="1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equipment</a:t>
                      </a:r>
                      <a:endParaRPr lang="fr-FR" sz="900" b="0" i="0" u="none" strike="noStrike" kern="1200" baseline="0" dirty="0">
                        <a:solidFill>
                          <a:srgbClr val="000000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72672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 fontAlgn="ctr"/>
                      <a:endParaRPr lang="fr-FR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04819576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just" fontAlgn="ctr"/>
                      <a:r>
                        <a:rPr lang="fr-F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DEPRECIATION,</a:t>
                      </a:r>
                      <a:r>
                        <a:rPr lang="fr-FR" sz="900" b="1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AMORTIZATION AND PROVISIONS FOR IMPAIRMENT IN VALUE OF NON-CRRENT ASSETS</a:t>
                      </a:r>
                      <a:endParaRPr lang="fr-FR" sz="9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4" name="Pentagon 6"/>
          <p:cNvSpPr/>
          <p:nvPr/>
        </p:nvSpPr>
        <p:spPr>
          <a:xfrm>
            <a:off x="3723814" y="132929"/>
            <a:ext cx="1386001" cy="516535"/>
          </a:xfrm>
          <a:prstGeom prst="homePlate">
            <a:avLst/>
          </a:prstGeom>
          <a:solidFill>
            <a:schemeClr val="bg1">
              <a:lumMod val="85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88900" rIns="88900" bIns="88900" rtlCol="0" anchor="ctr"/>
          <a:lstStyle/>
          <a:p>
            <a:pPr algn="ctr"/>
            <a:r>
              <a:rPr lang="en-US" sz="1200" dirty="0">
                <a:solidFill>
                  <a:schemeClr val="bg1"/>
                </a:solidFill>
                <a:latin typeface="+mj-lt"/>
              </a:rPr>
              <a:t>Context</a:t>
            </a:r>
          </a:p>
        </p:txBody>
      </p:sp>
      <p:sp>
        <p:nvSpPr>
          <p:cNvPr id="15" name="Chevron 8"/>
          <p:cNvSpPr/>
          <p:nvPr/>
        </p:nvSpPr>
        <p:spPr>
          <a:xfrm>
            <a:off x="4930617" y="132929"/>
            <a:ext cx="1386001" cy="516535"/>
          </a:xfrm>
          <a:prstGeom prst="chevron">
            <a:avLst/>
          </a:prstGeom>
          <a:solidFill>
            <a:schemeClr val="bg1">
              <a:lumMod val="85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88900" rIns="0" bIns="88900" rtlCol="0" anchor="ctr"/>
          <a:lstStyle/>
          <a:p>
            <a:pPr algn="ctr"/>
            <a:r>
              <a:rPr lang="en-US" sz="1200" dirty="0">
                <a:solidFill>
                  <a:schemeClr val="bg1"/>
                </a:solidFill>
                <a:latin typeface="+mj-lt"/>
              </a:rPr>
              <a:t>Audit approach</a:t>
            </a:r>
          </a:p>
        </p:txBody>
      </p:sp>
      <p:sp>
        <p:nvSpPr>
          <p:cNvPr id="16" name="Chevron 9"/>
          <p:cNvSpPr/>
          <p:nvPr/>
        </p:nvSpPr>
        <p:spPr>
          <a:xfrm>
            <a:off x="6126958" y="132929"/>
            <a:ext cx="1386001" cy="516535"/>
          </a:xfrm>
          <a:prstGeom prst="chevron">
            <a:avLst/>
          </a:prstGeom>
          <a:solidFill>
            <a:schemeClr val="bg1">
              <a:lumMod val="85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88900" rIns="0" bIns="88900" rtlCol="0" anchor="ctr"/>
          <a:lstStyle/>
          <a:p>
            <a:pPr algn="ctr"/>
            <a:r>
              <a:rPr lang="en-US" sz="1200" dirty="0">
                <a:solidFill>
                  <a:schemeClr val="bg1"/>
                </a:solidFill>
                <a:latin typeface="+mj-lt"/>
              </a:rPr>
              <a:t>Conclusion</a:t>
            </a:r>
          </a:p>
        </p:txBody>
      </p:sp>
      <p:sp>
        <p:nvSpPr>
          <p:cNvPr id="17" name="Chevron 10"/>
          <p:cNvSpPr/>
          <p:nvPr/>
        </p:nvSpPr>
        <p:spPr>
          <a:xfrm>
            <a:off x="7319236" y="132929"/>
            <a:ext cx="1386001" cy="516535"/>
          </a:xfrm>
          <a:prstGeom prst="chevron">
            <a:avLst/>
          </a:prstGeom>
          <a:solidFill>
            <a:srgbClr val="223F87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88900" rIns="0" bIns="88900" rtlCol="0" anchor="ctr"/>
          <a:lstStyle/>
          <a:p>
            <a:r>
              <a:rPr lang="en-US" sz="1200" b="1" dirty="0">
                <a:solidFill>
                  <a:schemeClr val="bg1"/>
                </a:solidFill>
                <a:latin typeface="+mj-lt"/>
              </a:rPr>
              <a:t>Appendices</a:t>
            </a:r>
          </a:p>
        </p:txBody>
      </p:sp>
      <p:sp>
        <p:nvSpPr>
          <p:cNvPr id="18" name="Slide Number Placeholder 9"/>
          <p:cNvSpPr>
            <a:spLocks noGrp="1"/>
          </p:cNvSpPr>
          <p:nvPr>
            <p:ph type="sldNum" sz="quarter" idx="12"/>
          </p:nvPr>
        </p:nvSpPr>
        <p:spPr>
          <a:xfrm>
            <a:off x="2700337" y="6482398"/>
            <a:ext cx="2057400" cy="365125"/>
          </a:xfrm>
        </p:spPr>
        <p:txBody>
          <a:bodyPr/>
          <a:lstStyle/>
          <a:p>
            <a:fld id="{661E6E57-A11E-4CD0-AED6-15B700CC2E98}" type="slidenum">
              <a:rPr lang="fr-FR" smtClean="0">
                <a:latin typeface="EYInterstate Light" panose="02000506000000020004" pitchFamily="2" charset="0"/>
              </a:rPr>
              <a:t>12</a:t>
            </a:fld>
            <a:endParaRPr lang="fr-FR" dirty="0">
              <a:latin typeface="EYInterstate Light" panose="02000506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20113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 txBox="1">
            <a:spLocks/>
          </p:cNvSpPr>
          <p:nvPr/>
        </p:nvSpPr>
        <p:spPr>
          <a:xfrm>
            <a:off x="323528" y="50376"/>
            <a:ext cx="8381710" cy="850106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700" b="1" dirty="0">
                <a:solidFill>
                  <a:prstClr val="black"/>
                </a:solidFill>
              </a:rPr>
              <a:t>P&amp;L</a:t>
            </a:r>
          </a:p>
          <a:p>
            <a:pPr lvl="0" algn="l"/>
            <a:r>
              <a:rPr lang="en-US" sz="1700" b="1" dirty="0">
                <a:solidFill>
                  <a:prstClr val="black"/>
                </a:solidFill>
              </a:rPr>
              <a:t>Analytical review</a:t>
            </a:r>
          </a:p>
          <a:p>
            <a:pPr algn="l"/>
            <a:endParaRPr lang="en-US" sz="1700" b="1" dirty="0">
              <a:latin typeface="EYInterstate Light" panose="02000506000000020004" pitchFamily="2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58561" y="1943135"/>
            <a:ext cx="8352717" cy="90794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marL="0" lvl="1" algn="just">
              <a:buClr>
                <a:srgbClr val="002060"/>
              </a:buClr>
              <a:buSzPct val="75000"/>
            </a:pPr>
            <a:r>
              <a:rPr lang="fr-FR" sz="1200" b="1" i="1" u="sng" dirty="0" err="1">
                <a:latin typeface="+mj-lt"/>
              </a:rPr>
              <a:t>Comments</a:t>
            </a:r>
            <a:r>
              <a:rPr lang="fr-FR" sz="1050" b="1" u="sng" dirty="0">
                <a:solidFill>
                  <a:srgbClr val="C00000"/>
                </a:solidFill>
                <a:latin typeface="+mj-lt"/>
                <a:cs typeface="Calibri" panose="020F0502020204030204" pitchFamily="34" charset="0"/>
              </a:rPr>
              <a:t>: </a:t>
            </a:r>
          </a:p>
          <a:p>
            <a:pPr marL="0" lvl="1" algn="just">
              <a:buClr>
                <a:srgbClr val="002060"/>
              </a:buClr>
              <a:buSzPct val="75000"/>
            </a:pPr>
            <a:endParaRPr lang="fr-FR" sz="1050" b="1" u="sng" dirty="0">
              <a:solidFill>
                <a:srgbClr val="C00000"/>
              </a:solidFill>
              <a:latin typeface="+mj-lt"/>
              <a:cs typeface="Calibri" panose="020F0502020204030204" pitchFamily="34" charset="0"/>
            </a:endParaRPr>
          </a:p>
          <a:p>
            <a:pPr marL="0" lvl="1" algn="just">
              <a:buClr>
                <a:srgbClr val="002060"/>
              </a:buClr>
              <a:buSzPct val="75000"/>
            </a:pPr>
            <a:r>
              <a:rPr lang="fr-FR" sz="1100" b="1" i="1" dirty="0" err="1">
                <a:solidFill>
                  <a:srgbClr val="FF0000"/>
                </a:solidFill>
                <a:latin typeface="+mj-lt"/>
                <a:cs typeface="Calibri" panose="020F0502020204030204" pitchFamily="34" charset="0"/>
              </a:rPr>
              <a:t>Describe</a:t>
            </a:r>
            <a:r>
              <a:rPr lang="fr-FR" sz="1100" b="1" i="1" dirty="0">
                <a:solidFill>
                  <a:srgbClr val="FF0000"/>
                </a:solidFill>
                <a:latin typeface="+mj-lt"/>
                <a:cs typeface="Calibri" panose="020F0502020204030204" pitchFamily="34" charset="0"/>
              </a:rPr>
              <a:t> </a:t>
            </a:r>
            <a:r>
              <a:rPr lang="fr-FR" sz="1100" b="1" i="1" dirty="0" err="1">
                <a:solidFill>
                  <a:srgbClr val="FF0000"/>
                </a:solidFill>
                <a:latin typeface="+mj-lt"/>
                <a:cs typeface="Calibri" panose="020F0502020204030204" pitchFamily="34" charset="0"/>
              </a:rPr>
              <a:t>significant</a:t>
            </a:r>
            <a:r>
              <a:rPr lang="fr-FR" sz="1100" b="1" i="1" dirty="0">
                <a:solidFill>
                  <a:srgbClr val="FF0000"/>
                </a:solidFill>
                <a:latin typeface="+mj-lt"/>
                <a:cs typeface="Calibri" panose="020F0502020204030204" pitchFamily="34" charset="0"/>
              </a:rPr>
              <a:t> transactions and variations</a:t>
            </a:r>
          </a:p>
          <a:p>
            <a:pPr marL="0" lvl="1" algn="just">
              <a:buClr>
                <a:srgbClr val="002060"/>
              </a:buClr>
              <a:buSzPct val="75000"/>
            </a:pPr>
            <a:endParaRPr lang="fr-FR" sz="900" b="1" i="1" dirty="0">
              <a:solidFill>
                <a:srgbClr val="0070C0"/>
              </a:solidFill>
              <a:latin typeface="+mj-lt"/>
              <a:cs typeface="Calibri" panose="020F0502020204030204" pitchFamily="34" charset="0"/>
            </a:endParaRPr>
          </a:p>
          <a:p>
            <a:pPr marL="0" lvl="1" algn="just">
              <a:buClr>
                <a:srgbClr val="002060"/>
              </a:buClr>
              <a:buSzPct val="75000"/>
            </a:pPr>
            <a:endParaRPr lang="fr-FR" sz="1050" b="1" dirty="0">
              <a:solidFill>
                <a:srgbClr val="C00000"/>
              </a:solidFill>
              <a:latin typeface="+mj-lt"/>
              <a:cs typeface="Calibri" panose="020F0502020204030204" pitchFamily="34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240455" y="4283417"/>
            <a:ext cx="8352717" cy="90794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marL="0" lvl="1" algn="just">
              <a:buClr>
                <a:srgbClr val="002060"/>
              </a:buClr>
              <a:buSzPct val="75000"/>
            </a:pPr>
            <a:r>
              <a:rPr lang="fr-FR" sz="1200" b="1" i="1" u="sng" dirty="0" err="1">
                <a:latin typeface="+mj-lt"/>
              </a:rPr>
              <a:t>Comments</a:t>
            </a:r>
            <a:r>
              <a:rPr lang="fr-FR" sz="1200" b="1" i="1" u="sng" dirty="0">
                <a:latin typeface="+mj-lt"/>
              </a:rPr>
              <a:t>: </a:t>
            </a:r>
          </a:p>
          <a:p>
            <a:pPr marL="0" lvl="1" algn="just">
              <a:buClr>
                <a:srgbClr val="002060"/>
              </a:buClr>
              <a:buSzPct val="75000"/>
            </a:pPr>
            <a:endParaRPr lang="fr-FR" sz="1050" b="1" u="sng" dirty="0">
              <a:solidFill>
                <a:srgbClr val="C00000"/>
              </a:solidFill>
              <a:latin typeface="+mj-lt"/>
              <a:cs typeface="Calibri" panose="020F0502020204030204" pitchFamily="34" charset="0"/>
            </a:endParaRPr>
          </a:p>
          <a:p>
            <a:pPr marL="0" lvl="1" algn="just">
              <a:buClr>
                <a:srgbClr val="002060"/>
              </a:buClr>
              <a:buSzPct val="75000"/>
            </a:pPr>
            <a:r>
              <a:rPr lang="fr-FR" sz="1100" b="1" i="1" dirty="0" err="1">
                <a:solidFill>
                  <a:srgbClr val="FF0000"/>
                </a:solidFill>
                <a:latin typeface="+mj-lt"/>
                <a:cs typeface="Calibri" panose="020F0502020204030204" pitchFamily="34" charset="0"/>
              </a:rPr>
              <a:t>Describe</a:t>
            </a:r>
            <a:r>
              <a:rPr lang="fr-FR" sz="1100" b="1" i="1" dirty="0">
                <a:solidFill>
                  <a:srgbClr val="FF0000"/>
                </a:solidFill>
                <a:latin typeface="+mj-lt"/>
                <a:cs typeface="Calibri" panose="020F0502020204030204" pitchFamily="34" charset="0"/>
              </a:rPr>
              <a:t> </a:t>
            </a:r>
            <a:r>
              <a:rPr lang="fr-FR" sz="1100" b="1" i="1" dirty="0" err="1">
                <a:solidFill>
                  <a:srgbClr val="FF0000"/>
                </a:solidFill>
                <a:latin typeface="+mj-lt"/>
                <a:cs typeface="Calibri" panose="020F0502020204030204" pitchFamily="34" charset="0"/>
              </a:rPr>
              <a:t>significant</a:t>
            </a:r>
            <a:r>
              <a:rPr lang="fr-FR" sz="1100" b="1" i="1" dirty="0">
                <a:solidFill>
                  <a:srgbClr val="FF0000"/>
                </a:solidFill>
                <a:latin typeface="+mj-lt"/>
                <a:cs typeface="Calibri" panose="020F0502020204030204" pitchFamily="34" charset="0"/>
              </a:rPr>
              <a:t> transactions and variations</a:t>
            </a:r>
          </a:p>
          <a:p>
            <a:pPr marL="0" lvl="1" algn="just">
              <a:buClr>
                <a:srgbClr val="002060"/>
              </a:buClr>
              <a:buSzPct val="75000"/>
            </a:pPr>
            <a:endParaRPr lang="fr-FR" sz="900" b="1" i="1" dirty="0">
              <a:solidFill>
                <a:srgbClr val="0070C0"/>
              </a:solidFill>
              <a:latin typeface="+mj-lt"/>
              <a:cs typeface="Calibri" panose="020F0502020204030204" pitchFamily="34" charset="0"/>
            </a:endParaRPr>
          </a:p>
          <a:p>
            <a:pPr marL="0" lvl="1" algn="just">
              <a:buClr>
                <a:srgbClr val="002060"/>
              </a:buClr>
              <a:buSzPct val="75000"/>
            </a:pPr>
            <a:endParaRPr lang="fr-FR" sz="1050" b="1" dirty="0">
              <a:solidFill>
                <a:srgbClr val="C00000"/>
              </a:solidFill>
              <a:latin typeface="+mj-lt"/>
              <a:cs typeface="Calibri" panose="020F0502020204030204" pitchFamily="34" charset="0"/>
            </a:endParaRPr>
          </a:p>
        </p:txBody>
      </p:sp>
      <p:graphicFrame>
        <p:nvGraphicFramePr>
          <p:cNvPr id="13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7270262"/>
              </p:ext>
            </p:extLst>
          </p:nvPr>
        </p:nvGraphicFramePr>
        <p:xfrm>
          <a:off x="1159264" y="955595"/>
          <a:ext cx="6515100" cy="955535"/>
        </p:xfrm>
        <a:graphic>
          <a:graphicData uri="http://schemas.openxmlformats.org/drawingml/2006/table">
            <a:tbl>
              <a:tblPr firstRow="1" firstCol="1" bandRow="1"/>
              <a:tblGrid>
                <a:gridCol w="3467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00025">
                <a:tc>
                  <a:txBody>
                    <a:bodyPr/>
                    <a:lstStyle/>
                    <a:p>
                      <a:pPr algn="just" fontAlgn="ctr"/>
                      <a:r>
                        <a:rPr lang="fr-FR" sz="900" b="0" i="1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(in € millions)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20xx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20xx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Var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Var 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Note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1453">
                <a:tc>
                  <a:txBody>
                    <a:bodyPr/>
                    <a:lstStyle/>
                    <a:p>
                      <a:pPr marL="0" algn="just" defTabSz="914400" rtl="0" eaLnBrk="1" fontAlgn="ctr" latinLnBrk="0" hangingPunct="1"/>
                      <a:r>
                        <a:rPr lang="fr-FR" sz="900" b="0" i="0" u="none" strike="noStrike" kern="1200" baseline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Release of provision for </a:t>
                      </a:r>
                      <a:r>
                        <a:rPr lang="fr-FR" sz="900" b="0" i="0" u="none" strike="noStrike" kern="1200" baseline="0" dirty="0" err="1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impairment</a:t>
                      </a:r>
                      <a:r>
                        <a:rPr lang="fr-FR" sz="900" b="0" i="0" u="none" strike="noStrike" kern="1200" baseline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 of </a:t>
                      </a:r>
                      <a:r>
                        <a:rPr lang="fr-FR" sz="900" b="0" i="0" u="none" strike="noStrike" kern="1200" baseline="0" dirty="0" err="1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assets</a:t>
                      </a:r>
                      <a:endParaRPr lang="fr-FR" sz="900" b="0" i="0" u="none" strike="noStrike" kern="1200" baseline="0" dirty="0">
                        <a:solidFill>
                          <a:srgbClr val="000000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4856">
                <a:tc>
                  <a:txBody>
                    <a:bodyPr/>
                    <a:lstStyle/>
                    <a:p>
                      <a:pPr marL="0" algn="just" defTabSz="914400" rtl="0" eaLnBrk="1" fontAlgn="ctr" latinLnBrk="0" hangingPunct="1"/>
                      <a:r>
                        <a:rPr lang="fr-FR" sz="900" b="0" i="0" u="none" strike="noStrike" kern="1200" baseline="0" dirty="0" err="1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Losses</a:t>
                      </a:r>
                      <a:r>
                        <a:rPr lang="fr-FR" sz="900" b="0" i="0" u="none" strike="noStrike" kern="1200" baseline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 on </a:t>
                      </a:r>
                      <a:r>
                        <a:rPr lang="fr-FR" sz="900" b="0" i="0" u="none" strike="noStrike" kern="1200" baseline="0" dirty="0" err="1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disposals</a:t>
                      </a:r>
                      <a:r>
                        <a:rPr lang="fr-FR" sz="900" b="0" i="0" u="none" strike="noStrike" kern="1200" baseline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 of </a:t>
                      </a:r>
                      <a:r>
                        <a:rPr lang="fr-FR" sz="900" b="0" i="0" u="none" strike="noStrike" kern="1200" baseline="0" dirty="0" err="1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assets</a:t>
                      </a:r>
                      <a:endParaRPr lang="fr-FR" sz="900" b="0" i="0" u="none" strike="noStrike" kern="1200" baseline="0" dirty="0">
                        <a:solidFill>
                          <a:srgbClr val="000000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48904776"/>
                  </a:ext>
                </a:extLst>
              </a:tr>
              <a:tr h="199176">
                <a:tc>
                  <a:txBody>
                    <a:bodyPr/>
                    <a:lstStyle/>
                    <a:p>
                      <a:pPr marL="0" algn="just" defTabSz="914400" rtl="0" eaLnBrk="1" fontAlgn="ctr" latinLnBrk="0" hangingPunct="1"/>
                      <a:r>
                        <a:rPr lang="fr-FR" sz="900" b="0" i="0" u="none" strike="noStrike" kern="1200" baseline="0" dirty="0" err="1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Others</a:t>
                      </a:r>
                      <a:endParaRPr lang="fr-FR" sz="900" b="0" i="0" u="none" strike="noStrike" kern="1200" baseline="0" dirty="0">
                        <a:solidFill>
                          <a:srgbClr val="000000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6586910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just" fontAlgn="ctr"/>
                      <a:r>
                        <a:rPr lang="fr-F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OTHER NON RECURRING OPERATING INCOME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4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3242321"/>
              </p:ext>
            </p:extLst>
          </p:nvPr>
        </p:nvGraphicFramePr>
        <p:xfrm>
          <a:off x="1159263" y="2883081"/>
          <a:ext cx="6515100" cy="1223555"/>
        </p:xfrm>
        <a:graphic>
          <a:graphicData uri="http://schemas.openxmlformats.org/drawingml/2006/table">
            <a:tbl>
              <a:tblPr firstRow="1" firstCol="1" bandRow="1"/>
              <a:tblGrid>
                <a:gridCol w="3467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00025">
                <a:tc>
                  <a:txBody>
                    <a:bodyPr/>
                    <a:lstStyle/>
                    <a:p>
                      <a:pPr algn="just" fontAlgn="ctr"/>
                      <a:r>
                        <a:rPr lang="fr-FR" sz="900" b="0" i="1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(in € millions)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20xx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20xx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Var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Var 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Note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1477">
                <a:tc>
                  <a:txBody>
                    <a:bodyPr/>
                    <a:lstStyle/>
                    <a:p>
                      <a:pPr marL="0" algn="just" defTabSz="914400" rtl="0" eaLnBrk="1" fontAlgn="ctr" latinLnBrk="0" hangingPunct="1"/>
                      <a:r>
                        <a:rPr lang="fr-FR" sz="900" b="0" i="0" u="none" strike="noStrike" kern="1200" baseline="0" dirty="0" err="1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Other</a:t>
                      </a:r>
                      <a:r>
                        <a:rPr lang="fr-FR" sz="900" b="0" i="0" u="none" strike="noStrike" kern="1200" baseline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 provisions for </a:t>
                      </a:r>
                      <a:r>
                        <a:rPr lang="fr-FR" sz="900" b="0" i="0" u="none" strike="noStrike" kern="1200" baseline="0" dirty="0" err="1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impairment</a:t>
                      </a:r>
                      <a:r>
                        <a:rPr lang="fr-FR" sz="900" b="0" i="0" u="none" strike="noStrike" kern="1200" baseline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 of </a:t>
                      </a:r>
                      <a:r>
                        <a:rPr lang="fr-FR" sz="900" b="0" i="0" u="none" strike="noStrike" kern="1200" baseline="0" dirty="0" err="1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assets</a:t>
                      </a:r>
                      <a:endParaRPr lang="fr-FR" sz="900" b="0" i="0" u="none" strike="noStrike" kern="1200" baseline="0" dirty="0">
                        <a:solidFill>
                          <a:srgbClr val="000000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3675">
                <a:tc>
                  <a:txBody>
                    <a:bodyPr/>
                    <a:lstStyle/>
                    <a:p>
                      <a:pPr marL="0" algn="just" defTabSz="914400" rtl="0" eaLnBrk="1" fontAlgn="ctr" latinLnBrk="0" hangingPunct="1"/>
                      <a:r>
                        <a:rPr lang="fr-FR" sz="900" b="0" i="0" u="none" strike="noStrike" kern="1200" baseline="0" dirty="0" err="1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Reorganization</a:t>
                      </a:r>
                      <a:r>
                        <a:rPr lang="fr-FR" sz="900" b="0" i="0" u="none" strike="noStrike" kern="1200" baseline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 </a:t>
                      </a:r>
                      <a:r>
                        <a:rPr lang="fr-FR" sz="900" b="0" i="0" u="none" strike="noStrike" kern="1200" baseline="0" dirty="0" err="1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expenses</a:t>
                      </a:r>
                      <a:endParaRPr lang="fr-FR" sz="900" b="0" i="0" u="none" strike="noStrike" kern="1200" baseline="0" dirty="0">
                        <a:solidFill>
                          <a:srgbClr val="000000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6586910"/>
                  </a:ext>
                </a:extLst>
              </a:tr>
              <a:tr h="208230">
                <a:tc>
                  <a:txBody>
                    <a:bodyPr/>
                    <a:lstStyle/>
                    <a:p>
                      <a:pPr marL="0" algn="just" defTabSz="914400" rtl="0" eaLnBrk="1" fontAlgn="ctr" latinLnBrk="0" hangingPunct="1"/>
                      <a:r>
                        <a:rPr lang="fr-FR" sz="900" b="0" i="0" u="none" strike="noStrike" kern="1200" baseline="0" dirty="0" err="1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Losses</a:t>
                      </a:r>
                      <a:r>
                        <a:rPr lang="fr-FR" sz="900" b="0" i="0" u="none" strike="noStrike" kern="1200" baseline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 on </a:t>
                      </a:r>
                      <a:r>
                        <a:rPr lang="fr-FR" sz="900" b="0" i="0" u="none" strike="noStrike" kern="1200" baseline="0" dirty="0" err="1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disposal</a:t>
                      </a:r>
                      <a:r>
                        <a:rPr lang="fr-FR" sz="900" b="0" i="0" u="none" strike="noStrike" kern="1200" baseline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 of </a:t>
                      </a:r>
                      <a:r>
                        <a:rPr lang="fr-FR" sz="900" b="0" i="0" u="none" strike="noStrike" kern="1200" baseline="0" dirty="0" err="1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assets</a:t>
                      </a:r>
                      <a:endParaRPr lang="fr-FR" sz="900" b="0" i="0" u="none" strike="noStrike" kern="1200" baseline="0" dirty="0">
                        <a:solidFill>
                          <a:srgbClr val="000000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86271046"/>
                  </a:ext>
                </a:extLst>
              </a:tr>
              <a:tr h="190123">
                <a:tc>
                  <a:txBody>
                    <a:bodyPr/>
                    <a:lstStyle/>
                    <a:p>
                      <a:pPr marL="0" marR="0" lvl="0" indent="0" algn="just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b="0" i="0" u="none" strike="noStrike" kern="1200" baseline="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Others</a:t>
                      </a:r>
                      <a:endParaRPr lang="fr-FR" sz="900" b="0" i="0" u="none" strike="noStrike" kern="1200" baseline="0" dirty="0">
                        <a:solidFill>
                          <a:srgbClr val="000000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58305165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just" fontAlgn="ctr"/>
                      <a:r>
                        <a:rPr lang="fr-F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OTHER NON RECURRING OPERATING EXPENSES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5" name="Pentagon 6"/>
          <p:cNvSpPr/>
          <p:nvPr/>
        </p:nvSpPr>
        <p:spPr>
          <a:xfrm>
            <a:off x="3723814" y="132929"/>
            <a:ext cx="1386001" cy="516535"/>
          </a:xfrm>
          <a:prstGeom prst="homePlate">
            <a:avLst/>
          </a:prstGeom>
          <a:solidFill>
            <a:schemeClr val="bg1">
              <a:lumMod val="85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88900" rIns="88900" bIns="88900" rtlCol="0" anchor="ctr"/>
          <a:lstStyle/>
          <a:p>
            <a:pPr algn="ctr"/>
            <a:r>
              <a:rPr lang="en-US" sz="1200" dirty="0">
                <a:solidFill>
                  <a:schemeClr val="bg1"/>
                </a:solidFill>
                <a:latin typeface="+mj-lt"/>
              </a:rPr>
              <a:t>Context</a:t>
            </a:r>
          </a:p>
        </p:txBody>
      </p:sp>
      <p:sp>
        <p:nvSpPr>
          <p:cNvPr id="16" name="Chevron 8"/>
          <p:cNvSpPr/>
          <p:nvPr/>
        </p:nvSpPr>
        <p:spPr>
          <a:xfrm>
            <a:off x="4930617" y="132929"/>
            <a:ext cx="1386001" cy="516535"/>
          </a:xfrm>
          <a:prstGeom prst="chevron">
            <a:avLst/>
          </a:prstGeom>
          <a:solidFill>
            <a:schemeClr val="bg1">
              <a:lumMod val="85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88900" rIns="0" bIns="88900" rtlCol="0" anchor="ctr"/>
          <a:lstStyle/>
          <a:p>
            <a:pPr algn="ctr"/>
            <a:r>
              <a:rPr lang="en-US" sz="1200" dirty="0">
                <a:solidFill>
                  <a:schemeClr val="bg1"/>
                </a:solidFill>
                <a:latin typeface="+mj-lt"/>
              </a:rPr>
              <a:t>Audit approach</a:t>
            </a:r>
          </a:p>
        </p:txBody>
      </p:sp>
      <p:sp>
        <p:nvSpPr>
          <p:cNvPr id="17" name="Chevron 9"/>
          <p:cNvSpPr/>
          <p:nvPr/>
        </p:nvSpPr>
        <p:spPr>
          <a:xfrm>
            <a:off x="6126958" y="132929"/>
            <a:ext cx="1386001" cy="516535"/>
          </a:xfrm>
          <a:prstGeom prst="chevron">
            <a:avLst/>
          </a:prstGeom>
          <a:solidFill>
            <a:schemeClr val="bg1">
              <a:lumMod val="85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88900" rIns="0" bIns="88900" rtlCol="0" anchor="ctr"/>
          <a:lstStyle/>
          <a:p>
            <a:pPr algn="ctr"/>
            <a:r>
              <a:rPr lang="en-US" sz="1200" dirty="0">
                <a:solidFill>
                  <a:schemeClr val="bg1"/>
                </a:solidFill>
                <a:latin typeface="+mj-lt"/>
              </a:rPr>
              <a:t>Conclusion</a:t>
            </a:r>
          </a:p>
        </p:txBody>
      </p:sp>
      <p:sp>
        <p:nvSpPr>
          <p:cNvPr id="18" name="Chevron 10"/>
          <p:cNvSpPr/>
          <p:nvPr/>
        </p:nvSpPr>
        <p:spPr>
          <a:xfrm>
            <a:off x="7319236" y="132929"/>
            <a:ext cx="1386001" cy="516535"/>
          </a:xfrm>
          <a:prstGeom prst="chevron">
            <a:avLst/>
          </a:prstGeom>
          <a:solidFill>
            <a:srgbClr val="223F87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88900" rIns="0" bIns="88900" rtlCol="0" anchor="ctr"/>
          <a:lstStyle/>
          <a:p>
            <a:r>
              <a:rPr lang="en-US" sz="1200" b="1" dirty="0">
                <a:solidFill>
                  <a:schemeClr val="bg1"/>
                </a:solidFill>
                <a:latin typeface="+mj-lt"/>
              </a:rPr>
              <a:t>Appendices</a:t>
            </a:r>
          </a:p>
        </p:txBody>
      </p:sp>
      <p:sp>
        <p:nvSpPr>
          <p:cNvPr id="19" name="Slide Number Placeholder 9"/>
          <p:cNvSpPr>
            <a:spLocks noGrp="1"/>
          </p:cNvSpPr>
          <p:nvPr>
            <p:ph type="sldNum" sz="quarter" idx="12"/>
          </p:nvPr>
        </p:nvSpPr>
        <p:spPr>
          <a:xfrm>
            <a:off x="2700337" y="6482398"/>
            <a:ext cx="2057400" cy="365125"/>
          </a:xfrm>
        </p:spPr>
        <p:txBody>
          <a:bodyPr/>
          <a:lstStyle/>
          <a:p>
            <a:fld id="{661E6E57-A11E-4CD0-AED6-15B700CC2E98}" type="slidenum">
              <a:rPr lang="fr-FR" smtClean="0">
                <a:latin typeface="EYInterstate Light" panose="02000506000000020004" pitchFamily="2" charset="0"/>
              </a:rPr>
              <a:t>13</a:t>
            </a:fld>
            <a:endParaRPr lang="fr-FR" dirty="0">
              <a:latin typeface="EYInterstate Light" panose="02000506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30583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 txBox="1">
            <a:spLocks/>
          </p:cNvSpPr>
          <p:nvPr/>
        </p:nvSpPr>
        <p:spPr>
          <a:xfrm>
            <a:off x="323528" y="50376"/>
            <a:ext cx="8381710" cy="850106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700" b="1" dirty="0">
                <a:solidFill>
                  <a:prstClr val="black"/>
                </a:solidFill>
              </a:rPr>
              <a:t>P&amp;L</a:t>
            </a:r>
          </a:p>
          <a:p>
            <a:pPr lvl="0" algn="l"/>
            <a:r>
              <a:rPr lang="en-US" sz="1700" b="1" dirty="0">
                <a:solidFill>
                  <a:prstClr val="black"/>
                </a:solidFill>
              </a:rPr>
              <a:t>Analytical review</a:t>
            </a:r>
          </a:p>
          <a:p>
            <a:pPr algn="l"/>
            <a:endParaRPr lang="en-US" sz="1700" b="1" dirty="0">
              <a:latin typeface="EYInterstate Light" panose="02000506000000020004" pitchFamily="2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40455" y="2640257"/>
            <a:ext cx="8352717" cy="90794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marL="0" lvl="1" algn="just">
              <a:buClr>
                <a:srgbClr val="002060"/>
              </a:buClr>
              <a:buSzPct val="75000"/>
            </a:pPr>
            <a:r>
              <a:rPr lang="fr-FR" sz="1200" b="1" i="1" u="sng" dirty="0" err="1">
                <a:latin typeface="+mj-lt"/>
              </a:rPr>
              <a:t>Comments</a:t>
            </a:r>
            <a:r>
              <a:rPr lang="fr-FR" sz="1050" b="1" u="sng" dirty="0">
                <a:solidFill>
                  <a:srgbClr val="C00000"/>
                </a:solidFill>
                <a:latin typeface="+mj-lt"/>
                <a:cs typeface="Calibri" panose="020F0502020204030204" pitchFamily="34" charset="0"/>
              </a:rPr>
              <a:t>: </a:t>
            </a:r>
          </a:p>
          <a:p>
            <a:pPr marL="0" lvl="1" algn="just">
              <a:buClr>
                <a:srgbClr val="002060"/>
              </a:buClr>
              <a:buSzPct val="75000"/>
            </a:pPr>
            <a:endParaRPr lang="fr-FR" sz="1050" b="1" u="sng" dirty="0">
              <a:solidFill>
                <a:srgbClr val="C00000"/>
              </a:solidFill>
              <a:latin typeface="+mj-lt"/>
              <a:cs typeface="Calibri" panose="020F0502020204030204" pitchFamily="34" charset="0"/>
            </a:endParaRPr>
          </a:p>
          <a:p>
            <a:pPr marL="0" lvl="1" algn="just">
              <a:buClr>
                <a:srgbClr val="002060"/>
              </a:buClr>
              <a:buSzPct val="75000"/>
            </a:pPr>
            <a:r>
              <a:rPr lang="fr-FR" sz="1100" b="1" i="1" dirty="0" err="1">
                <a:solidFill>
                  <a:srgbClr val="FF0000"/>
                </a:solidFill>
                <a:latin typeface="+mj-lt"/>
                <a:cs typeface="Calibri" panose="020F0502020204030204" pitchFamily="34" charset="0"/>
              </a:rPr>
              <a:t>Describe</a:t>
            </a:r>
            <a:r>
              <a:rPr lang="fr-FR" sz="1100" b="1" i="1" dirty="0">
                <a:solidFill>
                  <a:srgbClr val="FF0000"/>
                </a:solidFill>
                <a:latin typeface="+mj-lt"/>
                <a:cs typeface="Calibri" panose="020F0502020204030204" pitchFamily="34" charset="0"/>
              </a:rPr>
              <a:t> </a:t>
            </a:r>
            <a:r>
              <a:rPr lang="fr-FR" sz="1100" b="1" i="1" dirty="0" err="1">
                <a:solidFill>
                  <a:srgbClr val="FF0000"/>
                </a:solidFill>
                <a:latin typeface="+mj-lt"/>
                <a:cs typeface="Calibri" panose="020F0502020204030204" pitchFamily="34" charset="0"/>
              </a:rPr>
              <a:t>significant</a:t>
            </a:r>
            <a:r>
              <a:rPr lang="fr-FR" sz="1100" b="1" i="1" dirty="0">
                <a:solidFill>
                  <a:srgbClr val="FF0000"/>
                </a:solidFill>
                <a:latin typeface="+mj-lt"/>
                <a:cs typeface="Calibri" panose="020F0502020204030204" pitchFamily="34" charset="0"/>
              </a:rPr>
              <a:t> transactions and variations</a:t>
            </a:r>
          </a:p>
          <a:p>
            <a:pPr marL="0" lvl="1" algn="just">
              <a:buClr>
                <a:srgbClr val="002060"/>
              </a:buClr>
              <a:buSzPct val="75000"/>
            </a:pPr>
            <a:endParaRPr lang="fr-FR" sz="900" b="1" i="1" dirty="0">
              <a:solidFill>
                <a:srgbClr val="0070C0"/>
              </a:solidFill>
              <a:latin typeface="+mj-lt"/>
              <a:cs typeface="Calibri" panose="020F0502020204030204" pitchFamily="34" charset="0"/>
            </a:endParaRPr>
          </a:p>
          <a:p>
            <a:pPr marL="0" lvl="1" algn="just">
              <a:buClr>
                <a:srgbClr val="002060"/>
              </a:buClr>
              <a:buSzPct val="75000"/>
            </a:pPr>
            <a:endParaRPr lang="fr-FR" sz="1050" b="1" dirty="0">
              <a:solidFill>
                <a:srgbClr val="C00000"/>
              </a:solidFill>
              <a:latin typeface="+mj-lt"/>
              <a:cs typeface="Calibri" panose="020F0502020204030204" pitchFamily="34" charset="0"/>
            </a:endParaRPr>
          </a:p>
        </p:txBody>
      </p:sp>
      <p:graphicFrame>
        <p:nvGraphicFramePr>
          <p:cNvPr id="1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9741632"/>
              </p:ext>
            </p:extLst>
          </p:nvPr>
        </p:nvGraphicFramePr>
        <p:xfrm>
          <a:off x="1159264" y="955595"/>
          <a:ext cx="6515100" cy="1390125"/>
        </p:xfrm>
        <a:graphic>
          <a:graphicData uri="http://schemas.openxmlformats.org/drawingml/2006/table">
            <a:tbl>
              <a:tblPr firstRow="1" firstCol="1" bandRow="1"/>
              <a:tblGrid>
                <a:gridCol w="3467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00025">
                <a:tc>
                  <a:txBody>
                    <a:bodyPr/>
                    <a:lstStyle/>
                    <a:p>
                      <a:pPr algn="just" fontAlgn="ctr"/>
                      <a:r>
                        <a:rPr lang="fr-FR" sz="900" b="0" i="1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(in € millions)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20xx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20xx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Var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Var 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Note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1477">
                <a:tc>
                  <a:txBody>
                    <a:bodyPr/>
                    <a:lstStyle/>
                    <a:p>
                      <a:pPr marL="0" algn="just" defTabSz="914400" rtl="0" eaLnBrk="1" fontAlgn="ctr" latinLnBrk="0" hangingPunct="1"/>
                      <a:r>
                        <a:rPr lang="fr-FR" sz="900" b="0" i="0" u="none" strike="noStrike" kern="1200" baseline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Impact of </a:t>
                      </a:r>
                      <a:r>
                        <a:rPr lang="fr-FR" sz="900" b="0" i="0" u="none" strike="noStrike" kern="1200" baseline="0" dirty="0" err="1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discounting</a:t>
                      </a:r>
                      <a:r>
                        <a:rPr lang="fr-FR" sz="900" b="0" i="0" u="none" strike="noStrike" kern="1200" baseline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 pension </a:t>
                      </a:r>
                      <a:r>
                        <a:rPr lang="fr-FR" sz="900" b="0" i="0" u="none" strike="noStrike" kern="1200" baseline="0" dirty="0" err="1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benefit</a:t>
                      </a:r>
                      <a:r>
                        <a:rPr lang="fr-FR" sz="900" b="0" i="0" u="none" strike="noStrike" kern="1200" baseline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 obligations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9176">
                <a:tc>
                  <a:txBody>
                    <a:bodyPr/>
                    <a:lstStyle/>
                    <a:p>
                      <a:pPr marL="0" algn="just" defTabSz="914400" rtl="0" eaLnBrk="1" fontAlgn="ctr" latinLnBrk="0" hangingPunct="1"/>
                      <a:r>
                        <a:rPr lang="fr-FR" sz="900" b="0" i="0" u="none" strike="noStrike" kern="1200" baseline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Changes in the ineffective portion of </a:t>
                      </a:r>
                      <a:r>
                        <a:rPr lang="fr-FR" sz="900" b="0" i="0" u="none" strike="noStrike" kern="1200" baseline="0" dirty="0" err="1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currency</a:t>
                      </a:r>
                      <a:r>
                        <a:rPr lang="fr-FR" sz="900" b="0" i="0" u="none" strike="noStrike" kern="1200" baseline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 </a:t>
                      </a:r>
                      <a:r>
                        <a:rPr lang="fr-FR" sz="900" b="0" i="0" u="none" strike="noStrike" kern="1200" baseline="0" dirty="0" err="1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hedges</a:t>
                      </a:r>
                      <a:endParaRPr lang="fr-FR" sz="900" b="0" i="0" u="none" strike="noStrike" kern="1200" baseline="0" dirty="0">
                        <a:solidFill>
                          <a:srgbClr val="000000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6586910"/>
                  </a:ext>
                </a:extLst>
              </a:tr>
              <a:tr h="190123">
                <a:tc>
                  <a:txBody>
                    <a:bodyPr/>
                    <a:lstStyle/>
                    <a:p>
                      <a:pPr marL="0" algn="just" defTabSz="914400" rtl="0" eaLnBrk="1" fontAlgn="ctr" latinLnBrk="0" hangingPunct="1"/>
                      <a:r>
                        <a:rPr lang="fr-FR" sz="900" b="0" i="0" u="none" strike="noStrike" kern="1200" baseline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Changes in </a:t>
                      </a:r>
                      <a:r>
                        <a:rPr lang="fr-FR" sz="900" b="0" i="0" u="none" strike="noStrike" kern="1200" baseline="0" dirty="0" err="1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fair</a:t>
                      </a:r>
                      <a:r>
                        <a:rPr lang="fr-FR" sz="900" b="0" i="0" u="none" strike="noStrike" kern="1200" baseline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 value of </a:t>
                      </a:r>
                      <a:r>
                        <a:rPr lang="fr-FR" sz="900" b="0" i="0" u="none" strike="noStrike" kern="1200" baseline="0" dirty="0" err="1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currency</a:t>
                      </a:r>
                      <a:r>
                        <a:rPr lang="fr-FR" sz="900" b="0" i="0" u="none" strike="noStrike" kern="1200" baseline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 </a:t>
                      </a:r>
                      <a:r>
                        <a:rPr lang="fr-FR" sz="900" b="0" i="0" u="none" strike="noStrike" kern="1200" baseline="0" dirty="0" err="1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hedged</a:t>
                      </a:r>
                      <a:r>
                        <a:rPr lang="fr-FR" sz="900" b="0" i="0" u="none" strike="noStrike" kern="1200" baseline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 </a:t>
                      </a:r>
                      <a:r>
                        <a:rPr lang="fr-FR" sz="900" b="0" i="0" u="none" strike="noStrike" kern="1200" baseline="0" dirty="0" err="1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relating</a:t>
                      </a:r>
                      <a:r>
                        <a:rPr lang="fr-FR" sz="900" b="0" i="0" u="none" strike="noStrike" kern="1200" baseline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 to </a:t>
                      </a:r>
                      <a:r>
                        <a:rPr lang="fr-FR" sz="900" b="0" i="0" u="none" strike="noStrike" kern="1200" baseline="0" dirty="0" err="1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debt</a:t>
                      </a:r>
                      <a:endParaRPr lang="fr-FR" sz="900" b="0" i="0" u="none" strike="noStrike" kern="1200" baseline="0" dirty="0">
                        <a:solidFill>
                          <a:srgbClr val="000000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48528751"/>
                  </a:ext>
                </a:extLst>
              </a:tr>
              <a:tr h="217283">
                <a:tc>
                  <a:txBody>
                    <a:bodyPr/>
                    <a:lstStyle/>
                    <a:p>
                      <a:pPr marL="0" algn="just" defTabSz="914400" rtl="0" eaLnBrk="1" fontAlgn="ctr" latinLnBrk="0" hangingPunct="1"/>
                      <a:r>
                        <a:rPr lang="fr-FR" sz="900" b="0" i="0" u="none" strike="noStrike" kern="1200" baseline="0" dirty="0" err="1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Foreign</a:t>
                      </a:r>
                      <a:r>
                        <a:rPr lang="fr-FR" sz="900" b="0" i="0" u="none" strike="noStrike" kern="1200" baseline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 exchange gains an </a:t>
                      </a:r>
                      <a:r>
                        <a:rPr lang="fr-FR" sz="900" b="0" i="0" u="none" strike="noStrike" kern="1200" baseline="0" dirty="0" err="1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losses</a:t>
                      </a:r>
                      <a:r>
                        <a:rPr lang="fr-FR" sz="900" b="0" i="0" u="none" strike="noStrike" kern="1200" baseline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 on </a:t>
                      </a:r>
                      <a:r>
                        <a:rPr lang="fr-FR" sz="900" b="0" i="0" u="none" strike="noStrike" kern="1200" baseline="0" dirty="0" err="1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borrowings</a:t>
                      </a:r>
                      <a:endParaRPr lang="fr-FR" sz="900" b="0" i="0" u="none" strike="noStrike" kern="1200" baseline="0" dirty="0">
                        <a:solidFill>
                          <a:srgbClr val="000000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2016">
                <a:tc>
                  <a:txBody>
                    <a:bodyPr/>
                    <a:lstStyle/>
                    <a:p>
                      <a:pPr marL="0" algn="just" defTabSz="914400" rtl="0" eaLnBrk="1" fontAlgn="ctr" latinLnBrk="0" hangingPunct="1"/>
                      <a:r>
                        <a:rPr lang="fr-FR" sz="900" b="0" i="0" u="none" strike="noStrike" kern="1200" baseline="0" dirty="0" err="1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Others</a:t>
                      </a:r>
                      <a:endParaRPr lang="fr-FR" sz="900" b="0" i="0" u="none" strike="noStrike" kern="1200" baseline="0" dirty="0">
                        <a:solidFill>
                          <a:srgbClr val="000000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7267271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just" fontAlgn="ctr"/>
                      <a:r>
                        <a:rPr lang="fr-F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OTHER FINANCIAL INCOME AND EXPENSES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7" name="Pentagon 6"/>
          <p:cNvSpPr/>
          <p:nvPr/>
        </p:nvSpPr>
        <p:spPr>
          <a:xfrm>
            <a:off x="3723814" y="132929"/>
            <a:ext cx="1386001" cy="516535"/>
          </a:xfrm>
          <a:prstGeom prst="homePlate">
            <a:avLst/>
          </a:prstGeom>
          <a:solidFill>
            <a:schemeClr val="bg1">
              <a:lumMod val="85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88900" rIns="88900" bIns="88900" rtlCol="0" anchor="ctr"/>
          <a:lstStyle/>
          <a:p>
            <a:pPr algn="ctr"/>
            <a:r>
              <a:rPr lang="en-US" sz="1200" dirty="0">
                <a:solidFill>
                  <a:schemeClr val="bg1"/>
                </a:solidFill>
                <a:latin typeface="+mj-lt"/>
              </a:rPr>
              <a:t>Context</a:t>
            </a:r>
          </a:p>
        </p:txBody>
      </p:sp>
      <p:sp>
        <p:nvSpPr>
          <p:cNvPr id="18" name="Chevron 8"/>
          <p:cNvSpPr/>
          <p:nvPr/>
        </p:nvSpPr>
        <p:spPr>
          <a:xfrm>
            <a:off x="4930617" y="132929"/>
            <a:ext cx="1386001" cy="516535"/>
          </a:xfrm>
          <a:prstGeom prst="chevron">
            <a:avLst/>
          </a:prstGeom>
          <a:solidFill>
            <a:schemeClr val="bg1">
              <a:lumMod val="85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88900" rIns="0" bIns="88900" rtlCol="0" anchor="ctr"/>
          <a:lstStyle/>
          <a:p>
            <a:pPr algn="ctr"/>
            <a:r>
              <a:rPr lang="en-US" sz="1200" dirty="0">
                <a:solidFill>
                  <a:schemeClr val="bg1"/>
                </a:solidFill>
                <a:latin typeface="+mj-lt"/>
              </a:rPr>
              <a:t>Audit approach</a:t>
            </a:r>
          </a:p>
        </p:txBody>
      </p:sp>
      <p:sp>
        <p:nvSpPr>
          <p:cNvPr id="19" name="Chevron 9"/>
          <p:cNvSpPr/>
          <p:nvPr/>
        </p:nvSpPr>
        <p:spPr>
          <a:xfrm>
            <a:off x="6126958" y="132929"/>
            <a:ext cx="1386001" cy="516535"/>
          </a:xfrm>
          <a:prstGeom prst="chevron">
            <a:avLst/>
          </a:prstGeom>
          <a:solidFill>
            <a:schemeClr val="bg1">
              <a:lumMod val="85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88900" rIns="0" bIns="88900" rtlCol="0" anchor="ctr"/>
          <a:lstStyle/>
          <a:p>
            <a:pPr algn="ctr"/>
            <a:r>
              <a:rPr lang="en-US" sz="1200" dirty="0">
                <a:solidFill>
                  <a:schemeClr val="bg1"/>
                </a:solidFill>
                <a:latin typeface="+mj-lt"/>
              </a:rPr>
              <a:t>Conclusion</a:t>
            </a:r>
          </a:p>
        </p:txBody>
      </p:sp>
      <p:sp>
        <p:nvSpPr>
          <p:cNvPr id="20" name="Chevron 10"/>
          <p:cNvSpPr/>
          <p:nvPr/>
        </p:nvSpPr>
        <p:spPr>
          <a:xfrm>
            <a:off x="7319236" y="132929"/>
            <a:ext cx="1386001" cy="516535"/>
          </a:xfrm>
          <a:prstGeom prst="chevron">
            <a:avLst/>
          </a:prstGeom>
          <a:solidFill>
            <a:srgbClr val="223F87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88900" rIns="0" bIns="88900" rtlCol="0" anchor="ctr"/>
          <a:lstStyle/>
          <a:p>
            <a:r>
              <a:rPr lang="en-US" sz="1200" b="1" dirty="0">
                <a:solidFill>
                  <a:schemeClr val="bg1"/>
                </a:solidFill>
                <a:latin typeface="+mj-lt"/>
              </a:rPr>
              <a:t>Appendices</a:t>
            </a:r>
          </a:p>
        </p:txBody>
      </p:sp>
      <p:sp>
        <p:nvSpPr>
          <p:cNvPr id="21" name="Slide Number Placeholder 9"/>
          <p:cNvSpPr>
            <a:spLocks noGrp="1"/>
          </p:cNvSpPr>
          <p:nvPr>
            <p:ph type="sldNum" sz="quarter" idx="12"/>
          </p:nvPr>
        </p:nvSpPr>
        <p:spPr>
          <a:xfrm>
            <a:off x="2700337" y="6482398"/>
            <a:ext cx="2057400" cy="365125"/>
          </a:xfrm>
        </p:spPr>
        <p:txBody>
          <a:bodyPr/>
          <a:lstStyle/>
          <a:p>
            <a:fld id="{661E6E57-A11E-4CD0-AED6-15B700CC2E98}" type="slidenum">
              <a:rPr lang="fr-FR" smtClean="0">
                <a:latin typeface="EYInterstate Light" panose="02000506000000020004" pitchFamily="2" charset="0"/>
              </a:rPr>
              <a:t>14</a:t>
            </a:fld>
            <a:endParaRPr lang="fr-FR" dirty="0">
              <a:latin typeface="EYInterstate Light" panose="02000506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06457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 txBox="1">
            <a:spLocks/>
          </p:cNvSpPr>
          <p:nvPr/>
        </p:nvSpPr>
        <p:spPr>
          <a:xfrm>
            <a:off x="323528" y="50376"/>
            <a:ext cx="8381710" cy="850106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700" b="1" dirty="0">
                <a:solidFill>
                  <a:prstClr val="black"/>
                </a:solidFill>
              </a:rPr>
              <a:t>Balance sheet</a:t>
            </a:r>
          </a:p>
          <a:p>
            <a:pPr lvl="0" algn="l"/>
            <a:r>
              <a:rPr lang="en-US" sz="1700" b="1" dirty="0">
                <a:solidFill>
                  <a:prstClr val="black"/>
                </a:solidFill>
              </a:rPr>
              <a:t>Analytical review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263785" y="5185786"/>
            <a:ext cx="8305656" cy="946413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marL="0" lvl="1" algn="just">
              <a:buClr>
                <a:srgbClr val="002060"/>
              </a:buClr>
              <a:buSzPct val="75000"/>
            </a:pPr>
            <a:r>
              <a:rPr lang="fr-FR" sz="1200" b="1" i="1" u="sng" dirty="0" err="1">
                <a:latin typeface="+mj-lt"/>
              </a:rPr>
              <a:t>Comments</a:t>
            </a:r>
            <a:r>
              <a:rPr lang="fr-FR" sz="1200" b="1" i="1" u="sng" dirty="0">
                <a:latin typeface="+mj-lt"/>
              </a:rPr>
              <a:t>: </a:t>
            </a:r>
          </a:p>
          <a:p>
            <a:pPr marL="0" lvl="1" algn="just">
              <a:buClr>
                <a:srgbClr val="002060"/>
              </a:buClr>
              <a:buSzPct val="75000"/>
            </a:pPr>
            <a:r>
              <a:rPr lang="en-US" sz="1100" b="1" i="1" dirty="0">
                <a:solidFill>
                  <a:srgbClr val="FF0000"/>
                </a:solidFill>
                <a:latin typeface="+mj-lt"/>
                <a:cs typeface="Calibri" panose="020F0502020204030204" pitchFamily="34" charset="0"/>
              </a:rPr>
              <a:t>From report O-CO-C120 please fill up the above template and attached the full report to your SRM</a:t>
            </a:r>
          </a:p>
          <a:p>
            <a:pPr marL="0" lvl="1" algn="just">
              <a:buClr>
                <a:srgbClr val="002060"/>
              </a:buClr>
              <a:buSzPct val="75000"/>
            </a:pPr>
            <a:r>
              <a:rPr lang="en-US" sz="1100" b="1" i="1" dirty="0">
                <a:solidFill>
                  <a:srgbClr val="FF0000"/>
                </a:solidFill>
                <a:latin typeface="+mj-lt"/>
                <a:cs typeface="Calibri" panose="020F0502020204030204" pitchFamily="34" charset="0"/>
              </a:rPr>
              <a:t>Comment any significant variation and pay particular attention to programs and working capital.</a:t>
            </a:r>
          </a:p>
          <a:p>
            <a:pPr marL="0" lvl="1" algn="just">
              <a:buClr>
                <a:srgbClr val="002060"/>
              </a:buClr>
              <a:buSzPct val="75000"/>
            </a:pPr>
            <a:r>
              <a:rPr lang="en-US" sz="1100" b="1" i="1" dirty="0">
                <a:solidFill>
                  <a:srgbClr val="FF0000"/>
                </a:solidFill>
                <a:latin typeface="+mj-lt"/>
                <a:cs typeface="Calibri" panose="020F0502020204030204" pitchFamily="34" charset="0"/>
              </a:rPr>
              <a:t>A mapping between Metis account and financial statements presentation has been provided</a:t>
            </a:r>
          </a:p>
          <a:p>
            <a:pPr marL="0" lvl="1" algn="just">
              <a:buClr>
                <a:srgbClr val="002060"/>
              </a:buClr>
              <a:buSzPct val="75000"/>
            </a:pPr>
            <a:endParaRPr lang="fr-FR" sz="1050" b="1" dirty="0">
              <a:solidFill>
                <a:srgbClr val="C00000"/>
              </a:solidFill>
              <a:latin typeface="EYInterstate Light" panose="02000506000000020004" pitchFamily="2" charset="0"/>
              <a:cs typeface="Calibri" panose="020F0502020204030204" pitchFamily="34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0325623"/>
              </p:ext>
            </p:extLst>
          </p:nvPr>
        </p:nvGraphicFramePr>
        <p:xfrm>
          <a:off x="399583" y="900482"/>
          <a:ext cx="3707196" cy="4142510"/>
        </p:xfrm>
        <a:graphic>
          <a:graphicData uri="http://schemas.openxmlformats.org/drawingml/2006/table">
            <a:tbl>
              <a:tblPr/>
              <a:tblGrid>
                <a:gridCol w="1669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36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522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50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4917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501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07685"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1050" b="1" i="0" u="sng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ASSETS</a:t>
                      </a:r>
                      <a:endParaRPr lang="fr-FR" sz="1050" b="1" i="0" u="sng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FR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FR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FR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FR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FR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7685">
                <a:tc>
                  <a:txBody>
                    <a:bodyPr/>
                    <a:lstStyle/>
                    <a:p>
                      <a:pPr algn="just" fontAlgn="ctr"/>
                      <a:r>
                        <a:rPr lang="fr-FR" sz="900" b="0" i="1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(in € millions)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20XX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20XX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Var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%Var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fr-F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Notes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7795">
                <a:tc>
                  <a:txBody>
                    <a:bodyPr/>
                    <a:lstStyle/>
                    <a:p>
                      <a:pPr algn="just" fontAlgn="ctr"/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Goodwill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7795">
                <a:tc>
                  <a:txBody>
                    <a:bodyPr/>
                    <a:lstStyle/>
                    <a:p>
                      <a:pPr algn="just" fontAlgn="ctr"/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Intangible assets</a:t>
                      </a:r>
                    </a:p>
                  </a:txBody>
                  <a:tcPr marL="0" marR="0" marT="17780" marB="177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fr-FR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7795">
                <a:tc>
                  <a:txBody>
                    <a:bodyPr/>
                    <a:lstStyle/>
                    <a:p>
                      <a:pPr algn="just" fontAlgn="ctr"/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Property, plant and equipment</a:t>
                      </a:r>
                    </a:p>
                  </a:txBody>
                  <a:tcPr marL="0" marR="0" marT="17780" marB="177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fr-FR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7795">
                <a:tc>
                  <a:txBody>
                    <a:bodyPr/>
                    <a:lstStyle/>
                    <a:p>
                      <a:pPr algn="just" fontAlgn="ctr"/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Investments in associates</a:t>
                      </a:r>
                    </a:p>
                  </a:txBody>
                  <a:tcPr marL="0" marR="0" marT="17780" marB="177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fr-FR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7795">
                <a:tc>
                  <a:txBody>
                    <a:bodyPr/>
                    <a:lstStyle/>
                    <a:p>
                      <a:pPr algn="just" fontAlgn="ctr"/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Other equity interests</a:t>
                      </a:r>
                    </a:p>
                  </a:txBody>
                  <a:tcPr marL="0" marR="0" marT="17780" marB="177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fr-FR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7795">
                <a:tc>
                  <a:txBody>
                    <a:bodyPr/>
                    <a:lstStyle/>
                    <a:p>
                      <a:pPr algn="just" fontAlgn="ctr"/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Other non-current financial assets</a:t>
                      </a:r>
                    </a:p>
                  </a:txBody>
                  <a:tcPr marL="0" marR="0" marT="17780" marB="177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fr-FR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7795">
                <a:tc>
                  <a:txBody>
                    <a:bodyPr/>
                    <a:lstStyle/>
                    <a:p>
                      <a:pPr algn="just" fontAlgn="ctr"/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Other non-current assets</a:t>
                      </a:r>
                    </a:p>
                  </a:txBody>
                  <a:tcPr marL="0" marR="0" marT="17780" marB="177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fr-FR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97795">
                <a:tc>
                  <a:txBody>
                    <a:bodyPr/>
                    <a:lstStyle/>
                    <a:p>
                      <a:pPr algn="just" fontAlgn="ctr"/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Deferred tax assets</a:t>
                      </a:r>
                    </a:p>
                  </a:txBody>
                  <a:tcPr marL="0" marR="0" marT="17780" marB="177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07685">
                <a:tc>
                  <a:txBody>
                    <a:bodyPr/>
                    <a:lstStyle/>
                    <a:p>
                      <a:pPr algn="just" fontAlgn="ctr"/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TOTAL NON-CURRENT ASSETS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fr-F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97795">
                <a:tc>
                  <a:txBody>
                    <a:bodyPr/>
                    <a:lstStyle/>
                    <a:p>
                      <a:pPr algn="just" fontAlgn="ctr"/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Inventories, net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fr-FR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97795">
                <a:tc>
                  <a:txBody>
                    <a:bodyPr/>
                    <a:lstStyle/>
                    <a:p>
                      <a:pPr algn="just" fontAlgn="ctr"/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Trade accounts receivables</a:t>
                      </a:r>
                    </a:p>
                  </a:txBody>
                  <a:tcPr marL="0" marR="0" marT="17780" marB="177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97795">
                <a:tc>
                  <a:txBody>
                    <a:bodyPr/>
                    <a:lstStyle/>
                    <a:p>
                      <a:pPr algn="just" fontAlgn="ctr"/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Other operating receivables</a:t>
                      </a:r>
                    </a:p>
                  </a:txBody>
                  <a:tcPr marL="0" marR="0" marT="17780" marB="177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97795">
                <a:tc>
                  <a:txBody>
                    <a:bodyPr/>
                    <a:lstStyle/>
                    <a:p>
                      <a:pPr algn="just" fontAlgn="ctr"/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Other receivables</a:t>
                      </a:r>
                    </a:p>
                  </a:txBody>
                  <a:tcPr marL="0" marR="0" marT="17780" marB="177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fr-FR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97795">
                <a:tc>
                  <a:txBody>
                    <a:bodyPr/>
                    <a:lstStyle/>
                    <a:p>
                      <a:pPr algn="just" fontAlgn="ctr"/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Other current financial assets</a:t>
                      </a:r>
                    </a:p>
                  </a:txBody>
                  <a:tcPr marL="0" marR="0" marT="17780" marB="177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97795">
                <a:tc>
                  <a:txBody>
                    <a:bodyPr/>
                    <a:lstStyle/>
                    <a:p>
                      <a:pPr algn="just" fontAlgn="ctr"/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Cash and cash equivalents</a:t>
                      </a:r>
                    </a:p>
                  </a:txBody>
                  <a:tcPr marL="0" marR="0" marT="17780" marB="177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fr-FR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07685">
                <a:tc>
                  <a:txBody>
                    <a:bodyPr/>
                    <a:lstStyle/>
                    <a:p>
                      <a:pPr algn="just" fontAlgn="ctr"/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TOTAL CURRENT ASSETS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fr-F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97795">
                <a:tc>
                  <a:txBody>
                    <a:bodyPr/>
                    <a:lstStyle/>
                    <a:p>
                      <a:pPr algn="just" fontAlgn="ctr"/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Assets held for sale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fr-FR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26589">
                <a:tc>
                  <a:txBody>
                    <a:bodyPr/>
                    <a:lstStyle/>
                    <a:p>
                      <a:pPr algn="just" fontAlgn="ctr"/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fr-F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07685">
                <a:tc>
                  <a:txBody>
                    <a:bodyPr/>
                    <a:lstStyle/>
                    <a:p>
                      <a:pPr algn="just" fontAlgn="ctr"/>
                      <a:r>
                        <a:rPr lang="fr-F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TOTAL ASSETS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fr-F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</a:tbl>
          </a:graphicData>
        </a:graphic>
      </p:graphicFrame>
      <p:graphicFrame>
        <p:nvGraphicFramePr>
          <p:cNvPr id="21" name="Table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3556970"/>
              </p:ext>
            </p:extLst>
          </p:nvPr>
        </p:nvGraphicFramePr>
        <p:xfrm>
          <a:off x="4416814" y="900482"/>
          <a:ext cx="4241800" cy="4167520"/>
        </p:xfrm>
        <a:graphic>
          <a:graphicData uri="http://schemas.openxmlformats.org/drawingml/2006/table">
            <a:tbl>
              <a:tblPr/>
              <a:tblGrid>
                <a:gridCol w="1993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5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445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445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00025"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1050" b="1" i="0" u="sng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LIABILITIES</a:t>
                      </a:r>
                      <a:endParaRPr lang="fr-FR" sz="1050" b="1" i="0" u="sng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12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just" fontAlgn="ctr"/>
                      <a:r>
                        <a:rPr lang="fr-FR" sz="900" b="0" i="1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(in € millions)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20XX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20XX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Var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%Var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Notes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just" fontAlgn="ctr"/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Net income (loss)</a:t>
                      </a:r>
                    </a:p>
                  </a:txBody>
                  <a:tcPr marL="0" marR="0" marT="17780" marB="1778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EQUITY ATTRIBUTABLE TO OWNERS OF THE PARENT</a:t>
                      </a:r>
                      <a:endParaRPr lang="fr-FR" sz="900" b="1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just" fontAlgn="ctr"/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Minority interests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just" fontAlgn="ctr"/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TOTAL SHAREHOLDERS’ EQUITY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just" fontAlgn="ctr"/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Non-current provisions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just" fontAlgn="ctr"/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Non-current financial liabilities</a:t>
                      </a:r>
                    </a:p>
                  </a:txBody>
                  <a:tcPr marL="0" marR="0" marT="17780" marB="177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47268">
                <a:tc>
                  <a:txBody>
                    <a:bodyPr/>
                    <a:lstStyle/>
                    <a:p>
                      <a:pPr algn="just" fontAlgn="ctr"/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Other non-current liabilities</a:t>
                      </a:r>
                    </a:p>
                  </a:txBody>
                  <a:tcPr marL="0" marR="0" marT="17780" marB="177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50209">
                <a:tc>
                  <a:txBody>
                    <a:bodyPr/>
                    <a:lstStyle/>
                    <a:p>
                      <a:pPr algn="just" fontAlgn="ctr"/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Deferred tax liabilities</a:t>
                      </a:r>
                    </a:p>
                  </a:txBody>
                  <a:tcPr marL="0" marR="0" marT="17780" marB="177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just" fontAlgn="ctr"/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TOTAL NON-CURRENT LIABILITIES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just" fontAlgn="ctr"/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Current provisions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just" fontAlgn="ctr"/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Current financial liabilities</a:t>
                      </a:r>
                    </a:p>
                  </a:txBody>
                  <a:tcPr marL="0" marR="0" marT="17780" marB="177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just" fontAlgn="ctr"/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Prepayments from customers</a:t>
                      </a:r>
                    </a:p>
                  </a:txBody>
                  <a:tcPr marL="0" marR="0" marT="17780" marB="177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just" fontAlgn="ctr"/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Trade payables</a:t>
                      </a:r>
                    </a:p>
                  </a:txBody>
                  <a:tcPr marL="0" marR="0" marT="17780" marB="177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Accrued taxes and payroll costs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17780" marB="177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35867">
                <a:tc>
                  <a:txBody>
                    <a:bodyPr/>
                    <a:lstStyle/>
                    <a:p>
                      <a:pPr algn="just" fontAlgn="ctr"/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Sundry payables</a:t>
                      </a:r>
                    </a:p>
                  </a:txBody>
                  <a:tcPr marL="0" marR="0" marT="17780" marB="177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just" fontAlgn="ctr"/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TOTAL CURRENT LIABILITIES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01028"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Liabilities linked to assets held for sale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22823">
                <a:tc>
                  <a:txBody>
                    <a:bodyPr/>
                    <a:lstStyle/>
                    <a:p>
                      <a:pPr algn="just" fontAlgn="ctr"/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just" fontAlgn="ctr"/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TOTAL EQUITY AND LIABILITIES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</a:tbl>
          </a:graphicData>
        </a:graphic>
      </p:graphicFrame>
      <p:sp>
        <p:nvSpPr>
          <p:cNvPr id="15" name="Pentagon 6"/>
          <p:cNvSpPr/>
          <p:nvPr/>
        </p:nvSpPr>
        <p:spPr>
          <a:xfrm>
            <a:off x="3723814" y="132929"/>
            <a:ext cx="1386001" cy="516535"/>
          </a:xfrm>
          <a:prstGeom prst="homePlate">
            <a:avLst/>
          </a:prstGeom>
          <a:solidFill>
            <a:schemeClr val="bg1">
              <a:lumMod val="85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88900" rIns="88900" bIns="88900" rtlCol="0" anchor="ctr"/>
          <a:lstStyle/>
          <a:p>
            <a:pPr algn="ctr"/>
            <a:r>
              <a:rPr lang="en-US" sz="1200" dirty="0">
                <a:solidFill>
                  <a:schemeClr val="bg1"/>
                </a:solidFill>
                <a:latin typeface="+mj-lt"/>
              </a:rPr>
              <a:t>Context</a:t>
            </a:r>
          </a:p>
        </p:txBody>
      </p:sp>
      <p:sp>
        <p:nvSpPr>
          <p:cNvPr id="16" name="Chevron 8"/>
          <p:cNvSpPr/>
          <p:nvPr/>
        </p:nvSpPr>
        <p:spPr>
          <a:xfrm>
            <a:off x="4930617" y="132929"/>
            <a:ext cx="1386001" cy="516535"/>
          </a:xfrm>
          <a:prstGeom prst="chevron">
            <a:avLst/>
          </a:prstGeom>
          <a:solidFill>
            <a:schemeClr val="bg1">
              <a:lumMod val="85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88900" rIns="0" bIns="88900" rtlCol="0" anchor="ctr"/>
          <a:lstStyle/>
          <a:p>
            <a:pPr algn="ctr"/>
            <a:r>
              <a:rPr lang="en-US" sz="1200" dirty="0">
                <a:solidFill>
                  <a:schemeClr val="bg1"/>
                </a:solidFill>
                <a:latin typeface="+mj-lt"/>
              </a:rPr>
              <a:t>Audit approach</a:t>
            </a:r>
          </a:p>
        </p:txBody>
      </p:sp>
      <p:sp>
        <p:nvSpPr>
          <p:cNvPr id="17" name="Chevron 9"/>
          <p:cNvSpPr/>
          <p:nvPr/>
        </p:nvSpPr>
        <p:spPr>
          <a:xfrm>
            <a:off x="6126958" y="132929"/>
            <a:ext cx="1386001" cy="516535"/>
          </a:xfrm>
          <a:prstGeom prst="chevron">
            <a:avLst/>
          </a:prstGeom>
          <a:solidFill>
            <a:schemeClr val="bg1">
              <a:lumMod val="85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88900" rIns="0" bIns="88900" rtlCol="0" anchor="ctr"/>
          <a:lstStyle/>
          <a:p>
            <a:pPr algn="ctr"/>
            <a:r>
              <a:rPr lang="en-US" sz="1200" dirty="0">
                <a:solidFill>
                  <a:schemeClr val="bg1"/>
                </a:solidFill>
                <a:latin typeface="+mj-lt"/>
              </a:rPr>
              <a:t>Conclusion</a:t>
            </a:r>
          </a:p>
        </p:txBody>
      </p:sp>
      <p:sp>
        <p:nvSpPr>
          <p:cNvPr id="18" name="Chevron 10"/>
          <p:cNvSpPr/>
          <p:nvPr/>
        </p:nvSpPr>
        <p:spPr>
          <a:xfrm>
            <a:off x="7319236" y="132929"/>
            <a:ext cx="1386001" cy="516535"/>
          </a:xfrm>
          <a:prstGeom prst="chevron">
            <a:avLst/>
          </a:prstGeom>
          <a:solidFill>
            <a:srgbClr val="223F87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88900" rIns="0" bIns="88900" rtlCol="0" anchor="ctr"/>
          <a:lstStyle/>
          <a:p>
            <a:r>
              <a:rPr lang="en-US" sz="1200" b="1" dirty="0">
                <a:solidFill>
                  <a:schemeClr val="bg1"/>
                </a:solidFill>
                <a:latin typeface="+mj-lt"/>
              </a:rPr>
              <a:t>Appendices</a:t>
            </a:r>
          </a:p>
        </p:txBody>
      </p:sp>
      <p:sp>
        <p:nvSpPr>
          <p:cNvPr id="19" name="Slide Number Placeholder 9"/>
          <p:cNvSpPr>
            <a:spLocks noGrp="1"/>
          </p:cNvSpPr>
          <p:nvPr>
            <p:ph type="sldNum" sz="quarter" idx="12"/>
          </p:nvPr>
        </p:nvSpPr>
        <p:spPr>
          <a:xfrm>
            <a:off x="2700337" y="6482398"/>
            <a:ext cx="2057400" cy="365125"/>
          </a:xfrm>
        </p:spPr>
        <p:txBody>
          <a:bodyPr/>
          <a:lstStyle/>
          <a:p>
            <a:fld id="{661E6E57-A11E-4CD0-AED6-15B700CC2E98}" type="slidenum">
              <a:rPr lang="fr-FR" smtClean="0">
                <a:latin typeface="EYInterstate Light" panose="02000506000000020004" pitchFamily="2" charset="0"/>
              </a:rPr>
              <a:t>15</a:t>
            </a:fld>
            <a:endParaRPr lang="fr-FR" dirty="0">
              <a:latin typeface="EYInterstate Light" panose="02000506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68862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 txBox="1">
            <a:spLocks/>
          </p:cNvSpPr>
          <p:nvPr/>
        </p:nvSpPr>
        <p:spPr>
          <a:xfrm>
            <a:off x="323528" y="50376"/>
            <a:ext cx="8381710" cy="850106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700" b="1" dirty="0">
                <a:solidFill>
                  <a:prstClr val="black"/>
                </a:solidFill>
              </a:rPr>
              <a:t>Balance sheet</a:t>
            </a:r>
          </a:p>
          <a:p>
            <a:pPr lvl="0" algn="l"/>
            <a:r>
              <a:rPr lang="en-US" sz="1700" b="1" dirty="0">
                <a:solidFill>
                  <a:prstClr val="black"/>
                </a:solidFill>
              </a:rPr>
              <a:t>Analytical review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254729" y="2741354"/>
            <a:ext cx="8305656" cy="607859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marL="0" lvl="1" algn="just">
              <a:buClr>
                <a:srgbClr val="002060"/>
              </a:buClr>
              <a:buSzPct val="75000"/>
            </a:pPr>
            <a:r>
              <a:rPr lang="fr-FR" sz="1200" b="1" i="1" u="sng" dirty="0" err="1">
                <a:latin typeface="+mj-lt"/>
              </a:rPr>
              <a:t>Comments</a:t>
            </a:r>
            <a:r>
              <a:rPr lang="fr-FR" sz="1200" b="1" i="1" u="sng" dirty="0">
                <a:latin typeface="+mj-lt"/>
              </a:rPr>
              <a:t>: </a:t>
            </a:r>
          </a:p>
          <a:p>
            <a:pPr marL="0" lvl="1" algn="just">
              <a:buClr>
                <a:srgbClr val="002060"/>
              </a:buClr>
              <a:buSzPct val="75000"/>
            </a:pPr>
            <a:r>
              <a:rPr lang="fr-FR" sz="1100" b="1" i="1" dirty="0" err="1">
                <a:solidFill>
                  <a:srgbClr val="FF0000"/>
                </a:solidFill>
                <a:cs typeface="Calibri" panose="020F0502020204030204" pitchFamily="34" charset="0"/>
              </a:rPr>
              <a:t>Describe</a:t>
            </a:r>
            <a:r>
              <a:rPr lang="fr-FR" sz="1100" b="1" i="1" dirty="0">
                <a:solidFill>
                  <a:srgbClr val="FF0000"/>
                </a:solidFill>
                <a:cs typeface="Calibri" panose="020F0502020204030204" pitchFamily="34" charset="0"/>
              </a:rPr>
              <a:t> </a:t>
            </a:r>
            <a:r>
              <a:rPr lang="fr-FR" sz="1100" b="1" i="1" dirty="0" err="1">
                <a:solidFill>
                  <a:srgbClr val="FF0000"/>
                </a:solidFill>
                <a:cs typeface="Calibri" panose="020F0502020204030204" pitchFamily="34" charset="0"/>
              </a:rPr>
              <a:t>significant</a:t>
            </a:r>
            <a:r>
              <a:rPr lang="fr-FR" sz="1100" b="1" i="1" dirty="0">
                <a:solidFill>
                  <a:srgbClr val="FF0000"/>
                </a:solidFill>
                <a:cs typeface="Calibri" panose="020F0502020204030204" pitchFamily="34" charset="0"/>
              </a:rPr>
              <a:t> transactions and variations</a:t>
            </a:r>
          </a:p>
          <a:p>
            <a:pPr marL="0" lvl="1" algn="just">
              <a:buClr>
                <a:srgbClr val="002060"/>
              </a:buClr>
              <a:buSzPct val="75000"/>
            </a:pPr>
            <a:endParaRPr lang="fr-FR" sz="1050" b="1" dirty="0">
              <a:solidFill>
                <a:srgbClr val="C00000"/>
              </a:solidFill>
              <a:latin typeface="EYInterstate Light" panose="02000506000000020004" pitchFamily="2" charset="0"/>
              <a:cs typeface="Calibri" panose="020F0502020204030204" pitchFamily="34" charset="0"/>
            </a:endParaRPr>
          </a:p>
        </p:txBody>
      </p:sp>
      <p:graphicFrame>
        <p:nvGraphicFramePr>
          <p:cNvPr id="1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51860"/>
              </p:ext>
            </p:extLst>
          </p:nvPr>
        </p:nvGraphicFramePr>
        <p:xfrm>
          <a:off x="1159264" y="955595"/>
          <a:ext cx="6515100" cy="1500610"/>
        </p:xfrm>
        <a:graphic>
          <a:graphicData uri="http://schemas.openxmlformats.org/drawingml/2006/table">
            <a:tbl>
              <a:tblPr firstRow="1" firstCol="1" bandRow="1"/>
              <a:tblGrid>
                <a:gridCol w="24711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60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971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0534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585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00025">
                <a:tc>
                  <a:txBody>
                    <a:bodyPr/>
                    <a:lstStyle/>
                    <a:p>
                      <a:pPr algn="just" fontAlgn="ctr"/>
                      <a:r>
                        <a:rPr lang="fr-FR" sz="900" b="0" i="1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(in € millions)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Development</a:t>
                      </a:r>
                      <a:r>
                        <a:rPr lang="fr-FR" sz="900" b="1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</a:t>
                      </a:r>
                      <a:r>
                        <a:rPr lang="fr-FR" sz="900" b="1" i="0" u="none" strike="noStrike" baseline="0" dirty="0" err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costs</a:t>
                      </a:r>
                      <a:endParaRPr lang="fr-FR" sz="9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Software and </a:t>
                      </a:r>
                      <a:r>
                        <a:rPr lang="fr-FR" sz="9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other</a:t>
                      </a:r>
                      <a:endParaRPr lang="fr-FR" sz="9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Intangible </a:t>
                      </a:r>
                      <a:r>
                        <a:rPr lang="fr-FR" sz="9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assets</a:t>
                      </a:r>
                      <a:r>
                        <a:rPr lang="fr-F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</a:t>
                      </a:r>
                      <a:r>
                        <a:rPr lang="fr-FR" sz="9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acquired</a:t>
                      </a:r>
                      <a:endParaRPr lang="fr-FR" sz="9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TOTAL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Note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1453">
                <a:tc>
                  <a:txBody>
                    <a:bodyPr/>
                    <a:lstStyle/>
                    <a:p>
                      <a:pPr algn="just" fontAlgn="ctr"/>
                      <a:r>
                        <a:rPr lang="fr-FR" sz="9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INTANGIBLE ASSETS AS OF DECEMBER 2018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214">
                <a:tc>
                  <a:txBody>
                    <a:bodyPr/>
                    <a:lstStyle/>
                    <a:p>
                      <a:pPr marL="0" algn="just" defTabSz="914400" rtl="0" eaLnBrk="1" fontAlgn="ctr" latinLnBrk="0" hangingPunct="1"/>
                      <a:r>
                        <a:rPr lang="fr-FR" sz="900" b="0" i="0" u="none" strike="noStrike" kern="1200" baseline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Additions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48904776"/>
                  </a:ext>
                </a:extLst>
              </a:tr>
              <a:tr h="234032">
                <a:tc>
                  <a:txBody>
                    <a:bodyPr/>
                    <a:lstStyle/>
                    <a:p>
                      <a:pPr marL="0" algn="just" defTabSz="914400" rtl="0" eaLnBrk="1" fontAlgn="ctr" latinLnBrk="0" hangingPunct="1"/>
                      <a:r>
                        <a:rPr lang="fr-FR" sz="900" b="0" i="0" u="none" strike="noStrike" kern="1200" baseline="0" dirty="0" err="1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Depreciation</a:t>
                      </a:r>
                      <a:r>
                        <a:rPr lang="fr-FR" sz="900" b="0" i="0" u="none" strike="noStrike" kern="1200" baseline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 and </a:t>
                      </a:r>
                      <a:r>
                        <a:rPr lang="fr-FR" sz="900" b="0" i="0" u="none" strike="noStrike" kern="1200" baseline="0" dirty="0" err="1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amortization</a:t>
                      </a:r>
                      <a:endParaRPr lang="fr-FR" sz="900" b="0" i="0" u="none" strike="noStrike" kern="1200" baseline="0" dirty="0">
                        <a:solidFill>
                          <a:srgbClr val="000000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86332798"/>
                  </a:ext>
                </a:extLst>
              </a:tr>
              <a:tr h="244444">
                <a:tc>
                  <a:txBody>
                    <a:bodyPr/>
                    <a:lstStyle/>
                    <a:p>
                      <a:pPr marL="0" algn="just" defTabSz="914400" rtl="0" eaLnBrk="1" fontAlgn="ctr" latinLnBrk="0" hangingPunct="1"/>
                      <a:r>
                        <a:rPr lang="fr-FR" sz="900" b="0" i="0" u="none" strike="noStrike" kern="1200" baseline="0" dirty="0" err="1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Funding</a:t>
                      </a:r>
                      <a:r>
                        <a:rPr lang="fr-FR" sz="900" b="0" i="0" u="none" strike="noStrike" kern="1200" baseline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 provisions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83760107"/>
                  </a:ext>
                </a:extLst>
              </a:tr>
              <a:tr h="199176">
                <a:tc>
                  <a:txBody>
                    <a:bodyPr/>
                    <a:lstStyle/>
                    <a:p>
                      <a:pPr marL="0" algn="just" defTabSz="914400" rtl="0" eaLnBrk="1" fontAlgn="ctr" latinLnBrk="0" hangingPunct="1"/>
                      <a:r>
                        <a:rPr lang="fr-FR" sz="900" b="0" i="0" u="none" strike="noStrike" kern="1200" baseline="0" dirty="0" err="1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Others</a:t>
                      </a:r>
                      <a:endParaRPr lang="fr-FR" sz="900" b="0" i="0" u="none" strike="noStrike" kern="1200" baseline="0" dirty="0">
                        <a:solidFill>
                          <a:srgbClr val="000000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6586910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just" fontAlgn="ctr"/>
                      <a:r>
                        <a:rPr lang="fr-F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INTANGIBLE ASSETS AS OF JUNE 2019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7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2763380"/>
              </p:ext>
            </p:extLst>
          </p:nvPr>
        </p:nvGraphicFramePr>
        <p:xfrm>
          <a:off x="1150007" y="3555336"/>
          <a:ext cx="6092696" cy="1659786"/>
        </p:xfrm>
        <a:graphic>
          <a:graphicData uri="http://schemas.openxmlformats.org/drawingml/2006/table">
            <a:tbl>
              <a:tblPr firstRow="1" firstCol="1" bandRow="1"/>
              <a:tblGrid>
                <a:gridCol w="22993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42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184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2468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25513">
                  <a:extLst>
                    <a:ext uri="{9D8B030D-6E8A-4147-A177-3AD203B41FA5}">
                      <a16:colId xmlns:a16="http://schemas.microsoft.com/office/drawing/2014/main" val="2667263870"/>
                    </a:ext>
                  </a:extLst>
                </a:gridCol>
                <a:gridCol w="624689">
                  <a:extLst>
                    <a:ext uri="{9D8B030D-6E8A-4147-A177-3AD203B41FA5}">
                      <a16:colId xmlns:a16="http://schemas.microsoft.com/office/drawing/2014/main" val="3153535294"/>
                    </a:ext>
                  </a:extLst>
                </a:gridCol>
                <a:gridCol w="74231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5892">
                <a:tc>
                  <a:txBody>
                    <a:bodyPr/>
                    <a:lstStyle/>
                    <a:p>
                      <a:pPr algn="just" fontAlgn="ctr"/>
                      <a:r>
                        <a:rPr lang="fr-FR" sz="900" b="0" i="1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(in € millions)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fr-F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DECEMBER 2021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fr-FR" sz="9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fr-FR" sz="9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fr-F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DECEMBER</a:t>
                      </a:r>
                      <a:r>
                        <a:rPr lang="fr-FR" sz="900" b="1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2020</a:t>
                      </a:r>
                      <a:endParaRPr lang="fr-FR" sz="9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fr-FR" sz="9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fr-FR" sz="9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 fontAlgn="ctr"/>
                      <a:endParaRPr lang="fr-FR" sz="900" b="0" i="1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Gross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Depreciation</a:t>
                      </a:r>
                      <a:endParaRPr lang="fr-FR" sz="9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Net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Gross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Net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Note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2880010"/>
                  </a:ext>
                </a:extLst>
              </a:tr>
              <a:tr h="211453">
                <a:tc>
                  <a:txBody>
                    <a:bodyPr/>
                    <a:lstStyle/>
                    <a:p>
                      <a:pPr marL="0" algn="just" defTabSz="914400" rtl="0" eaLnBrk="1" fontAlgn="ctr" latinLnBrk="0" hangingPunct="1"/>
                      <a:r>
                        <a:rPr lang="fr-FR" sz="900" b="0" i="0" u="none" strike="noStrike" kern="1200" baseline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Land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4856">
                <a:tc>
                  <a:txBody>
                    <a:bodyPr/>
                    <a:lstStyle/>
                    <a:p>
                      <a:pPr marL="0" algn="just" defTabSz="914400" rtl="0" eaLnBrk="1" fontAlgn="ctr" latinLnBrk="0" hangingPunct="1"/>
                      <a:r>
                        <a:rPr lang="fr-FR" sz="900" b="0" i="0" u="none" strike="noStrike" kern="1200" baseline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Building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48904776"/>
                  </a:ext>
                </a:extLst>
              </a:tr>
              <a:tr h="220397">
                <a:tc>
                  <a:txBody>
                    <a:bodyPr/>
                    <a:lstStyle/>
                    <a:p>
                      <a:pPr marL="0" algn="just" defTabSz="914400" rtl="0" eaLnBrk="1" fontAlgn="ctr" latinLnBrk="0" hangingPunct="1"/>
                      <a:r>
                        <a:rPr lang="fr-FR" sz="900" b="0" i="0" u="none" strike="noStrike" kern="1200" baseline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Plant, </a:t>
                      </a:r>
                      <a:r>
                        <a:rPr lang="fr-FR" sz="900" b="0" i="0" u="none" strike="noStrike" kern="1200" baseline="0" dirty="0" err="1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tooling</a:t>
                      </a:r>
                      <a:r>
                        <a:rPr lang="fr-FR" sz="900" b="0" i="0" u="none" strike="noStrike" kern="1200" baseline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 and </a:t>
                      </a:r>
                      <a:r>
                        <a:rPr lang="fr-FR" sz="900" b="0" i="0" u="none" strike="noStrike" kern="1200" baseline="0" dirty="0" err="1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technical</a:t>
                      </a:r>
                      <a:r>
                        <a:rPr lang="fr-FR" sz="900" b="0" i="0" u="none" strike="noStrike" kern="1200" baseline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 </a:t>
                      </a:r>
                      <a:r>
                        <a:rPr lang="fr-FR" sz="900" b="0" i="0" u="none" strike="noStrike" kern="1200" baseline="0" dirty="0" err="1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equipment</a:t>
                      </a:r>
                      <a:endParaRPr lang="fr-FR" sz="900" b="0" i="0" u="none" strike="noStrike" kern="1200" baseline="0" dirty="0">
                        <a:solidFill>
                          <a:srgbClr val="000000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6586910"/>
                  </a:ext>
                </a:extLst>
              </a:tr>
              <a:tr h="209985">
                <a:tc>
                  <a:txBody>
                    <a:bodyPr/>
                    <a:lstStyle/>
                    <a:p>
                      <a:pPr marL="0" algn="just" defTabSz="914400" rtl="0" eaLnBrk="1" fontAlgn="ctr" latinLnBrk="0" hangingPunct="1"/>
                      <a:r>
                        <a:rPr lang="fr-FR" sz="900" b="0" i="0" u="none" strike="noStrike" kern="1200" baseline="0" dirty="0" err="1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Specific</a:t>
                      </a:r>
                      <a:r>
                        <a:rPr lang="fr-FR" sz="900" b="0" i="0" u="none" strike="noStrike" kern="1200" baseline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 </a:t>
                      </a:r>
                      <a:r>
                        <a:rPr lang="fr-FR" sz="900" b="0" i="0" u="none" strike="noStrike" kern="1200" baseline="0" dirty="0" err="1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tooling</a:t>
                      </a:r>
                      <a:endParaRPr lang="fr-FR" sz="900" b="0" i="0" u="none" strike="noStrike" kern="1200" baseline="0" dirty="0">
                        <a:solidFill>
                          <a:srgbClr val="000000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25510461"/>
                  </a:ext>
                </a:extLst>
              </a:tr>
              <a:tr h="398750">
                <a:tc>
                  <a:txBody>
                    <a:bodyPr/>
                    <a:lstStyle/>
                    <a:p>
                      <a:pPr marL="0" algn="just" defTabSz="914400" rtl="0" eaLnBrk="1" fontAlgn="ctr" latinLnBrk="0" hangingPunct="1"/>
                      <a:r>
                        <a:rPr lang="fr-FR" sz="900" b="0" i="0" u="none" strike="noStrike" kern="1200" baseline="0" dirty="0" err="1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Other</a:t>
                      </a:r>
                      <a:r>
                        <a:rPr lang="fr-FR" sz="900" b="0" i="0" u="none" strike="noStrike" kern="1200" baseline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 </a:t>
                      </a:r>
                      <a:r>
                        <a:rPr lang="fr-FR" sz="900" b="0" i="0" u="none" strike="noStrike" kern="1200" baseline="0" dirty="0" err="1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property</a:t>
                      </a:r>
                      <a:r>
                        <a:rPr lang="fr-FR" sz="900" b="0" i="0" u="none" strike="noStrike" kern="1200" baseline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, plant and </a:t>
                      </a:r>
                      <a:r>
                        <a:rPr lang="fr-FR" sz="900" b="0" i="0" u="none" strike="noStrike" kern="1200" baseline="0" dirty="0" err="1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equipment</a:t>
                      </a:r>
                      <a:r>
                        <a:rPr lang="fr-FR" sz="900" b="0" i="0" u="none" strike="noStrike" kern="1200" baseline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 &amp; </a:t>
                      </a:r>
                      <a:r>
                        <a:rPr lang="fr-FR" sz="900" b="0" i="0" u="none" strike="noStrike" kern="1200" baseline="0" dirty="0" err="1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property</a:t>
                      </a:r>
                      <a:r>
                        <a:rPr lang="fr-FR" sz="900" b="0" i="0" u="none" strike="noStrike" kern="1200" baseline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, plant and </a:t>
                      </a:r>
                      <a:r>
                        <a:rPr lang="fr-FR" sz="900" b="0" i="0" u="none" strike="noStrike" kern="1200" baseline="0" dirty="0" err="1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equipment</a:t>
                      </a:r>
                      <a:r>
                        <a:rPr lang="fr-FR" sz="900" b="0" i="0" u="none" strike="noStrike" kern="1200" baseline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 in </a:t>
                      </a:r>
                      <a:r>
                        <a:rPr lang="fr-FR" sz="900" b="0" i="0" u="none" strike="noStrike" kern="1200" baseline="0" dirty="0" err="1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progress</a:t>
                      </a:r>
                      <a:endParaRPr lang="fr-FR" sz="900" b="0" i="0" u="none" strike="noStrike" kern="1200" baseline="0" dirty="0">
                        <a:solidFill>
                          <a:srgbClr val="000000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0939866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just" fontAlgn="ctr"/>
                      <a:r>
                        <a:rPr lang="fr-F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PROPERTY,</a:t>
                      </a:r>
                      <a:r>
                        <a:rPr lang="fr-FR" sz="900" b="1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PLANT AND EQUIPMENT</a:t>
                      </a:r>
                      <a:endParaRPr lang="fr-FR" sz="9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8" name="Rectangle 17"/>
          <p:cNvSpPr/>
          <p:nvPr/>
        </p:nvSpPr>
        <p:spPr>
          <a:xfrm>
            <a:off x="254729" y="5066586"/>
            <a:ext cx="8305656" cy="607859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marL="0" lvl="1" algn="just">
              <a:buClr>
                <a:srgbClr val="002060"/>
              </a:buClr>
              <a:buSzPct val="75000"/>
            </a:pPr>
            <a:r>
              <a:rPr lang="fr-FR" sz="1200" b="1" i="1" u="sng" dirty="0" err="1">
                <a:latin typeface="+mj-lt"/>
              </a:rPr>
              <a:t>Comments</a:t>
            </a:r>
            <a:r>
              <a:rPr lang="fr-FR" sz="1200" b="1" i="1" u="sng" dirty="0">
                <a:latin typeface="+mj-lt"/>
              </a:rPr>
              <a:t>: </a:t>
            </a:r>
          </a:p>
          <a:p>
            <a:pPr marL="0" lvl="1" algn="just">
              <a:buClr>
                <a:srgbClr val="002060"/>
              </a:buClr>
              <a:buSzPct val="75000"/>
            </a:pPr>
            <a:r>
              <a:rPr lang="fr-FR" sz="1100" b="1" i="1" dirty="0" err="1">
                <a:solidFill>
                  <a:srgbClr val="FF0000"/>
                </a:solidFill>
                <a:cs typeface="Calibri" panose="020F0502020204030204" pitchFamily="34" charset="0"/>
              </a:rPr>
              <a:t>Describe</a:t>
            </a:r>
            <a:r>
              <a:rPr lang="fr-FR" sz="1100" b="1" i="1" dirty="0">
                <a:solidFill>
                  <a:srgbClr val="FF0000"/>
                </a:solidFill>
                <a:cs typeface="Calibri" panose="020F0502020204030204" pitchFamily="34" charset="0"/>
              </a:rPr>
              <a:t> </a:t>
            </a:r>
            <a:r>
              <a:rPr lang="fr-FR" sz="1100" b="1" i="1" dirty="0" err="1">
                <a:solidFill>
                  <a:srgbClr val="FF0000"/>
                </a:solidFill>
                <a:cs typeface="Calibri" panose="020F0502020204030204" pitchFamily="34" charset="0"/>
              </a:rPr>
              <a:t>significant</a:t>
            </a:r>
            <a:r>
              <a:rPr lang="fr-FR" sz="1100" b="1" i="1" dirty="0">
                <a:solidFill>
                  <a:srgbClr val="FF0000"/>
                </a:solidFill>
                <a:cs typeface="Calibri" panose="020F0502020204030204" pitchFamily="34" charset="0"/>
              </a:rPr>
              <a:t> transactions and variations (in </a:t>
            </a:r>
            <a:r>
              <a:rPr lang="fr-FR" sz="1100" b="1" i="1" dirty="0" err="1">
                <a:solidFill>
                  <a:srgbClr val="FF0000"/>
                </a:solidFill>
                <a:cs typeface="Calibri" panose="020F0502020204030204" pitchFamily="34" charset="0"/>
              </a:rPr>
              <a:t>particular</a:t>
            </a:r>
            <a:r>
              <a:rPr lang="fr-FR" sz="1100" b="1" i="1" dirty="0">
                <a:solidFill>
                  <a:srgbClr val="FF0000"/>
                </a:solidFill>
                <a:cs typeface="Calibri" panose="020F0502020204030204" pitchFamily="34" charset="0"/>
              </a:rPr>
              <a:t> for </a:t>
            </a:r>
            <a:r>
              <a:rPr lang="fr-FR" sz="1100" b="1" i="1" dirty="0" err="1">
                <a:solidFill>
                  <a:srgbClr val="FF0000"/>
                </a:solidFill>
                <a:cs typeface="Calibri" panose="020F0502020204030204" pitchFamily="34" charset="0"/>
              </a:rPr>
              <a:t>specific</a:t>
            </a:r>
            <a:r>
              <a:rPr lang="fr-FR" sz="1100" b="1" i="1" dirty="0">
                <a:solidFill>
                  <a:srgbClr val="FF0000"/>
                </a:solidFill>
                <a:cs typeface="Calibri" panose="020F0502020204030204" pitchFamily="34" charset="0"/>
              </a:rPr>
              <a:t> </a:t>
            </a:r>
            <a:r>
              <a:rPr lang="fr-FR" sz="1100" b="1" i="1" dirty="0" err="1">
                <a:solidFill>
                  <a:srgbClr val="FF0000"/>
                </a:solidFill>
                <a:cs typeface="Calibri" panose="020F0502020204030204" pitchFamily="34" charset="0"/>
              </a:rPr>
              <a:t>tooling</a:t>
            </a:r>
            <a:r>
              <a:rPr lang="fr-FR" sz="1100" b="1" i="1" dirty="0">
                <a:solidFill>
                  <a:srgbClr val="FF0000"/>
                </a:solidFill>
                <a:cs typeface="Calibri" panose="020F0502020204030204" pitchFamily="34" charset="0"/>
              </a:rPr>
              <a:t>)</a:t>
            </a:r>
          </a:p>
          <a:p>
            <a:pPr marL="0" lvl="1" algn="just">
              <a:buClr>
                <a:srgbClr val="002060"/>
              </a:buClr>
              <a:buSzPct val="75000"/>
            </a:pPr>
            <a:endParaRPr lang="fr-FR" sz="1050" b="1" dirty="0">
              <a:solidFill>
                <a:srgbClr val="C00000"/>
              </a:solidFill>
              <a:latin typeface="EYInterstate Light" panose="02000506000000020004" pitchFamily="2" charset="0"/>
              <a:cs typeface="Calibri" panose="020F0502020204030204" pitchFamily="34" charset="0"/>
            </a:endParaRPr>
          </a:p>
        </p:txBody>
      </p:sp>
      <p:sp>
        <p:nvSpPr>
          <p:cNvPr id="19" name="Pentagon 6"/>
          <p:cNvSpPr/>
          <p:nvPr/>
        </p:nvSpPr>
        <p:spPr>
          <a:xfrm>
            <a:off x="3723814" y="132929"/>
            <a:ext cx="1386001" cy="516535"/>
          </a:xfrm>
          <a:prstGeom prst="homePlate">
            <a:avLst/>
          </a:prstGeom>
          <a:solidFill>
            <a:schemeClr val="bg1">
              <a:lumMod val="85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88900" rIns="88900" bIns="88900" rtlCol="0" anchor="ctr"/>
          <a:lstStyle/>
          <a:p>
            <a:pPr algn="ctr"/>
            <a:r>
              <a:rPr lang="en-US" sz="1200" dirty="0">
                <a:solidFill>
                  <a:schemeClr val="bg1"/>
                </a:solidFill>
                <a:latin typeface="+mj-lt"/>
              </a:rPr>
              <a:t>Context</a:t>
            </a:r>
          </a:p>
        </p:txBody>
      </p:sp>
      <p:sp>
        <p:nvSpPr>
          <p:cNvPr id="20" name="Chevron 8"/>
          <p:cNvSpPr/>
          <p:nvPr/>
        </p:nvSpPr>
        <p:spPr>
          <a:xfrm>
            <a:off x="4930617" y="132929"/>
            <a:ext cx="1386001" cy="516535"/>
          </a:xfrm>
          <a:prstGeom prst="chevron">
            <a:avLst/>
          </a:prstGeom>
          <a:solidFill>
            <a:schemeClr val="bg1">
              <a:lumMod val="85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88900" rIns="0" bIns="88900" rtlCol="0" anchor="ctr"/>
          <a:lstStyle/>
          <a:p>
            <a:pPr algn="ctr"/>
            <a:r>
              <a:rPr lang="en-US" sz="1200" dirty="0">
                <a:solidFill>
                  <a:schemeClr val="bg1"/>
                </a:solidFill>
                <a:latin typeface="+mj-lt"/>
              </a:rPr>
              <a:t>Audit approach</a:t>
            </a:r>
          </a:p>
        </p:txBody>
      </p:sp>
      <p:sp>
        <p:nvSpPr>
          <p:cNvPr id="22" name="Chevron 9"/>
          <p:cNvSpPr/>
          <p:nvPr/>
        </p:nvSpPr>
        <p:spPr>
          <a:xfrm>
            <a:off x="6126958" y="132929"/>
            <a:ext cx="1386001" cy="516535"/>
          </a:xfrm>
          <a:prstGeom prst="chevron">
            <a:avLst/>
          </a:prstGeom>
          <a:solidFill>
            <a:schemeClr val="bg1">
              <a:lumMod val="85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88900" rIns="0" bIns="88900" rtlCol="0" anchor="ctr"/>
          <a:lstStyle/>
          <a:p>
            <a:pPr algn="ctr"/>
            <a:r>
              <a:rPr lang="en-US" sz="1200" dirty="0">
                <a:solidFill>
                  <a:schemeClr val="bg1"/>
                </a:solidFill>
                <a:latin typeface="+mj-lt"/>
              </a:rPr>
              <a:t>Conclusion</a:t>
            </a:r>
          </a:p>
        </p:txBody>
      </p:sp>
      <p:sp>
        <p:nvSpPr>
          <p:cNvPr id="23" name="Chevron 10"/>
          <p:cNvSpPr/>
          <p:nvPr/>
        </p:nvSpPr>
        <p:spPr>
          <a:xfrm>
            <a:off x="7319236" y="132929"/>
            <a:ext cx="1386001" cy="516535"/>
          </a:xfrm>
          <a:prstGeom prst="chevron">
            <a:avLst/>
          </a:prstGeom>
          <a:solidFill>
            <a:srgbClr val="223F87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88900" rIns="0" bIns="88900" rtlCol="0" anchor="ctr"/>
          <a:lstStyle/>
          <a:p>
            <a:r>
              <a:rPr lang="en-US" sz="1200" b="1" dirty="0">
                <a:solidFill>
                  <a:schemeClr val="bg1"/>
                </a:solidFill>
                <a:latin typeface="+mj-lt"/>
              </a:rPr>
              <a:t>Appendices</a:t>
            </a:r>
          </a:p>
        </p:txBody>
      </p:sp>
      <p:sp>
        <p:nvSpPr>
          <p:cNvPr id="24" name="Slide Number Placeholder 9"/>
          <p:cNvSpPr>
            <a:spLocks noGrp="1"/>
          </p:cNvSpPr>
          <p:nvPr>
            <p:ph type="sldNum" sz="quarter" idx="12"/>
          </p:nvPr>
        </p:nvSpPr>
        <p:spPr>
          <a:xfrm>
            <a:off x="2700337" y="6482398"/>
            <a:ext cx="2057400" cy="365125"/>
          </a:xfrm>
        </p:spPr>
        <p:txBody>
          <a:bodyPr/>
          <a:lstStyle/>
          <a:p>
            <a:fld id="{661E6E57-A11E-4CD0-AED6-15B700CC2E98}" type="slidenum">
              <a:rPr lang="fr-FR" smtClean="0">
                <a:latin typeface="EYInterstate Light" panose="02000506000000020004" pitchFamily="2" charset="0"/>
              </a:rPr>
              <a:t>16</a:t>
            </a:fld>
            <a:endParaRPr lang="fr-FR" dirty="0">
              <a:latin typeface="EYInterstate Light" panose="02000506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95431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 txBox="1">
            <a:spLocks/>
          </p:cNvSpPr>
          <p:nvPr/>
        </p:nvSpPr>
        <p:spPr>
          <a:xfrm>
            <a:off x="323528" y="50376"/>
            <a:ext cx="8381710" cy="850106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700" b="1" dirty="0">
                <a:solidFill>
                  <a:prstClr val="black"/>
                </a:solidFill>
              </a:rPr>
              <a:t>Balance sheet</a:t>
            </a:r>
          </a:p>
          <a:p>
            <a:pPr lvl="0" algn="l"/>
            <a:r>
              <a:rPr lang="en-US" sz="1700" b="1" dirty="0">
                <a:solidFill>
                  <a:prstClr val="black"/>
                </a:solidFill>
              </a:rPr>
              <a:t>Analytical review</a:t>
            </a:r>
          </a:p>
        </p:txBody>
      </p:sp>
      <p:graphicFrame>
        <p:nvGraphicFramePr>
          <p:cNvPr id="17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7636412"/>
              </p:ext>
            </p:extLst>
          </p:nvPr>
        </p:nvGraphicFramePr>
        <p:xfrm>
          <a:off x="987045" y="1103541"/>
          <a:ext cx="6092696" cy="1425962"/>
        </p:xfrm>
        <a:graphic>
          <a:graphicData uri="http://schemas.openxmlformats.org/drawingml/2006/table">
            <a:tbl>
              <a:tblPr firstRow="1" firstCol="1" bandRow="1"/>
              <a:tblGrid>
                <a:gridCol w="22993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42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184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2468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25513">
                  <a:extLst>
                    <a:ext uri="{9D8B030D-6E8A-4147-A177-3AD203B41FA5}">
                      <a16:colId xmlns:a16="http://schemas.microsoft.com/office/drawing/2014/main" val="2667263870"/>
                    </a:ext>
                  </a:extLst>
                </a:gridCol>
                <a:gridCol w="624689">
                  <a:extLst>
                    <a:ext uri="{9D8B030D-6E8A-4147-A177-3AD203B41FA5}">
                      <a16:colId xmlns:a16="http://schemas.microsoft.com/office/drawing/2014/main" val="3153535294"/>
                    </a:ext>
                  </a:extLst>
                </a:gridCol>
                <a:gridCol w="74231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79580">
                <a:tc>
                  <a:txBody>
                    <a:bodyPr/>
                    <a:lstStyle/>
                    <a:p>
                      <a:pPr algn="just" fontAlgn="ctr"/>
                      <a:r>
                        <a:rPr lang="fr-FR" sz="900" b="0" i="1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(in € millions)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fr-F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DECEMBER 2021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fr-FR" sz="9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fr-FR" sz="9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fr-F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DECEMBER</a:t>
                      </a:r>
                      <a:r>
                        <a:rPr lang="fr-FR" sz="900" b="1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2020</a:t>
                      </a:r>
                      <a:endParaRPr lang="fr-FR" sz="9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fr-FR" sz="9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fr-FR" sz="9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 fontAlgn="ctr"/>
                      <a:endParaRPr lang="fr-FR" sz="900" b="0" i="1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Gross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Depreciation</a:t>
                      </a:r>
                      <a:endParaRPr lang="fr-FR" sz="9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Net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Gross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Net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Note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2880010"/>
                  </a:ext>
                </a:extLst>
              </a:tr>
              <a:tr h="211453">
                <a:tc>
                  <a:txBody>
                    <a:bodyPr/>
                    <a:lstStyle/>
                    <a:p>
                      <a:pPr marL="0" algn="just" defTabSz="914400" rtl="0" eaLnBrk="1" fontAlgn="ctr" latinLnBrk="0" hangingPunct="1"/>
                      <a:r>
                        <a:rPr lang="fr-FR" sz="900" b="0" i="0" u="none" strike="noStrike" kern="1200" baseline="0" dirty="0" err="1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Raw</a:t>
                      </a:r>
                      <a:r>
                        <a:rPr lang="fr-FR" sz="900" b="0" i="0" u="none" strike="noStrike" kern="1200" baseline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 </a:t>
                      </a:r>
                      <a:r>
                        <a:rPr lang="fr-FR" sz="900" b="0" i="0" u="none" strike="noStrike" kern="1200" baseline="0" dirty="0" err="1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materials</a:t>
                      </a:r>
                      <a:r>
                        <a:rPr lang="fr-FR" sz="900" b="0" i="0" u="none" strike="noStrike" kern="1200" baseline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 and supplies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(1)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6646">
                <a:tc>
                  <a:txBody>
                    <a:bodyPr/>
                    <a:lstStyle/>
                    <a:p>
                      <a:pPr marL="0" algn="just" defTabSz="914400" rtl="0" eaLnBrk="1" fontAlgn="ctr" latinLnBrk="0" hangingPunct="1"/>
                      <a:r>
                        <a:rPr lang="fr-FR" sz="900" b="0" i="0" u="none" strike="noStrike" kern="1200" baseline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Engineering, </a:t>
                      </a:r>
                      <a:r>
                        <a:rPr lang="fr-FR" sz="900" b="0" i="0" u="none" strike="noStrike" kern="1200" baseline="0" dirty="0" err="1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tooling</a:t>
                      </a:r>
                      <a:r>
                        <a:rPr lang="fr-FR" sz="900" b="0" i="0" u="none" strike="noStrike" kern="1200" baseline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 and prototypes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48904776"/>
                  </a:ext>
                </a:extLst>
              </a:tr>
              <a:tr h="226337">
                <a:tc>
                  <a:txBody>
                    <a:bodyPr/>
                    <a:lstStyle/>
                    <a:p>
                      <a:pPr marL="0" algn="just" defTabSz="914400" rtl="0" eaLnBrk="1" fontAlgn="ctr" latinLnBrk="0" hangingPunct="1"/>
                      <a:r>
                        <a:rPr lang="fr-FR" sz="900" b="0" i="0" u="none" strike="noStrike" kern="1200" baseline="0" dirty="0" err="1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Work</a:t>
                      </a:r>
                      <a:r>
                        <a:rPr lang="fr-FR" sz="900" b="0" i="0" u="none" strike="noStrike" kern="1200" baseline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 in </a:t>
                      </a:r>
                      <a:r>
                        <a:rPr lang="fr-FR" sz="900" b="0" i="0" u="none" strike="noStrike" kern="1200" baseline="0" dirty="0" err="1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progress</a:t>
                      </a:r>
                      <a:r>
                        <a:rPr lang="fr-FR" sz="900" b="0" i="0" u="none" strike="noStrike" kern="1200" baseline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 for production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6586910"/>
                  </a:ext>
                </a:extLst>
              </a:tr>
              <a:tr h="247181">
                <a:tc>
                  <a:txBody>
                    <a:bodyPr/>
                    <a:lstStyle/>
                    <a:p>
                      <a:pPr marL="0" algn="just" defTabSz="914400" rtl="0" eaLnBrk="1" fontAlgn="ctr" latinLnBrk="0" hangingPunct="1"/>
                      <a:r>
                        <a:rPr lang="fr-FR" sz="900" b="0" i="0" u="none" strike="noStrike" kern="1200" baseline="0" dirty="0" err="1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Semi-finished</a:t>
                      </a:r>
                      <a:r>
                        <a:rPr lang="fr-FR" sz="900" b="0" i="0" u="none" strike="noStrike" kern="1200" baseline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 and </a:t>
                      </a:r>
                      <a:r>
                        <a:rPr lang="fr-FR" sz="900" b="0" i="0" u="none" strike="noStrike" kern="1200" baseline="0" dirty="0" err="1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finished</a:t>
                      </a:r>
                      <a:r>
                        <a:rPr lang="fr-FR" sz="900" b="0" i="0" u="none" strike="noStrike" kern="1200" baseline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 </a:t>
                      </a:r>
                      <a:r>
                        <a:rPr lang="fr-FR" sz="900" b="0" i="0" u="none" strike="noStrike" kern="1200" baseline="0" dirty="0" err="1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products</a:t>
                      </a:r>
                      <a:endParaRPr lang="fr-FR" sz="900" b="0" i="0" u="none" strike="noStrike" kern="1200" baseline="0" dirty="0">
                        <a:solidFill>
                          <a:srgbClr val="000000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25510461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just" fontAlgn="ctr"/>
                      <a:r>
                        <a:rPr lang="fr-F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INVENTORIES</a:t>
                      </a:r>
                      <a:r>
                        <a:rPr lang="fr-FR" sz="900" b="1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AND WORK-IN-PROGRESS</a:t>
                      </a:r>
                      <a:endParaRPr lang="fr-FR" sz="9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8" name="Rectangle 17"/>
          <p:cNvSpPr/>
          <p:nvPr/>
        </p:nvSpPr>
        <p:spPr>
          <a:xfrm>
            <a:off x="254729" y="2676474"/>
            <a:ext cx="8305656" cy="946413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marL="0" lvl="1" algn="just">
              <a:buClr>
                <a:srgbClr val="002060"/>
              </a:buClr>
              <a:buSzPct val="75000"/>
            </a:pPr>
            <a:r>
              <a:rPr lang="fr-FR" sz="1200" b="1" i="1" u="sng" dirty="0" err="1">
                <a:latin typeface="+mj-lt"/>
              </a:rPr>
              <a:t>Comments</a:t>
            </a:r>
            <a:r>
              <a:rPr lang="fr-FR" sz="1200" b="1" i="1" u="sng" dirty="0">
                <a:latin typeface="+mj-lt"/>
              </a:rPr>
              <a:t>: </a:t>
            </a:r>
          </a:p>
          <a:p>
            <a:pPr marL="0" lvl="1" algn="just">
              <a:buClr>
                <a:srgbClr val="002060"/>
              </a:buClr>
              <a:buSzPct val="75000"/>
            </a:pPr>
            <a:r>
              <a:rPr lang="fr-FR" sz="1100" b="1" i="1" dirty="0" err="1">
                <a:solidFill>
                  <a:srgbClr val="FF0000"/>
                </a:solidFill>
                <a:cs typeface="Calibri" panose="020F0502020204030204" pitchFamily="34" charset="0"/>
              </a:rPr>
              <a:t>Describe</a:t>
            </a:r>
            <a:r>
              <a:rPr lang="fr-FR" sz="1100" b="1" i="1" dirty="0">
                <a:solidFill>
                  <a:srgbClr val="FF0000"/>
                </a:solidFill>
                <a:cs typeface="Calibri" panose="020F0502020204030204" pitchFamily="34" charset="0"/>
              </a:rPr>
              <a:t> </a:t>
            </a:r>
            <a:r>
              <a:rPr lang="fr-FR" sz="1100" b="1" i="1" dirty="0" err="1">
                <a:solidFill>
                  <a:srgbClr val="FF0000"/>
                </a:solidFill>
                <a:cs typeface="Calibri" panose="020F0502020204030204" pitchFamily="34" charset="0"/>
              </a:rPr>
              <a:t>significant</a:t>
            </a:r>
            <a:r>
              <a:rPr lang="fr-FR" sz="1100" b="1" i="1" dirty="0">
                <a:solidFill>
                  <a:srgbClr val="FF0000"/>
                </a:solidFill>
                <a:cs typeface="Calibri" panose="020F0502020204030204" pitchFamily="34" charset="0"/>
              </a:rPr>
              <a:t> transactions and variations (in </a:t>
            </a:r>
            <a:r>
              <a:rPr lang="fr-FR" sz="1100" b="1" i="1" dirty="0" err="1">
                <a:solidFill>
                  <a:srgbClr val="FF0000"/>
                </a:solidFill>
                <a:cs typeface="Calibri" panose="020F0502020204030204" pitchFamily="34" charset="0"/>
              </a:rPr>
              <a:t>particular</a:t>
            </a:r>
            <a:r>
              <a:rPr lang="fr-FR" sz="1100" b="1" i="1" dirty="0">
                <a:solidFill>
                  <a:srgbClr val="FF0000"/>
                </a:solidFill>
                <a:cs typeface="Calibri" panose="020F0502020204030204" pitchFamily="34" charset="0"/>
              </a:rPr>
              <a:t> for </a:t>
            </a:r>
            <a:r>
              <a:rPr lang="fr-FR" sz="1100" b="1" i="1" dirty="0" err="1">
                <a:solidFill>
                  <a:srgbClr val="FF0000"/>
                </a:solidFill>
                <a:cs typeface="Calibri" panose="020F0502020204030204" pitchFamily="34" charset="0"/>
              </a:rPr>
              <a:t>tooling</a:t>
            </a:r>
            <a:r>
              <a:rPr lang="fr-FR" sz="1100" b="1" i="1" dirty="0">
                <a:solidFill>
                  <a:srgbClr val="FF0000"/>
                </a:solidFill>
                <a:cs typeface="Calibri" panose="020F0502020204030204" pitchFamily="34" charset="0"/>
              </a:rPr>
              <a:t>)</a:t>
            </a:r>
          </a:p>
          <a:p>
            <a:pPr marL="0" lvl="1" algn="just">
              <a:buClr>
                <a:srgbClr val="002060"/>
              </a:buClr>
              <a:buSzPct val="75000"/>
            </a:pPr>
            <a:endParaRPr lang="fr-FR" sz="1100" b="1" i="1" dirty="0">
              <a:solidFill>
                <a:srgbClr val="FF0000"/>
              </a:solidFill>
              <a:cs typeface="Calibri" panose="020F0502020204030204" pitchFamily="34" charset="0"/>
            </a:endParaRPr>
          </a:p>
          <a:p>
            <a:pPr marL="0" lvl="1" algn="just">
              <a:buClr>
                <a:srgbClr val="002060"/>
              </a:buClr>
              <a:buSzPct val="75000"/>
            </a:pPr>
            <a:r>
              <a:rPr lang="fr-FR" sz="900" b="1" dirty="0">
                <a:solidFill>
                  <a:srgbClr val="000000"/>
                </a:solidFill>
                <a:latin typeface="+mj-lt"/>
              </a:rPr>
              <a:t>(1) </a:t>
            </a:r>
            <a:r>
              <a:rPr lang="fr-FR" sz="900" dirty="0">
                <a:solidFill>
                  <a:srgbClr val="000000"/>
                </a:solidFill>
                <a:latin typeface="+mj-lt"/>
              </a:rPr>
              <a:t>XXX</a:t>
            </a:r>
          </a:p>
          <a:p>
            <a:pPr marL="0" lvl="1" algn="just">
              <a:buClr>
                <a:srgbClr val="002060"/>
              </a:buClr>
              <a:buSzPct val="75000"/>
            </a:pPr>
            <a:endParaRPr lang="fr-FR" sz="1050" b="1" dirty="0">
              <a:solidFill>
                <a:srgbClr val="C00000"/>
              </a:solidFill>
              <a:latin typeface="EYInterstate Light" panose="02000506000000020004" pitchFamily="2" charset="0"/>
              <a:cs typeface="Calibri" panose="020F0502020204030204" pitchFamily="34" charset="0"/>
            </a:endParaRPr>
          </a:p>
        </p:txBody>
      </p:sp>
      <p:sp>
        <p:nvSpPr>
          <p:cNvPr id="16" name="Pentagon 6"/>
          <p:cNvSpPr/>
          <p:nvPr/>
        </p:nvSpPr>
        <p:spPr>
          <a:xfrm>
            <a:off x="3723814" y="132929"/>
            <a:ext cx="1386001" cy="516535"/>
          </a:xfrm>
          <a:prstGeom prst="homePlate">
            <a:avLst/>
          </a:prstGeom>
          <a:solidFill>
            <a:schemeClr val="bg1">
              <a:lumMod val="85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88900" rIns="88900" bIns="88900" rtlCol="0" anchor="ctr"/>
          <a:lstStyle/>
          <a:p>
            <a:pPr algn="ctr"/>
            <a:r>
              <a:rPr lang="en-US" sz="1200" dirty="0">
                <a:solidFill>
                  <a:schemeClr val="bg1"/>
                </a:solidFill>
                <a:latin typeface="+mj-lt"/>
              </a:rPr>
              <a:t>Context</a:t>
            </a:r>
          </a:p>
        </p:txBody>
      </p:sp>
      <p:sp>
        <p:nvSpPr>
          <p:cNvPr id="19" name="Chevron 8"/>
          <p:cNvSpPr/>
          <p:nvPr/>
        </p:nvSpPr>
        <p:spPr>
          <a:xfrm>
            <a:off x="4930617" y="132929"/>
            <a:ext cx="1386001" cy="516535"/>
          </a:xfrm>
          <a:prstGeom prst="chevron">
            <a:avLst/>
          </a:prstGeom>
          <a:solidFill>
            <a:schemeClr val="bg1">
              <a:lumMod val="85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88900" rIns="0" bIns="88900" rtlCol="0" anchor="ctr"/>
          <a:lstStyle/>
          <a:p>
            <a:pPr algn="ctr"/>
            <a:r>
              <a:rPr lang="en-US" sz="1200" dirty="0">
                <a:solidFill>
                  <a:schemeClr val="bg1"/>
                </a:solidFill>
                <a:latin typeface="+mj-lt"/>
              </a:rPr>
              <a:t>Audit approach</a:t>
            </a:r>
          </a:p>
        </p:txBody>
      </p:sp>
      <p:sp>
        <p:nvSpPr>
          <p:cNvPr id="20" name="Chevron 9"/>
          <p:cNvSpPr/>
          <p:nvPr/>
        </p:nvSpPr>
        <p:spPr>
          <a:xfrm>
            <a:off x="6126958" y="132929"/>
            <a:ext cx="1386001" cy="516535"/>
          </a:xfrm>
          <a:prstGeom prst="chevron">
            <a:avLst/>
          </a:prstGeom>
          <a:solidFill>
            <a:schemeClr val="bg1">
              <a:lumMod val="85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88900" rIns="0" bIns="88900" rtlCol="0" anchor="ctr"/>
          <a:lstStyle/>
          <a:p>
            <a:pPr algn="ctr"/>
            <a:r>
              <a:rPr lang="en-US" sz="1200" dirty="0">
                <a:solidFill>
                  <a:schemeClr val="bg1"/>
                </a:solidFill>
                <a:latin typeface="+mj-lt"/>
              </a:rPr>
              <a:t>Conclusion</a:t>
            </a:r>
          </a:p>
        </p:txBody>
      </p:sp>
      <p:sp>
        <p:nvSpPr>
          <p:cNvPr id="21" name="Chevron 10"/>
          <p:cNvSpPr/>
          <p:nvPr/>
        </p:nvSpPr>
        <p:spPr>
          <a:xfrm>
            <a:off x="7319236" y="132929"/>
            <a:ext cx="1386001" cy="516535"/>
          </a:xfrm>
          <a:prstGeom prst="chevron">
            <a:avLst/>
          </a:prstGeom>
          <a:solidFill>
            <a:srgbClr val="223F87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88900" rIns="0" bIns="88900" rtlCol="0" anchor="ctr"/>
          <a:lstStyle/>
          <a:p>
            <a:r>
              <a:rPr lang="en-US" sz="1200" b="1" dirty="0">
                <a:solidFill>
                  <a:schemeClr val="bg1"/>
                </a:solidFill>
                <a:latin typeface="+mj-lt"/>
              </a:rPr>
              <a:t>Appendices</a:t>
            </a:r>
          </a:p>
        </p:txBody>
      </p:sp>
      <p:sp>
        <p:nvSpPr>
          <p:cNvPr id="22" name="Slide Number Placeholder 9"/>
          <p:cNvSpPr>
            <a:spLocks noGrp="1"/>
          </p:cNvSpPr>
          <p:nvPr>
            <p:ph type="sldNum" sz="quarter" idx="12"/>
          </p:nvPr>
        </p:nvSpPr>
        <p:spPr>
          <a:xfrm>
            <a:off x="2700337" y="6482398"/>
            <a:ext cx="2057400" cy="365125"/>
          </a:xfrm>
        </p:spPr>
        <p:txBody>
          <a:bodyPr/>
          <a:lstStyle/>
          <a:p>
            <a:fld id="{661E6E57-A11E-4CD0-AED6-15B700CC2E98}" type="slidenum">
              <a:rPr lang="fr-FR" smtClean="0">
                <a:latin typeface="EYInterstate Light" panose="02000506000000020004" pitchFamily="2" charset="0"/>
              </a:rPr>
              <a:t>17</a:t>
            </a:fld>
            <a:endParaRPr lang="fr-FR" dirty="0">
              <a:latin typeface="EYInterstate Light" panose="02000506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1844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 txBox="1">
            <a:spLocks/>
          </p:cNvSpPr>
          <p:nvPr/>
        </p:nvSpPr>
        <p:spPr>
          <a:xfrm>
            <a:off x="323528" y="50376"/>
            <a:ext cx="8381710" cy="850106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700" b="1" dirty="0">
                <a:solidFill>
                  <a:prstClr val="black"/>
                </a:solidFill>
              </a:rPr>
              <a:t>Programs review (1/3)</a:t>
            </a:r>
          </a:p>
          <a:p>
            <a:pPr algn="l"/>
            <a:r>
              <a:rPr lang="en-US" sz="1400" b="1" i="1" dirty="0">
                <a:solidFill>
                  <a:prstClr val="black"/>
                </a:solidFill>
              </a:rPr>
              <a:t>Development costs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7569288"/>
              </p:ext>
            </p:extLst>
          </p:nvPr>
        </p:nvGraphicFramePr>
        <p:xfrm>
          <a:off x="323528" y="732017"/>
          <a:ext cx="8381708" cy="4056974"/>
        </p:xfrm>
        <a:graphic>
          <a:graphicData uri="http://schemas.openxmlformats.org/drawingml/2006/table">
            <a:tbl>
              <a:tblPr/>
              <a:tblGrid>
                <a:gridCol w="25359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19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619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619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6195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6195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6195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6195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6195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5008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21755">
                <a:tc gridSpan="4">
                  <a:txBody>
                    <a:bodyPr/>
                    <a:lstStyle/>
                    <a:p>
                      <a:pPr algn="l" fontAlgn="b"/>
                      <a:endParaRPr lang="en-US" sz="1050" b="1" i="0" u="none" strike="noStrike" kern="1200" dirty="0">
                        <a:solidFill>
                          <a:srgbClr val="000000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  <a:p>
                      <a:pPr algn="l" fontAlgn="b"/>
                      <a:r>
                        <a:rPr lang="en-US" sz="1050" b="1" i="0" u="sng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DEVELOPMENT COSTS (D&amp;D and Prototypes)</a:t>
                      </a:r>
                      <a:r>
                        <a:rPr lang="en-US" sz="1050" b="1" i="0" u="sng" strike="noStrike" kern="1200" baseline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 IN PROGRESS : BEFORE SOP DATE</a:t>
                      </a:r>
                    </a:p>
                    <a:p>
                      <a:pPr algn="l" fontAlgn="b"/>
                      <a:r>
                        <a:rPr lang="en-US" sz="1050" b="1" i="1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(significant programs : </a:t>
                      </a:r>
                      <a:r>
                        <a:rPr lang="en-US" sz="1050" b="1" i="1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i.e</a:t>
                      </a:r>
                      <a:r>
                        <a:rPr lang="en-US" sz="1050" b="1" i="1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 more than M€</a:t>
                      </a:r>
                      <a:r>
                        <a:rPr lang="en-US" sz="1050" b="1" i="1" u="none" strike="noStrike" kern="1200" baseline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050" b="1" i="1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1 of planned capitalized costs)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tabLst/>
                      </a:pPr>
                      <a:endParaRPr lang="fr-FR" sz="11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5144">
                <a:tc>
                  <a:txBody>
                    <a:bodyPr/>
                    <a:lstStyle/>
                    <a:p>
                      <a:pPr algn="l" fontAlgn="b"/>
                      <a:endParaRPr lang="fr-FR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FR" sz="11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FR" sz="11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1755">
                <a:tc>
                  <a:txBody>
                    <a:bodyPr/>
                    <a:lstStyle/>
                    <a:p>
                      <a:pPr algn="just" fontAlgn="ctr"/>
                      <a:r>
                        <a:rPr lang="fr-FR" sz="9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(in € millions)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900" b="0" i="0" u="none" strike="noStrike">
                        <a:solidFill>
                          <a:srgbClr val="FF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900" b="0" i="0" u="none" strike="noStrike">
                        <a:solidFill>
                          <a:srgbClr val="FF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900" b="0" i="0" u="none" strike="noStrike">
                        <a:solidFill>
                          <a:srgbClr val="FF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900" b="0" i="0" u="none" strike="noStrike">
                        <a:solidFill>
                          <a:srgbClr val="FF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1755">
                <a:tc>
                  <a:txBody>
                    <a:bodyPr/>
                    <a:lstStyle/>
                    <a:p>
                      <a:pPr algn="l" fontAlgn="b"/>
                      <a:r>
                        <a:rPr lang="fr-FR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Program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F8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Name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F8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900" b="1" i="0" u="none" strike="noStrike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Name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F8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900" b="1" i="0" u="none" strike="noStrike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Name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F8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900" b="1" i="0" u="none" strike="noStrike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Name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F8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Name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F8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Name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F8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900" b="1" i="0" u="none" strike="noStrike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Name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F8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9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Other</a:t>
                      </a:r>
                      <a:endParaRPr lang="fr-FR" sz="900" b="1" i="0" u="none" strike="noStrike" dirty="0">
                        <a:solidFill>
                          <a:srgbClr val="FFFFFF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F8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TOTAL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F8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2844">
                <a:tc>
                  <a:txBody>
                    <a:bodyPr/>
                    <a:lstStyle/>
                    <a:p>
                      <a:pPr algn="just" fontAlgn="ctr"/>
                      <a:r>
                        <a:rPr lang="fr-FR" sz="900" b="1" i="1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SOP (Start of Production</a:t>
                      </a:r>
                      <a:r>
                        <a:rPr lang="fr-FR" sz="900" b="1" i="1" u="none" strike="noStrike" baseline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date)</a:t>
                      </a:r>
                      <a:endParaRPr lang="fr-FR" sz="900" b="1" i="1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1" i="1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MM/YY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1" i="1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MM/YY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1" i="1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MM/YY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1" i="1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MM/YY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1" i="1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MM/YY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1" i="1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MM/YY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1" i="1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MM/YY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1" i="1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1" i="1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1755">
                <a:tc>
                  <a:txBody>
                    <a:bodyPr/>
                    <a:lstStyle/>
                    <a:p>
                      <a:pPr algn="l" fontAlgn="b"/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Revenue recorded YTD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900" b="0" i="1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900" b="0" i="1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900" b="0" i="1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900" b="0" i="1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900" b="0" i="1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900" b="0" i="1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900" b="0" i="1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900" b="0" i="1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1755">
                <a:tc>
                  <a:txBody>
                    <a:bodyPr/>
                    <a:lstStyle/>
                    <a:p>
                      <a:pPr algn="l" fontAlgn="b"/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Margin recorded YTD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900" b="0" i="1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900" b="0" i="1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900" b="0" i="1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900" b="0" i="1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900" b="0" i="1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900" b="0" i="1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900" b="0" i="1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900" b="0" i="1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900" b="1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1755">
                <a:tc>
                  <a:txBody>
                    <a:bodyPr/>
                    <a:lstStyle/>
                    <a:p>
                      <a:pPr algn="l" fontAlgn="b"/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Cumulative revenue recorded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900" b="0" i="1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900" b="0" i="1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900" b="0" i="1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900" b="0" i="1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900" b="0" i="1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900" b="0" i="1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900" b="0" i="1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900" b="0" i="1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900" b="1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1755">
                <a:tc>
                  <a:txBody>
                    <a:bodyPr/>
                    <a:lstStyle/>
                    <a:p>
                      <a:pPr algn="l" fontAlgn="b"/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Cumulative margin recorded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900" b="0" i="1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900" b="0" i="1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900" b="0" i="1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900" b="0" i="1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900" b="0" i="1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900" b="0" i="1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900" b="0" i="1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900" b="0" i="1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900" b="1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2844"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900" b="1" i="1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Estimated gross margin to completion (according to BP)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1" i="1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1" i="1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1" i="1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1" i="1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1" i="1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1" i="1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1" i="1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1" i="1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1" i="1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1755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D&amp;D and prototypes in assets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900" b="1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32844"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D&amp;D and prototypes in inventories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21755">
                <a:tc>
                  <a:txBody>
                    <a:bodyPr/>
                    <a:lstStyle/>
                    <a:p>
                      <a:pPr algn="l" fontAlgn="b"/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TOTAL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32844"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Upcoming PPA Sales (per BP)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21755">
                <a:tc>
                  <a:txBody>
                    <a:bodyPr/>
                    <a:lstStyle/>
                    <a:p>
                      <a:pPr algn="l" fontAlgn="b"/>
                      <a:r>
                        <a:rPr lang="fr-FR" sz="9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Potential</a:t>
                      </a:r>
                      <a:r>
                        <a:rPr lang="fr-F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</a:t>
                      </a:r>
                      <a:r>
                        <a:rPr lang="fr-FR" sz="9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undercover</a:t>
                      </a:r>
                      <a:r>
                        <a:rPr lang="fr-F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- </a:t>
                      </a:r>
                      <a:r>
                        <a:rPr lang="fr-FR" sz="9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Assets</a:t>
                      </a:r>
                      <a:endParaRPr lang="fr-FR" sz="9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32844"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Upcoming Cash Sales (per BP)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21755">
                <a:tc>
                  <a:txBody>
                    <a:bodyPr/>
                    <a:lstStyle/>
                    <a:p>
                      <a:pPr algn="l" fontAlgn="b"/>
                      <a:r>
                        <a:rPr lang="fr-FR" sz="9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Potential</a:t>
                      </a:r>
                      <a:r>
                        <a:rPr lang="fr-F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</a:t>
                      </a:r>
                      <a:r>
                        <a:rPr lang="fr-FR" sz="9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undercover</a:t>
                      </a:r>
                      <a:r>
                        <a:rPr lang="fr-F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- Inventories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323526" y="4871544"/>
            <a:ext cx="8381710" cy="1354217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marL="0" lvl="1" algn="just">
              <a:buClr>
                <a:srgbClr val="002060"/>
              </a:buClr>
              <a:buSzPct val="75000"/>
            </a:pPr>
            <a:r>
              <a:rPr lang="fr-FR" sz="1200" b="1" i="1" u="sng" dirty="0" err="1">
                <a:latin typeface="+mj-lt"/>
              </a:rPr>
              <a:t>Comments</a:t>
            </a:r>
            <a:r>
              <a:rPr lang="fr-FR" sz="1200" b="1" i="1" u="sng" dirty="0">
                <a:latin typeface="+mj-lt"/>
              </a:rPr>
              <a:t>: </a:t>
            </a:r>
            <a:endParaRPr lang="en-GB" sz="1100" b="1" i="1" dirty="0">
              <a:solidFill>
                <a:srgbClr val="FF0000"/>
              </a:solidFill>
              <a:cs typeface="Calibri" panose="020F0502020204030204" pitchFamily="34" charset="0"/>
            </a:endParaRPr>
          </a:p>
          <a:p>
            <a:pPr marL="0" lvl="1" algn="just">
              <a:buClr>
                <a:srgbClr val="002060"/>
              </a:buClr>
              <a:buSzPct val="75000"/>
            </a:pPr>
            <a:r>
              <a:rPr lang="en-GB" sz="1000" b="1" i="1" dirty="0">
                <a:solidFill>
                  <a:srgbClr val="FF0000"/>
                </a:solidFill>
                <a:cs typeface="Calibri" panose="020F0502020204030204" pitchFamily="34" charset="0"/>
              </a:rPr>
              <a:t>For each program provide :</a:t>
            </a:r>
          </a:p>
          <a:p>
            <a:pPr marL="171450" lvl="1" indent="-171450" algn="just">
              <a:buClr>
                <a:srgbClr val="002060"/>
              </a:buClr>
              <a:buSzPct val="75000"/>
              <a:buFontTx/>
              <a:buChar char="-"/>
            </a:pPr>
            <a:r>
              <a:rPr lang="en-GB" sz="1000" b="1" i="1" dirty="0">
                <a:solidFill>
                  <a:srgbClr val="FF0000"/>
                </a:solidFill>
                <a:cs typeface="Calibri" panose="020F0502020204030204" pitchFamily="34" charset="0"/>
              </a:rPr>
              <a:t>main SOP date</a:t>
            </a:r>
          </a:p>
          <a:p>
            <a:pPr marL="171450" lvl="1" indent="-171450" algn="just">
              <a:buClr>
                <a:srgbClr val="002060"/>
              </a:buClr>
              <a:buSzPct val="75000"/>
              <a:buFontTx/>
              <a:buChar char="-"/>
            </a:pPr>
            <a:r>
              <a:rPr lang="en-US" sz="1000" b="1" i="1" dirty="0">
                <a:solidFill>
                  <a:srgbClr val="FF0000"/>
                </a:solidFill>
                <a:cs typeface="Calibri" panose="020F0502020204030204" pitchFamily="34" charset="0"/>
              </a:rPr>
              <a:t>plant -  client </a:t>
            </a:r>
          </a:p>
          <a:p>
            <a:pPr marL="0" lvl="1" algn="just">
              <a:buClr>
                <a:srgbClr val="002060"/>
              </a:buClr>
              <a:buSzPct val="75000"/>
            </a:pPr>
            <a:r>
              <a:rPr lang="en-US" sz="1000" b="1" i="1" dirty="0">
                <a:solidFill>
                  <a:srgbClr val="FF0000"/>
                </a:solidFill>
                <a:cs typeface="Calibri" panose="020F0502020204030204" pitchFamily="34" charset="0"/>
              </a:rPr>
              <a:t>And conclude over :</a:t>
            </a:r>
          </a:p>
          <a:p>
            <a:pPr marL="171450" lvl="1" indent="-171450" algn="just">
              <a:buClr>
                <a:srgbClr val="002060"/>
              </a:buClr>
              <a:buSzPct val="75000"/>
              <a:buFontTx/>
              <a:buChar char="-"/>
            </a:pPr>
            <a:r>
              <a:rPr lang="en-US" sz="1000" b="1" i="1" dirty="0">
                <a:solidFill>
                  <a:srgbClr val="FF0000"/>
                </a:solidFill>
                <a:cs typeface="Calibri" panose="020F0502020204030204" pitchFamily="34" charset="0"/>
              </a:rPr>
              <a:t>accounting treatment (assets vs inventories, capitalization and amortization)</a:t>
            </a:r>
          </a:p>
          <a:p>
            <a:pPr marL="171450" lvl="1" indent="-171450" algn="just">
              <a:buClr>
                <a:srgbClr val="002060"/>
              </a:buClr>
              <a:buSzPct val="75000"/>
              <a:buFontTx/>
              <a:buChar char="-"/>
            </a:pPr>
            <a:r>
              <a:rPr lang="en-US" sz="1000" b="1" i="1" dirty="0">
                <a:solidFill>
                  <a:srgbClr val="FF0000"/>
                </a:solidFill>
                <a:cs typeface="Calibri" panose="020F0502020204030204" pitchFamily="34" charset="0"/>
              </a:rPr>
              <a:t>valuation impairment and LTC (Loss To Completion) consideration </a:t>
            </a:r>
          </a:p>
          <a:p>
            <a:pPr marL="0" lvl="1" algn="just">
              <a:buClr>
                <a:srgbClr val="002060"/>
              </a:buClr>
              <a:buSzPct val="75000"/>
            </a:pPr>
            <a:r>
              <a:rPr lang="en-US" sz="1000" b="1" i="1" u="sng" dirty="0">
                <a:solidFill>
                  <a:srgbClr val="FF0000"/>
                </a:solidFill>
                <a:cs typeface="Calibri" panose="020F0502020204030204" pitchFamily="34" charset="0"/>
              </a:rPr>
              <a:t>These information are provided by the program controller / Responsibility of the provision (if any) is monitored at the level of the division</a:t>
            </a:r>
          </a:p>
        </p:txBody>
      </p:sp>
      <p:sp>
        <p:nvSpPr>
          <p:cNvPr id="17" name="Pentagon 6"/>
          <p:cNvSpPr/>
          <p:nvPr/>
        </p:nvSpPr>
        <p:spPr>
          <a:xfrm>
            <a:off x="3723814" y="132929"/>
            <a:ext cx="1386001" cy="516535"/>
          </a:xfrm>
          <a:prstGeom prst="homePlate">
            <a:avLst/>
          </a:prstGeom>
          <a:solidFill>
            <a:schemeClr val="bg1">
              <a:lumMod val="85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88900" rIns="88900" bIns="88900" rtlCol="0" anchor="ctr"/>
          <a:lstStyle/>
          <a:p>
            <a:pPr algn="ctr"/>
            <a:r>
              <a:rPr lang="en-US" sz="1200" dirty="0">
                <a:solidFill>
                  <a:schemeClr val="bg1"/>
                </a:solidFill>
                <a:latin typeface="+mj-lt"/>
              </a:rPr>
              <a:t>Context</a:t>
            </a:r>
          </a:p>
        </p:txBody>
      </p:sp>
      <p:sp>
        <p:nvSpPr>
          <p:cNvPr id="18" name="Chevron 8"/>
          <p:cNvSpPr/>
          <p:nvPr/>
        </p:nvSpPr>
        <p:spPr>
          <a:xfrm>
            <a:off x="4930617" y="132929"/>
            <a:ext cx="1386001" cy="516535"/>
          </a:xfrm>
          <a:prstGeom prst="chevron">
            <a:avLst/>
          </a:prstGeom>
          <a:solidFill>
            <a:schemeClr val="bg1">
              <a:lumMod val="85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88900" rIns="0" bIns="88900" rtlCol="0" anchor="ctr"/>
          <a:lstStyle/>
          <a:p>
            <a:pPr algn="ctr"/>
            <a:r>
              <a:rPr lang="en-US" sz="1200" dirty="0">
                <a:solidFill>
                  <a:schemeClr val="bg1"/>
                </a:solidFill>
                <a:latin typeface="+mj-lt"/>
              </a:rPr>
              <a:t>Audit approach</a:t>
            </a:r>
          </a:p>
        </p:txBody>
      </p:sp>
      <p:sp>
        <p:nvSpPr>
          <p:cNvPr id="19" name="Chevron 9"/>
          <p:cNvSpPr/>
          <p:nvPr/>
        </p:nvSpPr>
        <p:spPr>
          <a:xfrm>
            <a:off x="6126958" y="132929"/>
            <a:ext cx="1386001" cy="516535"/>
          </a:xfrm>
          <a:prstGeom prst="chevron">
            <a:avLst/>
          </a:prstGeom>
          <a:solidFill>
            <a:schemeClr val="bg1">
              <a:lumMod val="85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88900" rIns="0" bIns="88900" rtlCol="0" anchor="ctr"/>
          <a:lstStyle/>
          <a:p>
            <a:pPr algn="ctr"/>
            <a:r>
              <a:rPr lang="en-US" sz="1200" dirty="0">
                <a:solidFill>
                  <a:schemeClr val="bg1"/>
                </a:solidFill>
                <a:latin typeface="+mj-lt"/>
              </a:rPr>
              <a:t>Conclusion</a:t>
            </a:r>
          </a:p>
        </p:txBody>
      </p:sp>
      <p:sp>
        <p:nvSpPr>
          <p:cNvPr id="20" name="Chevron 10"/>
          <p:cNvSpPr/>
          <p:nvPr/>
        </p:nvSpPr>
        <p:spPr>
          <a:xfrm>
            <a:off x="7319236" y="132929"/>
            <a:ext cx="1386001" cy="516535"/>
          </a:xfrm>
          <a:prstGeom prst="chevron">
            <a:avLst/>
          </a:prstGeom>
          <a:solidFill>
            <a:srgbClr val="223F87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88900" rIns="0" bIns="88900" rtlCol="0" anchor="ctr"/>
          <a:lstStyle/>
          <a:p>
            <a:r>
              <a:rPr lang="en-US" sz="1200" b="1" dirty="0">
                <a:solidFill>
                  <a:schemeClr val="bg1"/>
                </a:solidFill>
                <a:latin typeface="+mj-lt"/>
              </a:rPr>
              <a:t>Appendices</a:t>
            </a:r>
          </a:p>
        </p:txBody>
      </p:sp>
      <p:sp>
        <p:nvSpPr>
          <p:cNvPr id="21" name="Slide Number Placeholder 9"/>
          <p:cNvSpPr>
            <a:spLocks noGrp="1"/>
          </p:cNvSpPr>
          <p:nvPr>
            <p:ph type="sldNum" sz="quarter" idx="12"/>
          </p:nvPr>
        </p:nvSpPr>
        <p:spPr>
          <a:xfrm>
            <a:off x="2700337" y="6482398"/>
            <a:ext cx="2057400" cy="365125"/>
          </a:xfrm>
        </p:spPr>
        <p:txBody>
          <a:bodyPr/>
          <a:lstStyle/>
          <a:p>
            <a:fld id="{661E6E57-A11E-4CD0-AED6-15B700CC2E98}" type="slidenum">
              <a:rPr lang="fr-FR" smtClean="0">
                <a:latin typeface="EYInterstate Light" panose="02000506000000020004" pitchFamily="2" charset="0"/>
              </a:rPr>
              <a:t>18</a:t>
            </a:fld>
            <a:endParaRPr lang="fr-FR" dirty="0">
              <a:latin typeface="EYInterstate Light" panose="02000506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753775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 txBox="1">
            <a:spLocks/>
          </p:cNvSpPr>
          <p:nvPr/>
        </p:nvSpPr>
        <p:spPr>
          <a:xfrm>
            <a:off x="323528" y="50376"/>
            <a:ext cx="8381710" cy="850106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700" b="1" dirty="0">
                <a:solidFill>
                  <a:prstClr val="black"/>
                </a:solidFill>
              </a:rPr>
              <a:t>Programs review (2/3)</a:t>
            </a:r>
          </a:p>
          <a:p>
            <a:pPr algn="l"/>
            <a:r>
              <a:rPr lang="en-US" sz="1400" b="1" i="1" dirty="0">
                <a:solidFill>
                  <a:prstClr val="black"/>
                </a:solidFill>
              </a:rPr>
              <a:t>Development costs</a:t>
            </a:r>
          </a:p>
          <a:p>
            <a:pPr algn="l"/>
            <a:endParaRPr lang="en-US" sz="1700" b="1" dirty="0">
              <a:solidFill>
                <a:prstClr val="black"/>
              </a:solidFill>
            </a:endParaRPr>
          </a:p>
        </p:txBody>
      </p:sp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3255504"/>
              </p:ext>
            </p:extLst>
          </p:nvPr>
        </p:nvGraphicFramePr>
        <p:xfrm>
          <a:off x="323528" y="732017"/>
          <a:ext cx="8381708" cy="4056974"/>
        </p:xfrm>
        <a:graphic>
          <a:graphicData uri="http://schemas.openxmlformats.org/drawingml/2006/table">
            <a:tbl>
              <a:tblPr/>
              <a:tblGrid>
                <a:gridCol w="25359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19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619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619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6195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6195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6195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6195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6195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5008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21755">
                <a:tc gridSpan="4">
                  <a:txBody>
                    <a:bodyPr/>
                    <a:lstStyle/>
                    <a:p>
                      <a:pPr algn="l" fontAlgn="b"/>
                      <a:endParaRPr lang="en-US" sz="1050" b="1" i="0" u="none" strike="noStrike" kern="1200" dirty="0">
                        <a:solidFill>
                          <a:srgbClr val="000000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  <a:p>
                      <a:pPr algn="l" fontAlgn="b"/>
                      <a:r>
                        <a:rPr lang="en-US" sz="1050" b="1" i="0" u="sng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DEVELOPMENT COSTS (D&amp;D and Prototypes) </a:t>
                      </a:r>
                      <a:r>
                        <a:rPr lang="en-US" sz="1050" b="1" i="0" u="sng" strike="noStrike" kern="120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AFTER SOP DATE</a:t>
                      </a:r>
                      <a:r>
                        <a:rPr lang="en-US" sz="1050" b="1" i="0" u="sng" strike="noStrike" kern="1200" baseline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 </a:t>
                      </a:r>
                    </a:p>
                    <a:p>
                      <a:pPr algn="l" fontAlgn="b"/>
                      <a:r>
                        <a:rPr lang="en-US" sz="1050" b="1" i="1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(significant programs : </a:t>
                      </a:r>
                      <a:r>
                        <a:rPr lang="en-US" sz="1050" b="1" i="1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i.e</a:t>
                      </a:r>
                      <a:r>
                        <a:rPr lang="en-US" sz="1050" b="1" i="1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 more than M€</a:t>
                      </a:r>
                      <a:r>
                        <a:rPr lang="en-US" sz="1050" b="1" i="1" u="none" strike="noStrike" kern="1200" baseline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050" b="1" i="1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1 of planned capitalized costs)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tabLst/>
                      </a:pPr>
                      <a:endParaRPr lang="fr-FR" sz="11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5144">
                <a:tc>
                  <a:txBody>
                    <a:bodyPr/>
                    <a:lstStyle/>
                    <a:p>
                      <a:pPr algn="l" fontAlgn="b"/>
                      <a:endParaRPr lang="fr-FR" sz="11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FR" sz="11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FR" sz="11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1755">
                <a:tc>
                  <a:txBody>
                    <a:bodyPr/>
                    <a:lstStyle/>
                    <a:p>
                      <a:pPr algn="just" fontAlgn="ctr"/>
                      <a:r>
                        <a:rPr lang="fr-FR" sz="9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(in € millions)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900" b="0" i="0" u="none" strike="noStrike">
                        <a:solidFill>
                          <a:srgbClr val="FF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900" b="0" i="0" u="none" strike="noStrike">
                        <a:solidFill>
                          <a:srgbClr val="FF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900" b="0" i="0" u="none" strike="noStrike">
                        <a:solidFill>
                          <a:srgbClr val="FF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900" b="0" i="0" u="none" strike="noStrike">
                        <a:solidFill>
                          <a:srgbClr val="FF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1755">
                <a:tc>
                  <a:txBody>
                    <a:bodyPr/>
                    <a:lstStyle/>
                    <a:p>
                      <a:pPr algn="l" fontAlgn="b"/>
                      <a:r>
                        <a:rPr lang="fr-FR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Program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F8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Name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F8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900" b="1" i="0" u="none" strike="noStrike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Name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F8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900" b="1" i="0" u="none" strike="noStrike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Name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F8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900" b="1" i="0" u="none" strike="noStrike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Name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F8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Name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F8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Name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F8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900" b="1" i="0" u="none" strike="noStrike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Name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F8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9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Other</a:t>
                      </a:r>
                      <a:endParaRPr lang="fr-FR" sz="900" b="1" i="0" u="none" strike="noStrike" dirty="0">
                        <a:solidFill>
                          <a:srgbClr val="FFFFFF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F8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TOTAL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F8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2844">
                <a:tc>
                  <a:txBody>
                    <a:bodyPr/>
                    <a:lstStyle/>
                    <a:p>
                      <a:pPr algn="just" fontAlgn="ctr"/>
                      <a:r>
                        <a:rPr lang="fr-FR" sz="900" b="1" i="1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SOP (Start of Production</a:t>
                      </a:r>
                      <a:r>
                        <a:rPr lang="fr-FR" sz="900" b="1" i="1" u="none" strike="noStrike" baseline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date)</a:t>
                      </a:r>
                      <a:endParaRPr lang="fr-FR" sz="900" b="1" i="1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1" i="1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MM/YY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1" i="1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MM/YY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1" i="1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MM/YY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1" i="1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MM/YY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1" i="1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MM/YY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1" i="1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MM/YY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1" i="1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MM/YY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1" i="1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1" i="1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1755">
                <a:tc>
                  <a:txBody>
                    <a:bodyPr/>
                    <a:lstStyle/>
                    <a:p>
                      <a:pPr algn="l" fontAlgn="b"/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Revenue recorded YTD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900" b="0" i="1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900" b="0" i="1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900" b="0" i="1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900" b="0" i="1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900" b="0" i="1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900" b="0" i="1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900" b="0" i="1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900" b="0" i="1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1755">
                <a:tc>
                  <a:txBody>
                    <a:bodyPr/>
                    <a:lstStyle/>
                    <a:p>
                      <a:pPr algn="l" fontAlgn="b"/>
                      <a:r>
                        <a:rPr lang="fr-FR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Margin</a:t>
                      </a:r>
                      <a:r>
                        <a:rPr lang="fr-F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</a:t>
                      </a:r>
                      <a:r>
                        <a:rPr lang="fr-FR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recorded</a:t>
                      </a:r>
                      <a:r>
                        <a:rPr lang="fr-F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YTD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900" b="0" i="1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900" b="0" i="1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900" b="0" i="1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900" b="0" i="1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900" b="0" i="1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900" b="0" i="1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900" b="0" i="1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900" b="0" i="1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900" b="1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1755">
                <a:tc>
                  <a:txBody>
                    <a:bodyPr/>
                    <a:lstStyle/>
                    <a:p>
                      <a:pPr algn="l" fontAlgn="b"/>
                      <a:r>
                        <a:rPr lang="fr-F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Cumulative revenue </a:t>
                      </a:r>
                      <a:r>
                        <a:rPr lang="fr-FR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recorded</a:t>
                      </a:r>
                      <a:endParaRPr lang="fr-FR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900" b="0" i="1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900" b="0" i="1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900" b="0" i="1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900" b="0" i="1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900" b="0" i="1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900" b="0" i="1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900" b="0" i="1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900" b="0" i="1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900" b="1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1755">
                <a:tc>
                  <a:txBody>
                    <a:bodyPr/>
                    <a:lstStyle/>
                    <a:p>
                      <a:pPr algn="l" fontAlgn="b"/>
                      <a:r>
                        <a:rPr lang="fr-F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Cumulative </a:t>
                      </a:r>
                      <a:r>
                        <a:rPr lang="fr-FR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margin</a:t>
                      </a:r>
                      <a:r>
                        <a:rPr lang="fr-F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</a:t>
                      </a:r>
                      <a:r>
                        <a:rPr lang="fr-FR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recorded</a:t>
                      </a:r>
                      <a:endParaRPr lang="fr-FR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900" b="0" i="1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900" b="0" i="1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900" b="0" i="1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900" b="0" i="1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900" b="0" i="1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900" b="0" i="1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900" b="0" i="1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900" b="0" i="1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900" b="1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2844"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900" b="1" i="1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Estimated gross margin to completion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1" i="1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1" i="1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1" i="1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1" i="1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1" i="1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1" i="1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1" i="1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1" i="1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1" i="1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1755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D&amp;D and prototypes in assets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900" b="1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32844"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D&amp;D and prototypes in inventories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21755">
                <a:tc>
                  <a:txBody>
                    <a:bodyPr/>
                    <a:lstStyle/>
                    <a:p>
                      <a:pPr algn="l" fontAlgn="b"/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TOTAL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32844"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Upcoming PPA Sales (per BP)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21755">
                <a:tc>
                  <a:txBody>
                    <a:bodyPr/>
                    <a:lstStyle/>
                    <a:p>
                      <a:pPr algn="l" fontAlgn="b"/>
                      <a:r>
                        <a:rPr lang="fr-FR" sz="9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Potential</a:t>
                      </a:r>
                      <a:r>
                        <a:rPr lang="fr-F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</a:t>
                      </a:r>
                      <a:r>
                        <a:rPr lang="fr-FR" sz="9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undercover</a:t>
                      </a:r>
                      <a:r>
                        <a:rPr lang="fr-F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- </a:t>
                      </a:r>
                      <a:r>
                        <a:rPr lang="fr-FR" sz="9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Assets</a:t>
                      </a:r>
                      <a:endParaRPr lang="fr-FR" sz="9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32844"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Upcoming Cash Sales (per BP)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21755">
                <a:tc>
                  <a:txBody>
                    <a:bodyPr/>
                    <a:lstStyle/>
                    <a:p>
                      <a:pPr algn="l" fontAlgn="b"/>
                      <a:r>
                        <a:rPr lang="fr-FR" sz="9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Potential</a:t>
                      </a:r>
                      <a:r>
                        <a:rPr lang="fr-F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</a:t>
                      </a:r>
                      <a:r>
                        <a:rPr lang="fr-FR" sz="9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undercover</a:t>
                      </a:r>
                      <a:r>
                        <a:rPr lang="fr-F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- Inventories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323526" y="4835332"/>
            <a:ext cx="8381710" cy="164660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marL="0" lvl="1" algn="just">
              <a:buClr>
                <a:srgbClr val="002060"/>
              </a:buClr>
              <a:buSzPct val="75000"/>
            </a:pPr>
            <a:r>
              <a:rPr lang="fr-FR" sz="1200" b="1" i="1" u="sng" dirty="0" err="1">
                <a:latin typeface="+mj-lt"/>
              </a:rPr>
              <a:t>Comments</a:t>
            </a:r>
            <a:r>
              <a:rPr lang="fr-FR" sz="1200" b="1" i="1" u="sng" dirty="0">
                <a:latin typeface="+mj-lt"/>
              </a:rPr>
              <a:t>: </a:t>
            </a:r>
          </a:p>
          <a:p>
            <a:pPr marL="0" lvl="1" algn="just">
              <a:buClr>
                <a:srgbClr val="002060"/>
              </a:buClr>
              <a:buSzPct val="75000"/>
            </a:pPr>
            <a:r>
              <a:rPr lang="en-GB" sz="1000" b="1" i="1" dirty="0">
                <a:solidFill>
                  <a:srgbClr val="FF0000"/>
                </a:solidFill>
                <a:latin typeface="+mj-lt"/>
                <a:cs typeface="Calibri" panose="020F0502020204030204" pitchFamily="34" charset="0"/>
              </a:rPr>
              <a:t>For each program provide :</a:t>
            </a:r>
          </a:p>
          <a:p>
            <a:pPr marL="171450" lvl="1" indent="-171450" algn="just">
              <a:buClr>
                <a:srgbClr val="002060"/>
              </a:buClr>
              <a:buSzPct val="75000"/>
              <a:buFontTx/>
              <a:buChar char="-"/>
            </a:pPr>
            <a:r>
              <a:rPr lang="en-GB" sz="1000" b="1" i="1" dirty="0">
                <a:solidFill>
                  <a:srgbClr val="FF0000"/>
                </a:solidFill>
                <a:latin typeface="+mj-lt"/>
                <a:cs typeface="Calibri" panose="020F0502020204030204" pitchFamily="34" charset="0"/>
              </a:rPr>
              <a:t>main SOP date</a:t>
            </a:r>
          </a:p>
          <a:p>
            <a:pPr marL="171450" lvl="1" indent="-171450" algn="just">
              <a:buClr>
                <a:srgbClr val="002060"/>
              </a:buClr>
              <a:buSzPct val="75000"/>
              <a:buFontTx/>
              <a:buChar char="-"/>
            </a:pPr>
            <a:r>
              <a:rPr lang="en-GB" sz="1000" b="1" i="1" dirty="0">
                <a:solidFill>
                  <a:srgbClr val="FF0000"/>
                </a:solidFill>
                <a:latin typeface="+mj-lt"/>
                <a:cs typeface="Calibri" panose="020F0502020204030204" pitchFamily="34" charset="0"/>
              </a:rPr>
              <a:t>information on the method used for the amortization of D&amp;D costs (straight-line amortization / PPA method : piece price amortization) ; </a:t>
            </a:r>
            <a:endParaRPr lang="fr-FR" sz="1000" b="1" i="1" dirty="0">
              <a:solidFill>
                <a:srgbClr val="FF0000"/>
              </a:solidFill>
              <a:latin typeface="+mj-lt"/>
              <a:cs typeface="Calibri" panose="020F0502020204030204" pitchFamily="34" charset="0"/>
            </a:endParaRPr>
          </a:p>
          <a:p>
            <a:pPr marL="171450" lvl="1" indent="-171450" algn="just">
              <a:buClr>
                <a:srgbClr val="002060"/>
              </a:buClr>
              <a:buSzPct val="75000"/>
              <a:buFontTx/>
              <a:buChar char="-"/>
            </a:pPr>
            <a:r>
              <a:rPr lang="en-US" sz="1000" b="1" i="1" dirty="0">
                <a:solidFill>
                  <a:srgbClr val="FF0000"/>
                </a:solidFill>
                <a:latin typeface="+mj-lt"/>
                <a:cs typeface="Calibri" panose="020F0502020204030204" pitchFamily="34" charset="0"/>
              </a:rPr>
              <a:t>plant -  client </a:t>
            </a:r>
          </a:p>
          <a:p>
            <a:pPr marL="0" lvl="1" algn="just">
              <a:buClr>
                <a:srgbClr val="002060"/>
              </a:buClr>
              <a:buSzPct val="75000"/>
            </a:pPr>
            <a:r>
              <a:rPr lang="en-US" sz="1000" b="1" i="1" dirty="0">
                <a:solidFill>
                  <a:srgbClr val="FF0000"/>
                </a:solidFill>
                <a:latin typeface="+mj-lt"/>
                <a:cs typeface="Calibri" panose="020F0502020204030204" pitchFamily="34" charset="0"/>
              </a:rPr>
              <a:t>And conclude over :</a:t>
            </a:r>
          </a:p>
          <a:p>
            <a:pPr marL="171450" lvl="1" indent="-171450" algn="just">
              <a:buClr>
                <a:srgbClr val="002060"/>
              </a:buClr>
              <a:buSzPct val="75000"/>
              <a:buFontTx/>
              <a:buChar char="-"/>
            </a:pPr>
            <a:r>
              <a:rPr lang="en-US" sz="1000" b="1" i="1" dirty="0">
                <a:solidFill>
                  <a:srgbClr val="FF0000"/>
                </a:solidFill>
                <a:latin typeface="+mj-lt"/>
                <a:cs typeface="Calibri" panose="020F0502020204030204" pitchFamily="34" charset="0"/>
              </a:rPr>
              <a:t>accounting treatment (assets vs inventories, capitalization and amortization)</a:t>
            </a:r>
          </a:p>
          <a:p>
            <a:pPr marL="171450" lvl="1" indent="-171450" algn="just">
              <a:buClr>
                <a:srgbClr val="002060"/>
              </a:buClr>
              <a:buSzPct val="75000"/>
              <a:buFontTx/>
              <a:buChar char="-"/>
            </a:pPr>
            <a:r>
              <a:rPr lang="en-US" sz="1000" b="1" i="1" dirty="0">
                <a:solidFill>
                  <a:srgbClr val="FF0000"/>
                </a:solidFill>
                <a:latin typeface="+mj-lt"/>
                <a:cs typeface="Calibri" panose="020F0502020204030204" pitchFamily="34" charset="0"/>
              </a:rPr>
              <a:t>impairment and LTC (Loss To Completion) consideration </a:t>
            </a:r>
          </a:p>
          <a:p>
            <a:pPr marL="0" lvl="1" algn="just">
              <a:buClr>
                <a:srgbClr val="002060"/>
              </a:buClr>
              <a:buSzPct val="75000"/>
            </a:pPr>
            <a:r>
              <a:rPr lang="en-US" sz="1000" b="1" i="1" u="sng" dirty="0">
                <a:solidFill>
                  <a:srgbClr val="FF0000"/>
                </a:solidFill>
                <a:latin typeface="+mj-lt"/>
                <a:cs typeface="Calibri" panose="020F0502020204030204" pitchFamily="34" charset="0"/>
              </a:rPr>
              <a:t>These information are provided by the program controller / Responsibility of the provision (if any) is transferred to the plant</a:t>
            </a:r>
          </a:p>
          <a:p>
            <a:pPr marL="0" lvl="1" algn="just">
              <a:buClr>
                <a:srgbClr val="002060"/>
              </a:buClr>
              <a:buSzPct val="75000"/>
            </a:pPr>
            <a:endParaRPr lang="en-US" sz="900" b="1" i="1" dirty="0">
              <a:solidFill>
                <a:srgbClr val="0070C0"/>
              </a:solidFill>
              <a:latin typeface="EYInterstate Light" panose="02000506000000020004" pitchFamily="2" charset="0"/>
              <a:cs typeface="Calibri" panose="020F0502020204030204" pitchFamily="34" charset="0"/>
            </a:endParaRPr>
          </a:p>
        </p:txBody>
      </p:sp>
      <p:sp>
        <p:nvSpPr>
          <p:cNvPr id="17" name="Pentagon 6"/>
          <p:cNvSpPr/>
          <p:nvPr/>
        </p:nvSpPr>
        <p:spPr>
          <a:xfrm>
            <a:off x="3723814" y="132929"/>
            <a:ext cx="1386001" cy="516535"/>
          </a:xfrm>
          <a:prstGeom prst="homePlate">
            <a:avLst/>
          </a:prstGeom>
          <a:solidFill>
            <a:schemeClr val="bg1">
              <a:lumMod val="85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88900" rIns="88900" bIns="88900" rtlCol="0" anchor="ctr"/>
          <a:lstStyle/>
          <a:p>
            <a:pPr algn="ctr"/>
            <a:r>
              <a:rPr lang="en-US" sz="1200" dirty="0">
                <a:solidFill>
                  <a:schemeClr val="bg1"/>
                </a:solidFill>
                <a:latin typeface="+mj-lt"/>
              </a:rPr>
              <a:t>Context</a:t>
            </a:r>
          </a:p>
        </p:txBody>
      </p:sp>
      <p:sp>
        <p:nvSpPr>
          <p:cNvPr id="18" name="Chevron 8"/>
          <p:cNvSpPr/>
          <p:nvPr/>
        </p:nvSpPr>
        <p:spPr>
          <a:xfrm>
            <a:off x="4930617" y="132929"/>
            <a:ext cx="1386001" cy="516535"/>
          </a:xfrm>
          <a:prstGeom prst="chevron">
            <a:avLst/>
          </a:prstGeom>
          <a:solidFill>
            <a:schemeClr val="bg1">
              <a:lumMod val="85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88900" rIns="0" bIns="88900" rtlCol="0" anchor="ctr"/>
          <a:lstStyle/>
          <a:p>
            <a:pPr algn="ctr"/>
            <a:r>
              <a:rPr lang="en-US" sz="1200" dirty="0">
                <a:solidFill>
                  <a:schemeClr val="bg1"/>
                </a:solidFill>
                <a:latin typeface="+mj-lt"/>
              </a:rPr>
              <a:t>Audit approach</a:t>
            </a:r>
          </a:p>
        </p:txBody>
      </p:sp>
      <p:sp>
        <p:nvSpPr>
          <p:cNvPr id="19" name="Chevron 9"/>
          <p:cNvSpPr/>
          <p:nvPr/>
        </p:nvSpPr>
        <p:spPr>
          <a:xfrm>
            <a:off x="6126958" y="132929"/>
            <a:ext cx="1386001" cy="516535"/>
          </a:xfrm>
          <a:prstGeom prst="chevron">
            <a:avLst/>
          </a:prstGeom>
          <a:solidFill>
            <a:schemeClr val="bg1">
              <a:lumMod val="85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88900" rIns="0" bIns="88900" rtlCol="0" anchor="ctr"/>
          <a:lstStyle/>
          <a:p>
            <a:pPr algn="ctr"/>
            <a:r>
              <a:rPr lang="en-US" sz="1200" dirty="0">
                <a:solidFill>
                  <a:schemeClr val="bg1"/>
                </a:solidFill>
                <a:latin typeface="+mj-lt"/>
              </a:rPr>
              <a:t>Conclusion</a:t>
            </a:r>
          </a:p>
        </p:txBody>
      </p:sp>
      <p:sp>
        <p:nvSpPr>
          <p:cNvPr id="20" name="Chevron 10"/>
          <p:cNvSpPr/>
          <p:nvPr/>
        </p:nvSpPr>
        <p:spPr>
          <a:xfrm>
            <a:off x="7319236" y="132929"/>
            <a:ext cx="1386001" cy="516535"/>
          </a:xfrm>
          <a:prstGeom prst="chevron">
            <a:avLst/>
          </a:prstGeom>
          <a:solidFill>
            <a:srgbClr val="223F87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88900" rIns="0" bIns="88900" rtlCol="0" anchor="ctr"/>
          <a:lstStyle/>
          <a:p>
            <a:r>
              <a:rPr lang="en-US" sz="1200" b="1" dirty="0">
                <a:solidFill>
                  <a:schemeClr val="bg1"/>
                </a:solidFill>
                <a:latin typeface="+mj-lt"/>
              </a:rPr>
              <a:t>Appendices</a:t>
            </a:r>
          </a:p>
        </p:txBody>
      </p:sp>
      <p:sp>
        <p:nvSpPr>
          <p:cNvPr id="21" name="Slide Number Placeholder 9"/>
          <p:cNvSpPr>
            <a:spLocks noGrp="1"/>
          </p:cNvSpPr>
          <p:nvPr>
            <p:ph type="sldNum" sz="quarter" idx="12"/>
          </p:nvPr>
        </p:nvSpPr>
        <p:spPr>
          <a:xfrm>
            <a:off x="2700337" y="6482398"/>
            <a:ext cx="2057400" cy="365125"/>
          </a:xfrm>
        </p:spPr>
        <p:txBody>
          <a:bodyPr/>
          <a:lstStyle/>
          <a:p>
            <a:fld id="{661E6E57-A11E-4CD0-AED6-15B700CC2E98}" type="slidenum">
              <a:rPr lang="fr-FR" smtClean="0">
                <a:latin typeface="EYInterstate Light" panose="02000506000000020004" pitchFamily="2" charset="0"/>
              </a:rPr>
              <a:t>19</a:t>
            </a:fld>
            <a:endParaRPr lang="fr-FR" dirty="0">
              <a:latin typeface="EYInterstate Light" panose="02000506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53818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 txBox="1">
            <a:spLocks/>
          </p:cNvSpPr>
          <p:nvPr/>
        </p:nvSpPr>
        <p:spPr>
          <a:xfrm>
            <a:off x="323528" y="50376"/>
            <a:ext cx="8381710" cy="850106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700" b="1" dirty="0">
                <a:solidFill>
                  <a:prstClr val="black"/>
                </a:solidFill>
              </a:rPr>
              <a:t>Programs review (3/3)</a:t>
            </a:r>
          </a:p>
          <a:p>
            <a:pPr algn="l"/>
            <a:r>
              <a:rPr lang="en-US" sz="1400" b="1" i="1" dirty="0">
                <a:solidFill>
                  <a:prstClr val="black"/>
                </a:solidFill>
              </a:rPr>
              <a:t>Tooling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8736347"/>
              </p:ext>
            </p:extLst>
          </p:nvPr>
        </p:nvGraphicFramePr>
        <p:xfrm>
          <a:off x="323528" y="736481"/>
          <a:ext cx="8320722" cy="3780011"/>
        </p:xfrm>
        <a:graphic>
          <a:graphicData uri="http://schemas.openxmlformats.org/drawingml/2006/table">
            <a:tbl>
              <a:tblPr/>
              <a:tblGrid>
                <a:gridCol w="24749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19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619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619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6195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6195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6195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6195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6195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5008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12307">
                <a:tc gridSpan="3">
                  <a:txBody>
                    <a:bodyPr/>
                    <a:lstStyle/>
                    <a:p>
                      <a:pPr algn="l" fontAlgn="b"/>
                      <a:r>
                        <a:rPr lang="en-US" sz="1050" b="1" i="0" u="sng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TOOLING </a:t>
                      </a:r>
                    </a:p>
                    <a:p>
                      <a:pPr marL="0" algn="l" defTabSz="914400" rtl="0" eaLnBrk="1" fontAlgn="b" latinLnBrk="0" hangingPunct="1"/>
                      <a:r>
                        <a:rPr lang="en-US" sz="1050" b="1" i="1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(significant programs : </a:t>
                      </a:r>
                      <a:r>
                        <a:rPr lang="en-US" sz="1050" b="1" i="1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i.e</a:t>
                      </a:r>
                      <a:r>
                        <a:rPr lang="en-US" sz="1050" b="1" i="1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 more than M€ 1 of planned capitalized costs)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fr-F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F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F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F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F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F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F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2286">
                <a:tc>
                  <a:txBody>
                    <a:bodyPr/>
                    <a:lstStyle/>
                    <a:p>
                      <a:pPr algn="l" fontAlgn="b"/>
                      <a:endParaRPr lang="fr-F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F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F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F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F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F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F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F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F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F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2307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(in € millions)</a:t>
                      </a:r>
                      <a:endParaRPr lang="fr-FR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1100" b="0" i="0" u="none" strike="noStrike">
                        <a:solidFill>
                          <a:srgbClr val="FF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1100" b="0" i="0" u="none" strike="noStrike">
                        <a:solidFill>
                          <a:srgbClr val="FF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1100" b="0" i="0" u="none" strike="noStrike">
                        <a:solidFill>
                          <a:srgbClr val="FF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1100" b="0" i="0" u="none" strike="noStrike">
                        <a:solidFill>
                          <a:srgbClr val="FF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2307">
                <a:tc>
                  <a:txBody>
                    <a:bodyPr/>
                    <a:lstStyle/>
                    <a:p>
                      <a:pPr algn="l" fontAlgn="b"/>
                      <a:r>
                        <a:rPr lang="fr-FR" sz="900" b="1" i="0" u="none" strike="noStrike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Program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F8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Name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F8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900" b="1" i="0" u="none" strike="noStrike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Name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F8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900" b="1" i="0" u="none" strike="noStrike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Name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F8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900" b="1" i="0" u="none" strike="noStrike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Name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F8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900" b="1" i="0" u="none" strike="noStrike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Name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F8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900" b="1" i="0" u="none" strike="noStrike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Name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F8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900" b="1" i="0" u="none" strike="noStrike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Name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F8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900" b="1" i="0" u="none" strike="noStrike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Name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F8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TOTAL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F8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2923">
                <a:tc>
                  <a:txBody>
                    <a:bodyPr/>
                    <a:lstStyle/>
                    <a:p>
                      <a:pPr algn="just" fontAlgn="ctr"/>
                      <a:r>
                        <a:rPr lang="fr-FR" sz="900" b="1" i="1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SOP (Start of Production</a:t>
                      </a:r>
                      <a:r>
                        <a:rPr lang="fr-FR" sz="900" b="1" i="1" u="none" strike="noStrike" kern="120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date)</a:t>
                      </a:r>
                      <a:endParaRPr lang="fr-FR" sz="900" b="1" i="1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1" i="1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MM/YY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1" i="1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MM/YY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1" i="1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MM/YY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1" i="1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MM/YY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1" i="1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MM/YY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1" i="1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MM/YY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1" i="1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MM/YY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1" i="1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MM/YY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900" b="1" i="1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2307">
                <a:tc>
                  <a:txBody>
                    <a:bodyPr/>
                    <a:lstStyle/>
                    <a:p>
                      <a:pPr algn="l" fontAlgn="b"/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Revenue recorded YTD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900" b="0" i="1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900" b="0" i="1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900" b="0" i="1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900" b="0" i="1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900" b="0" i="1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900" b="0" i="1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900" b="0" i="1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900" b="0" i="1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900" b="1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2307">
                <a:tc>
                  <a:txBody>
                    <a:bodyPr/>
                    <a:lstStyle/>
                    <a:p>
                      <a:pPr algn="l" fontAlgn="b"/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Margin recorded YTD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900" b="0" i="1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900" b="0" i="1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900" b="0" i="1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900" b="0" i="1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900" b="0" i="1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900" b="0" i="1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900" b="0" i="1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900" b="0" i="1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900" b="1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2307">
                <a:tc>
                  <a:txBody>
                    <a:bodyPr/>
                    <a:lstStyle/>
                    <a:p>
                      <a:pPr algn="l" fontAlgn="b"/>
                      <a:r>
                        <a:rPr lang="fr-F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Cumulative revenue </a:t>
                      </a:r>
                      <a:r>
                        <a:rPr lang="fr-FR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recorded</a:t>
                      </a:r>
                      <a:endParaRPr lang="fr-FR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900" b="0" i="1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900" b="0" i="1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900" b="0" i="1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900" b="0" i="1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900" b="0" i="1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900" b="0" i="1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900" b="0" i="1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900" b="0" i="1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900" b="1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2307">
                <a:tc>
                  <a:txBody>
                    <a:bodyPr/>
                    <a:lstStyle/>
                    <a:p>
                      <a:pPr algn="l" fontAlgn="b"/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Cumulative margin recorded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900" b="0" i="1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900" b="0" i="1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900" b="0" i="1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900" b="0" i="1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900" b="0" i="1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900" b="0" i="1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900" b="0" i="1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900" b="0" i="1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900" b="1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2923"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900" b="1" i="1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Estimated gross margin to completion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1" i="1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1" i="1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1" i="1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1" i="1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1" i="1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1" i="1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1" i="1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1" i="1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1" i="1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2307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D&amp;D and prototypes in assets (Non specific)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900" b="1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1F20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2923"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D&amp;D and prototypes in inventories (Specific)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1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1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1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1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1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1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1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1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2307">
                <a:tc>
                  <a:txBody>
                    <a:bodyPr/>
                    <a:lstStyle/>
                    <a:p>
                      <a:pPr algn="l" fontAlgn="b"/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TOTAL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900" b="1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900" b="1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900" b="1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900" b="1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9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9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900" b="1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900" b="1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900" b="1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22923"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Upcoming PPA Sales (per BP)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1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1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1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1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1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1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2307">
                <a:tc>
                  <a:txBody>
                    <a:bodyPr/>
                    <a:lstStyle/>
                    <a:p>
                      <a:pPr algn="l" fontAlgn="b"/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Potential undercover - Asset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900" b="1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900" b="1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900" b="1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900" b="1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900" b="1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9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900" b="1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9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900" b="1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22923"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Upcoming Cash Sales (per BP)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1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1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1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1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1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9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12307">
                <a:tc>
                  <a:txBody>
                    <a:bodyPr/>
                    <a:lstStyle/>
                    <a:p>
                      <a:pPr algn="l" fontAlgn="b"/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Potential undercover - Inventory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p:sp>
        <p:nvSpPr>
          <p:cNvPr id="17" name="Rectangle 16"/>
          <p:cNvSpPr/>
          <p:nvPr/>
        </p:nvSpPr>
        <p:spPr>
          <a:xfrm>
            <a:off x="323526" y="4835332"/>
            <a:ext cx="8381710" cy="1492716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marL="0" lvl="1" algn="just">
              <a:buClr>
                <a:srgbClr val="002060"/>
              </a:buClr>
              <a:buSzPct val="75000"/>
            </a:pPr>
            <a:r>
              <a:rPr lang="fr-FR" sz="1200" b="1" i="1" u="sng" dirty="0" err="1">
                <a:latin typeface="+mj-lt"/>
              </a:rPr>
              <a:t>Comments</a:t>
            </a:r>
            <a:r>
              <a:rPr lang="fr-FR" sz="1200" b="1" i="1" u="sng" dirty="0">
                <a:latin typeface="+mj-lt"/>
              </a:rPr>
              <a:t>: </a:t>
            </a:r>
          </a:p>
          <a:p>
            <a:pPr marL="0" lvl="1" algn="just">
              <a:buClr>
                <a:srgbClr val="002060"/>
              </a:buClr>
              <a:buSzPct val="75000"/>
            </a:pPr>
            <a:r>
              <a:rPr lang="en-GB" sz="1000" b="1" i="1" dirty="0">
                <a:solidFill>
                  <a:srgbClr val="FF0000"/>
                </a:solidFill>
                <a:latin typeface="+mj-lt"/>
                <a:cs typeface="Calibri" panose="020F0502020204030204" pitchFamily="34" charset="0"/>
              </a:rPr>
              <a:t>For each program provide :</a:t>
            </a:r>
          </a:p>
          <a:p>
            <a:pPr marL="171450" lvl="1" indent="-171450" algn="just">
              <a:buClr>
                <a:srgbClr val="002060"/>
              </a:buClr>
              <a:buSzPct val="75000"/>
              <a:buFontTx/>
              <a:buChar char="-"/>
            </a:pPr>
            <a:r>
              <a:rPr lang="en-GB" sz="1000" b="1" i="1" dirty="0">
                <a:solidFill>
                  <a:srgbClr val="FF0000"/>
                </a:solidFill>
                <a:latin typeface="+mj-lt"/>
                <a:cs typeface="Calibri" panose="020F0502020204030204" pitchFamily="34" charset="0"/>
              </a:rPr>
              <a:t>main SOP date</a:t>
            </a:r>
          </a:p>
          <a:p>
            <a:pPr marL="171450" lvl="1" indent="-171450" algn="just">
              <a:buClr>
                <a:srgbClr val="002060"/>
              </a:buClr>
              <a:buSzPct val="75000"/>
              <a:buFontTx/>
              <a:buChar char="-"/>
            </a:pPr>
            <a:r>
              <a:rPr lang="en-GB" sz="1000" b="1" i="1" dirty="0">
                <a:solidFill>
                  <a:srgbClr val="FF0000"/>
                </a:solidFill>
                <a:latin typeface="+mj-lt"/>
                <a:cs typeface="Calibri" panose="020F0502020204030204" pitchFamily="34" charset="0"/>
              </a:rPr>
              <a:t>information on the method used for the amortization of D&amp;D costs (straight-line amortization / PPA method : piece price amortization) ; </a:t>
            </a:r>
            <a:endParaRPr lang="fr-FR" sz="1000" b="1" i="1" dirty="0">
              <a:solidFill>
                <a:srgbClr val="FF0000"/>
              </a:solidFill>
              <a:latin typeface="+mj-lt"/>
              <a:cs typeface="Calibri" panose="020F0502020204030204" pitchFamily="34" charset="0"/>
            </a:endParaRPr>
          </a:p>
          <a:p>
            <a:pPr marL="171450" lvl="1" indent="-171450" algn="just">
              <a:buClr>
                <a:srgbClr val="002060"/>
              </a:buClr>
              <a:buSzPct val="75000"/>
              <a:buFontTx/>
              <a:buChar char="-"/>
            </a:pPr>
            <a:r>
              <a:rPr lang="en-US" sz="1000" b="1" i="1" dirty="0">
                <a:solidFill>
                  <a:srgbClr val="FF0000"/>
                </a:solidFill>
                <a:latin typeface="+mj-lt"/>
                <a:cs typeface="Calibri" panose="020F0502020204030204" pitchFamily="34" charset="0"/>
              </a:rPr>
              <a:t>plant -  client </a:t>
            </a:r>
          </a:p>
          <a:p>
            <a:pPr marL="0" lvl="1" algn="just">
              <a:buClr>
                <a:srgbClr val="002060"/>
              </a:buClr>
              <a:buSzPct val="75000"/>
            </a:pPr>
            <a:r>
              <a:rPr lang="en-US" sz="1000" b="1" i="1" dirty="0">
                <a:solidFill>
                  <a:srgbClr val="FF0000"/>
                </a:solidFill>
                <a:latin typeface="+mj-lt"/>
                <a:cs typeface="Calibri" panose="020F0502020204030204" pitchFamily="34" charset="0"/>
              </a:rPr>
              <a:t>And conclude over :</a:t>
            </a:r>
          </a:p>
          <a:p>
            <a:pPr marL="171450" lvl="1" indent="-171450" algn="just">
              <a:buClr>
                <a:srgbClr val="002060"/>
              </a:buClr>
              <a:buSzPct val="75000"/>
              <a:buFontTx/>
              <a:buChar char="-"/>
            </a:pPr>
            <a:r>
              <a:rPr lang="en-US" sz="1000" b="1" i="1" dirty="0">
                <a:solidFill>
                  <a:srgbClr val="FF0000"/>
                </a:solidFill>
                <a:latin typeface="+mj-lt"/>
                <a:cs typeface="Calibri" panose="020F0502020204030204" pitchFamily="34" charset="0"/>
              </a:rPr>
              <a:t>accounting treatment (assets vs inventories, capitalization and amortization)</a:t>
            </a:r>
          </a:p>
          <a:p>
            <a:pPr marL="171450" lvl="1" indent="-171450" algn="just">
              <a:buClr>
                <a:srgbClr val="002060"/>
              </a:buClr>
              <a:buSzPct val="75000"/>
              <a:buFontTx/>
              <a:buChar char="-"/>
            </a:pPr>
            <a:r>
              <a:rPr lang="en-US" sz="1000" b="1" i="1" dirty="0">
                <a:solidFill>
                  <a:srgbClr val="FF0000"/>
                </a:solidFill>
                <a:latin typeface="+mj-lt"/>
                <a:cs typeface="Calibri" panose="020F0502020204030204" pitchFamily="34" charset="0"/>
              </a:rPr>
              <a:t>impairment and LTC (Loss To Completion) consideration </a:t>
            </a:r>
          </a:p>
          <a:p>
            <a:pPr marL="0" lvl="1" algn="just">
              <a:buClr>
                <a:srgbClr val="002060"/>
              </a:buClr>
              <a:buSzPct val="75000"/>
            </a:pPr>
            <a:endParaRPr lang="en-US" sz="900" b="1" i="1" dirty="0">
              <a:solidFill>
                <a:srgbClr val="0070C0"/>
              </a:solidFill>
              <a:latin typeface="EYInterstate Light" panose="02000506000000020004" pitchFamily="2" charset="0"/>
              <a:cs typeface="Calibri" panose="020F0502020204030204" pitchFamily="34" charset="0"/>
            </a:endParaRPr>
          </a:p>
        </p:txBody>
      </p:sp>
      <p:sp>
        <p:nvSpPr>
          <p:cNvPr id="18" name="Pentagon 6"/>
          <p:cNvSpPr/>
          <p:nvPr/>
        </p:nvSpPr>
        <p:spPr>
          <a:xfrm>
            <a:off x="3723814" y="132929"/>
            <a:ext cx="1386001" cy="516535"/>
          </a:xfrm>
          <a:prstGeom prst="homePlate">
            <a:avLst/>
          </a:prstGeom>
          <a:solidFill>
            <a:schemeClr val="bg1">
              <a:lumMod val="85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88900" rIns="88900" bIns="88900" rtlCol="0" anchor="ctr"/>
          <a:lstStyle/>
          <a:p>
            <a:pPr algn="ctr"/>
            <a:r>
              <a:rPr lang="en-US" sz="1200" dirty="0">
                <a:solidFill>
                  <a:schemeClr val="bg1"/>
                </a:solidFill>
                <a:latin typeface="+mj-lt"/>
              </a:rPr>
              <a:t>Context</a:t>
            </a:r>
          </a:p>
        </p:txBody>
      </p:sp>
      <p:sp>
        <p:nvSpPr>
          <p:cNvPr id="19" name="Chevron 8"/>
          <p:cNvSpPr/>
          <p:nvPr/>
        </p:nvSpPr>
        <p:spPr>
          <a:xfrm>
            <a:off x="4930617" y="132929"/>
            <a:ext cx="1386001" cy="516535"/>
          </a:xfrm>
          <a:prstGeom prst="chevron">
            <a:avLst/>
          </a:prstGeom>
          <a:solidFill>
            <a:schemeClr val="bg1">
              <a:lumMod val="85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88900" rIns="0" bIns="88900" rtlCol="0" anchor="ctr"/>
          <a:lstStyle/>
          <a:p>
            <a:pPr algn="ctr"/>
            <a:r>
              <a:rPr lang="en-US" sz="1200" dirty="0">
                <a:solidFill>
                  <a:schemeClr val="bg1"/>
                </a:solidFill>
                <a:latin typeface="+mj-lt"/>
              </a:rPr>
              <a:t>Audit approach</a:t>
            </a:r>
          </a:p>
        </p:txBody>
      </p:sp>
      <p:sp>
        <p:nvSpPr>
          <p:cNvPr id="20" name="Chevron 9"/>
          <p:cNvSpPr/>
          <p:nvPr/>
        </p:nvSpPr>
        <p:spPr>
          <a:xfrm>
            <a:off x="6126958" y="132929"/>
            <a:ext cx="1386001" cy="516535"/>
          </a:xfrm>
          <a:prstGeom prst="chevron">
            <a:avLst/>
          </a:prstGeom>
          <a:solidFill>
            <a:schemeClr val="bg1">
              <a:lumMod val="85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88900" rIns="0" bIns="88900" rtlCol="0" anchor="ctr"/>
          <a:lstStyle/>
          <a:p>
            <a:pPr algn="ctr"/>
            <a:r>
              <a:rPr lang="en-US" sz="1200" dirty="0">
                <a:solidFill>
                  <a:schemeClr val="bg1"/>
                </a:solidFill>
                <a:latin typeface="+mj-lt"/>
              </a:rPr>
              <a:t>Conclusion</a:t>
            </a:r>
          </a:p>
        </p:txBody>
      </p:sp>
      <p:sp>
        <p:nvSpPr>
          <p:cNvPr id="21" name="Chevron 10"/>
          <p:cNvSpPr/>
          <p:nvPr/>
        </p:nvSpPr>
        <p:spPr>
          <a:xfrm>
            <a:off x="7319236" y="132929"/>
            <a:ext cx="1386001" cy="516535"/>
          </a:xfrm>
          <a:prstGeom prst="chevron">
            <a:avLst/>
          </a:prstGeom>
          <a:solidFill>
            <a:srgbClr val="223F87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88900" rIns="0" bIns="88900" rtlCol="0" anchor="ctr"/>
          <a:lstStyle/>
          <a:p>
            <a:r>
              <a:rPr lang="en-US" sz="1200" b="1" dirty="0">
                <a:solidFill>
                  <a:schemeClr val="bg1"/>
                </a:solidFill>
                <a:latin typeface="+mj-lt"/>
              </a:rPr>
              <a:t>Appendices</a:t>
            </a:r>
          </a:p>
        </p:txBody>
      </p:sp>
      <p:sp>
        <p:nvSpPr>
          <p:cNvPr id="22" name="Slide Number Placeholder 9"/>
          <p:cNvSpPr>
            <a:spLocks noGrp="1"/>
          </p:cNvSpPr>
          <p:nvPr>
            <p:ph type="sldNum" sz="quarter" idx="12"/>
          </p:nvPr>
        </p:nvSpPr>
        <p:spPr>
          <a:xfrm>
            <a:off x="2700337" y="6482398"/>
            <a:ext cx="2057400" cy="365125"/>
          </a:xfrm>
        </p:spPr>
        <p:txBody>
          <a:bodyPr/>
          <a:lstStyle/>
          <a:p>
            <a:fld id="{661E6E57-A11E-4CD0-AED6-15B700CC2E98}" type="slidenum">
              <a:rPr lang="fr-FR" smtClean="0">
                <a:latin typeface="EYInterstate Light" panose="02000506000000020004" pitchFamily="2" charset="0"/>
              </a:rPr>
              <a:t>20</a:t>
            </a:fld>
            <a:endParaRPr lang="fr-FR" dirty="0">
              <a:latin typeface="EYInterstate Light" panose="02000506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57182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 txBox="1">
            <a:spLocks/>
          </p:cNvSpPr>
          <p:nvPr/>
        </p:nvSpPr>
        <p:spPr>
          <a:xfrm>
            <a:off x="323528" y="50376"/>
            <a:ext cx="8381710" cy="850106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700" b="1" dirty="0">
                <a:solidFill>
                  <a:prstClr val="black"/>
                </a:solidFill>
              </a:rPr>
              <a:t>Revenue recognition</a:t>
            </a:r>
          </a:p>
          <a:p>
            <a:pPr algn="l"/>
            <a:r>
              <a:rPr lang="en-US" sz="1400" b="1" i="1" dirty="0">
                <a:solidFill>
                  <a:prstClr val="black"/>
                </a:solidFill>
              </a:rPr>
              <a:t>Analytical review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5554555" y="839042"/>
            <a:ext cx="3150683" cy="4385816"/>
          </a:xfrm>
          <a:prstGeom prst="rect">
            <a:avLst/>
          </a:prstGeom>
          <a:ln>
            <a:solidFill>
              <a:srgbClr val="002060"/>
            </a:solidFill>
          </a:ln>
        </p:spPr>
        <p:txBody>
          <a:bodyPr wrap="square">
            <a:spAutoFit/>
          </a:bodyPr>
          <a:lstStyle/>
          <a:p>
            <a:pPr marL="0" lvl="1" algn="just">
              <a:buClr>
                <a:srgbClr val="002060"/>
              </a:buClr>
              <a:buSzPct val="75000"/>
            </a:pPr>
            <a:r>
              <a:rPr lang="fr-FR" sz="1200" b="1" i="1" u="sng" dirty="0" err="1">
                <a:latin typeface="+mj-lt"/>
              </a:rPr>
              <a:t>Analytical</a:t>
            </a:r>
            <a:r>
              <a:rPr lang="fr-FR" sz="1200" b="1" i="1" u="sng" dirty="0">
                <a:latin typeface="+mj-lt"/>
              </a:rPr>
              <a:t> </a:t>
            </a:r>
            <a:r>
              <a:rPr lang="fr-FR" sz="1200" b="1" i="1" u="sng" dirty="0" err="1">
                <a:latin typeface="+mj-lt"/>
              </a:rPr>
              <a:t>review</a:t>
            </a:r>
            <a:r>
              <a:rPr lang="fr-FR" sz="1200" b="1" i="1" u="sng" dirty="0">
                <a:latin typeface="+mj-lt"/>
              </a:rPr>
              <a:t>:</a:t>
            </a:r>
          </a:p>
          <a:p>
            <a:pPr marL="0" lvl="1" algn="just">
              <a:buClr>
                <a:srgbClr val="002060"/>
              </a:buClr>
              <a:buSzPct val="75000"/>
            </a:pPr>
            <a:endParaRPr lang="fr-FR" sz="1050" b="1" u="sng" dirty="0">
              <a:solidFill>
                <a:srgbClr val="C00000"/>
              </a:solidFill>
              <a:latin typeface="EYInterstate Light" panose="02000506000000020004" pitchFamily="2" charset="0"/>
              <a:cs typeface="Calibri" panose="020F0502020204030204" pitchFamily="34" charset="0"/>
            </a:endParaRPr>
          </a:p>
          <a:p>
            <a:pPr marL="0" lvl="1" algn="just">
              <a:buClr>
                <a:srgbClr val="002060"/>
              </a:buClr>
              <a:buSzPct val="75000"/>
            </a:pPr>
            <a:r>
              <a:rPr lang="en-GB" sz="1000" b="1" i="1" dirty="0">
                <a:solidFill>
                  <a:srgbClr val="FF0000"/>
                </a:solidFill>
                <a:latin typeface="+mj-lt"/>
                <a:cs typeface="Calibri" panose="020F0502020204030204" pitchFamily="34" charset="0"/>
              </a:rPr>
              <a:t>Provide information over </a:t>
            </a:r>
            <a:r>
              <a:rPr lang="fr-FR" sz="1000" b="1" i="1" dirty="0">
                <a:solidFill>
                  <a:srgbClr val="FF0000"/>
                </a:solidFill>
                <a:latin typeface="+mj-lt"/>
                <a:cs typeface="Calibri" panose="020F0502020204030204" pitchFamily="34" charset="0"/>
              </a:rPr>
              <a:t>the main clients (total </a:t>
            </a:r>
            <a:r>
              <a:rPr lang="fr-FR" sz="1000" b="1" i="1" dirty="0" err="1">
                <a:solidFill>
                  <a:srgbClr val="FF0000"/>
                </a:solidFill>
                <a:latin typeface="+mj-lt"/>
                <a:cs typeface="Calibri" panose="020F0502020204030204" pitchFamily="34" charset="0"/>
              </a:rPr>
              <a:t>amount</a:t>
            </a:r>
            <a:r>
              <a:rPr lang="fr-FR" sz="1000" b="1" i="1" dirty="0">
                <a:solidFill>
                  <a:srgbClr val="FF0000"/>
                </a:solidFill>
                <a:latin typeface="+mj-lt"/>
                <a:cs typeface="Calibri" panose="020F0502020204030204" pitchFamily="34" charset="0"/>
              </a:rPr>
              <a:t> of Revenue) and programs and </a:t>
            </a:r>
            <a:r>
              <a:rPr lang="fr-FR" sz="1000" b="1" i="1" dirty="0" err="1">
                <a:solidFill>
                  <a:srgbClr val="FF0000"/>
                </a:solidFill>
                <a:latin typeface="+mj-lt"/>
                <a:cs typeface="Calibri" panose="020F0502020204030204" pitchFamily="34" charset="0"/>
              </a:rPr>
              <a:t>explain</a:t>
            </a:r>
            <a:r>
              <a:rPr lang="fr-FR" sz="1000" b="1" i="1" dirty="0">
                <a:solidFill>
                  <a:srgbClr val="FF0000"/>
                </a:solidFill>
                <a:latin typeface="+mj-lt"/>
                <a:cs typeface="Calibri" panose="020F0502020204030204" pitchFamily="34" charset="0"/>
              </a:rPr>
              <a:t> </a:t>
            </a:r>
            <a:r>
              <a:rPr lang="fr-FR" sz="1000" b="1" i="1" dirty="0" err="1">
                <a:solidFill>
                  <a:srgbClr val="FF0000"/>
                </a:solidFill>
                <a:latin typeface="+mj-lt"/>
                <a:cs typeface="Calibri" panose="020F0502020204030204" pitchFamily="34" charset="0"/>
              </a:rPr>
              <a:t>significant</a:t>
            </a:r>
            <a:r>
              <a:rPr lang="fr-FR" sz="1000" b="1" i="1" dirty="0">
                <a:solidFill>
                  <a:srgbClr val="FF0000"/>
                </a:solidFill>
                <a:latin typeface="+mj-lt"/>
                <a:cs typeface="Calibri" panose="020F0502020204030204" pitchFamily="34" charset="0"/>
              </a:rPr>
              <a:t> variation (new </a:t>
            </a:r>
            <a:r>
              <a:rPr lang="fr-FR" sz="1000" b="1" i="1" dirty="0" err="1">
                <a:solidFill>
                  <a:srgbClr val="FF0000"/>
                </a:solidFill>
                <a:latin typeface="+mj-lt"/>
                <a:cs typeface="Calibri" panose="020F0502020204030204" pitchFamily="34" charset="0"/>
              </a:rPr>
              <a:t>award</a:t>
            </a:r>
            <a:r>
              <a:rPr lang="fr-FR" sz="1000" b="1" i="1" dirty="0">
                <a:solidFill>
                  <a:srgbClr val="FF0000"/>
                </a:solidFill>
                <a:latin typeface="+mj-lt"/>
                <a:cs typeface="Calibri" panose="020F0502020204030204" pitchFamily="34" charset="0"/>
              </a:rPr>
              <a:t>, </a:t>
            </a:r>
            <a:r>
              <a:rPr lang="fr-FR" sz="1000" b="1" i="1" dirty="0" err="1">
                <a:solidFill>
                  <a:srgbClr val="FF0000"/>
                </a:solidFill>
                <a:latin typeface="+mj-lt"/>
                <a:cs typeface="Calibri" panose="020F0502020204030204" pitchFamily="34" charset="0"/>
              </a:rPr>
              <a:t>negociation</a:t>
            </a:r>
            <a:r>
              <a:rPr lang="fr-FR" sz="1000" b="1" i="1" dirty="0">
                <a:solidFill>
                  <a:srgbClr val="FF0000"/>
                </a:solidFill>
                <a:latin typeface="+mj-lt"/>
                <a:cs typeface="Calibri" panose="020F0502020204030204" pitchFamily="34" charset="0"/>
              </a:rPr>
              <a:t>, </a:t>
            </a:r>
            <a:r>
              <a:rPr lang="fr-FR" sz="1000" b="1" i="1" dirty="0" err="1">
                <a:solidFill>
                  <a:srgbClr val="FF0000"/>
                </a:solidFill>
                <a:latin typeface="+mj-lt"/>
                <a:cs typeface="Calibri" panose="020F0502020204030204" pitchFamily="34" charset="0"/>
              </a:rPr>
              <a:t>loss</a:t>
            </a:r>
            <a:r>
              <a:rPr lang="fr-FR" sz="1000" b="1" i="1" dirty="0">
                <a:solidFill>
                  <a:srgbClr val="FF0000"/>
                </a:solidFill>
                <a:latin typeface="+mj-lt"/>
                <a:cs typeface="Calibri" panose="020F0502020204030204" pitchFamily="34" charset="0"/>
              </a:rPr>
              <a:t> of program, ..)</a:t>
            </a:r>
          </a:p>
          <a:p>
            <a:pPr marL="0" lvl="1" algn="just">
              <a:buClr>
                <a:srgbClr val="002060"/>
              </a:buClr>
              <a:buSzPct val="75000"/>
            </a:pPr>
            <a:endParaRPr lang="fr-FR" sz="1050" b="1" i="1" u="sng" dirty="0">
              <a:solidFill>
                <a:srgbClr val="0070C0"/>
              </a:solidFill>
              <a:latin typeface="EYInterstate Light" panose="02000506000000020004" pitchFamily="2" charset="0"/>
              <a:cs typeface="Calibri" panose="020F0502020204030204" pitchFamily="34" charset="0"/>
            </a:endParaRPr>
          </a:p>
          <a:p>
            <a:pPr marL="0" lvl="1" algn="just">
              <a:buClr>
                <a:srgbClr val="002060"/>
              </a:buClr>
              <a:buSzPct val="75000"/>
            </a:pPr>
            <a:endParaRPr lang="fr-FR" sz="1050" b="1" i="1" u="sng" dirty="0">
              <a:solidFill>
                <a:srgbClr val="0070C0"/>
              </a:solidFill>
              <a:latin typeface="EYInterstate Light" panose="02000506000000020004" pitchFamily="2" charset="0"/>
              <a:cs typeface="Calibri" panose="020F0502020204030204" pitchFamily="34" charset="0"/>
            </a:endParaRPr>
          </a:p>
          <a:p>
            <a:pPr marL="0" lvl="1" algn="just">
              <a:buClr>
                <a:srgbClr val="002060"/>
              </a:buClr>
              <a:buSzPct val="75000"/>
            </a:pPr>
            <a:endParaRPr lang="fr-FR" sz="1050" b="1" i="1" u="sng" dirty="0">
              <a:solidFill>
                <a:srgbClr val="0070C0"/>
              </a:solidFill>
              <a:latin typeface="EYInterstate Light" panose="02000506000000020004" pitchFamily="2" charset="0"/>
              <a:cs typeface="Calibri" panose="020F0502020204030204" pitchFamily="34" charset="0"/>
            </a:endParaRPr>
          </a:p>
          <a:p>
            <a:pPr marL="0" lvl="1" algn="just">
              <a:buClr>
                <a:srgbClr val="002060"/>
              </a:buClr>
              <a:buSzPct val="75000"/>
            </a:pPr>
            <a:r>
              <a:rPr lang="fr-FR" sz="1200" b="1" i="1" u="sng" dirty="0">
                <a:latin typeface="+mj-lt"/>
              </a:rPr>
              <a:t>Audit </a:t>
            </a:r>
            <a:r>
              <a:rPr lang="fr-FR" sz="1200" b="1" i="1" u="sng" dirty="0" err="1">
                <a:latin typeface="+mj-lt"/>
              </a:rPr>
              <a:t>coverage</a:t>
            </a:r>
            <a:r>
              <a:rPr lang="fr-FR" sz="1200" b="1" i="1" u="sng" dirty="0">
                <a:latin typeface="+mj-lt"/>
              </a:rPr>
              <a:t>: </a:t>
            </a:r>
          </a:p>
          <a:p>
            <a:pPr marL="0" lvl="1" algn="just">
              <a:buClr>
                <a:srgbClr val="002060"/>
              </a:buClr>
              <a:buSzPct val="75000"/>
            </a:pPr>
            <a:endParaRPr lang="en-GB" sz="1050" b="1" i="1" dirty="0">
              <a:solidFill>
                <a:srgbClr val="0070C0"/>
              </a:solidFill>
              <a:latin typeface="EYInterstate Light" panose="02000506000000020004" pitchFamily="2" charset="0"/>
              <a:cs typeface="Calibri" panose="020F0502020204030204" pitchFamily="34" charset="0"/>
            </a:endParaRPr>
          </a:p>
          <a:p>
            <a:pPr marL="0" lvl="1" algn="just">
              <a:buClr>
                <a:srgbClr val="002060"/>
              </a:buClr>
              <a:buSzPct val="75000"/>
            </a:pPr>
            <a:r>
              <a:rPr lang="en-GB" sz="1000" b="1" i="1" dirty="0">
                <a:solidFill>
                  <a:srgbClr val="FF0000"/>
                </a:solidFill>
                <a:latin typeface="+mj-lt"/>
                <a:cs typeface="Calibri" panose="020F0502020204030204" pitchFamily="34" charset="0"/>
              </a:rPr>
              <a:t>Provide information over </a:t>
            </a:r>
            <a:r>
              <a:rPr lang="fr-FR" sz="1000" b="1" i="1" dirty="0">
                <a:solidFill>
                  <a:srgbClr val="FF0000"/>
                </a:solidFill>
                <a:latin typeface="+mj-lt"/>
                <a:cs typeface="Calibri" panose="020F0502020204030204" pitchFamily="34" charset="0"/>
              </a:rPr>
              <a:t>the </a:t>
            </a:r>
            <a:r>
              <a:rPr lang="fr-FR" sz="1000" b="1" i="1" dirty="0" err="1">
                <a:solidFill>
                  <a:srgbClr val="FF0000"/>
                </a:solidFill>
                <a:latin typeface="+mj-lt"/>
                <a:cs typeface="Calibri" panose="020F0502020204030204" pitchFamily="34" charset="0"/>
              </a:rPr>
              <a:t>coverage</a:t>
            </a:r>
            <a:r>
              <a:rPr lang="fr-FR" sz="1000" b="1" i="1" dirty="0">
                <a:solidFill>
                  <a:srgbClr val="FF0000"/>
                </a:solidFill>
                <a:latin typeface="+mj-lt"/>
                <a:cs typeface="Calibri" panose="020F0502020204030204" pitchFamily="34" charset="0"/>
              </a:rPr>
              <a:t> of revenue </a:t>
            </a:r>
            <a:r>
              <a:rPr lang="fr-FR" sz="1000" b="1" i="1" dirty="0" err="1">
                <a:solidFill>
                  <a:srgbClr val="FF0000"/>
                </a:solidFill>
                <a:latin typeface="+mj-lt"/>
                <a:cs typeface="Calibri" panose="020F0502020204030204" pitchFamily="34" charset="0"/>
              </a:rPr>
              <a:t>flows</a:t>
            </a:r>
            <a:r>
              <a:rPr lang="fr-FR" sz="1000" b="1" i="1" dirty="0">
                <a:solidFill>
                  <a:srgbClr val="FF0000"/>
                </a:solidFill>
                <a:latin typeface="+mj-lt"/>
                <a:cs typeface="Calibri" panose="020F0502020204030204" pitchFamily="34" charset="0"/>
              </a:rPr>
              <a:t> in course of the audit (use of the 3 </a:t>
            </a:r>
            <a:r>
              <a:rPr lang="fr-FR" sz="1000" b="1" i="1" dirty="0" err="1">
                <a:solidFill>
                  <a:srgbClr val="FF0000"/>
                </a:solidFill>
                <a:latin typeface="+mj-lt"/>
                <a:cs typeface="Calibri" panose="020F0502020204030204" pitchFamily="34" charset="0"/>
              </a:rPr>
              <a:t>way</a:t>
            </a:r>
            <a:r>
              <a:rPr lang="fr-FR" sz="1000" b="1" i="1" dirty="0">
                <a:solidFill>
                  <a:srgbClr val="FF0000"/>
                </a:solidFill>
                <a:latin typeface="+mj-lt"/>
                <a:cs typeface="Calibri" panose="020F0502020204030204" pitchFamily="34" charset="0"/>
              </a:rPr>
              <a:t> </a:t>
            </a:r>
            <a:r>
              <a:rPr lang="fr-FR" sz="1000" b="1" i="1" dirty="0" err="1">
                <a:solidFill>
                  <a:srgbClr val="FF0000"/>
                </a:solidFill>
                <a:latin typeface="+mj-lt"/>
                <a:cs typeface="Calibri" panose="020F0502020204030204" pitchFamily="34" charset="0"/>
              </a:rPr>
              <a:t>correlation</a:t>
            </a:r>
            <a:r>
              <a:rPr lang="fr-FR" sz="1000" b="1" i="1" dirty="0">
                <a:solidFill>
                  <a:srgbClr val="FF0000"/>
                </a:solidFill>
                <a:latin typeface="+mj-lt"/>
                <a:cs typeface="Calibri" panose="020F0502020204030204" pitchFamily="34" charset="0"/>
              </a:rPr>
              <a:t> </a:t>
            </a:r>
            <a:r>
              <a:rPr lang="fr-FR" sz="1000" b="1" i="1" dirty="0" err="1">
                <a:solidFill>
                  <a:srgbClr val="FF0000"/>
                </a:solidFill>
                <a:latin typeface="+mj-lt"/>
                <a:cs typeface="Calibri" panose="020F0502020204030204" pitchFamily="34" charset="0"/>
              </a:rPr>
              <a:t>with</a:t>
            </a:r>
            <a:r>
              <a:rPr lang="fr-FR" sz="1000" b="1" i="1" dirty="0">
                <a:solidFill>
                  <a:srgbClr val="FF0000"/>
                </a:solidFill>
                <a:latin typeface="+mj-lt"/>
                <a:cs typeface="Calibri" panose="020F0502020204030204" pitchFamily="34" charset="0"/>
              </a:rPr>
              <a:t> data points </a:t>
            </a:r>
            <a:r>
              <a:rPr lang="fr-FR" sz="1000" b="1" i="1" dirty="0" err="1">
                <a:solidFill>
                  <a:srgbClr val="FF0000"/>
                </a:solidFill>
                <a:latin typeface="+mj-lt"/>
                <a:cs typeface="Calibri" panose="020F0502020204030204" pitchFamily="34" charset="0"/>
              </a:rPr>
              <a:t>testing</a:t>
            </a:r>
            <a:r>
              <a:rPr lang="fr-FR" sz="1000" b="1" i="1" dirty="0">
                <a:solidFill>
                  <a:srgbClr val="FF0000"/>
                </a:solidFill>
                <a:latin typeface="+mj-lt"/>
                <a:cs typeface="Calibri" panose="020F0502020204030204" pitchFamily="34" charset="0"/>
              </a:rPr>
              <a:t> </a:t>
            </a:r>
            <a:r>
              <a:rPr lang="fr-FR" sz="1000" b="1" i="1" dirty="0" err="1">
                <a:solidFill>
                  <a:srgbClr val="FF0000"/>
                </a:solidFill>
                <a:latin typeface="+mj-lt"/>
                <a:cs typeface="Calibri" panose="020F0502020204030204" pitchFamily="34" charset="0"/>
              </a:rPr>
              <a:t>is</a:t>
            </a:r>
            <a:r>
              <a:rPr lang="fr-FR" sz="1000" b="1" i="1" dirty="0">
                <a:solidFill>
                  <a:srgbClr val="FF0000"/>
                </a:solidFill>
                <a:latin typeface="+mj-lt"/>
                <a:cs typeface="Calibri" panose="020F0502020204030204" pitchFamily="34" charset="0"/>
              </a:rPr>
              <a:t> </a:t>
            </a:r>
            <a:r>
              <a:rPr lang="fr-FR" sz="1000" b="1" i="1" dirty="0" err="1">
                <a:solidFill>
                  <a:srgbClr val="FF0000"/>
                </a:solidFill>
                <a:latin typeface="+mj-lt"/>
                <a:cs typeface="Calibri" panose="020F0502020204030204" pitchFamily="34" charset="0"/>
              </a:rPr>
              <a:t>considered</a:t>
            </a:r>
            <a:r>
              <a:rPr lang="fr-FR" sz="1000" b="1" i="1" dirty="0">
                <a:solidFill>
                  <a:srgbClr val="FF0000"/>
                </a:solidFill>
                <a:latin typeface="+mj-lt"/>
                <a:cs typeface="Calibri" panose="020F0502020204030204" pitchFamily="34" charset="0"/>
              </a:rPr>
              <a:t> as full </a:t>
            </a:r>
            <a:r>
              <a:rPr lang="fr-FR" sz="1000" b="1" i="1" dirty="0" err="1">
                <a:solidFill>
                  <a:srgbClr val="FF0000"/>
                </a:solidFill>
                <a:latin typeface="+mj-lt"/>
                <a:cs typeface="Calibri" panose="020F0502020204030204" pitchFamily="34" charset="0"/>
              </a:rPr>
              <a:t>coverage</a:t>
            </a:r>
            <a:r>
              <a:rPr lang="fr-FR" sz="1000" b="1" i="1" dirty="0">
                <a:solidFill>
                  <a:srgbClr val="FF0000"/>
                </a:solidFill>
                <a:latin typeface="+mj-lt"/>
                <a:cs typeface="Calibri" panose="020F0502020204030204" pitchFamily="34" charset="0"/>
              </a:rPr>
              <a:t>).</a:t>
            </a:r>
          </a:p>
          <a:p>
            <a:pPr marL="0" lvl="1" algn="just">
              <a:buClr>
                <a:srgbClr val="002060"/>
              </a:buClr>
              <a:buSzPct val="75000"/>
            </a:pPr>
            <a:endParaRPr lang="fr-FR" sz="1050" b="1" u="sng" dirty="0">
              <a:solidFill>
                <a:srgbClr val="C00000"/>
              </a:solidFill>
              <a:latin typeface="EYInterstate Light" panose="02000506000000020004" pitchFamily="2" charset="0"/>
              <a:cs typeface="Calibri" panose="020F0502020204030204" pitchFamily="34" charset="0"/>
            </a:endParaRPr>
          </a:p>
          <a:p>
            <a:pPr marL="0" lvl="1" algn="just">
              <a:buClr>
                <a:srgbClr val="002060"/>
              </a:buClr>
              <a:buSzPct val="75000"/>
            </a:pPr>
            <a:endParaRPr lang="fr-FR" sz="1050" b="1" u="sng" dirty="0">
              <a:solidFill>
                <a:srgbClr val="C00000"/>
              </a:solidFill>
              <a:latin typeface="EYInterstate Light" panose="02000506000000020004" pitchFamily="2" charset="0"/>
              <a:cs typeface="Calibri" panose="020F0502020204030204" pitchFamily="34" charset="0"/>
            </a:endParaRPr>
          </a:p>
          <a:p>
            <a:pPr marL="0" lvl="1" algn="just">
              <a:buClr>
                <a:srgbClr val="002060"/>
              </a:buClr>
              <a:buSzPct val="75000"/>
            </a:pPr>
            <a:endParaRPr lang="fr-FR" sz="1050" b="1" u="sng" dirty="0">
              <a:solidFill>
                <a:srgbClr val="C00000"/>
              </a:solidFill>
              <a:latin typeface="EYInterstate Light" panose="02000506000000020004" pitchFamily="2" charset="0"/>
              <a:cs typeface="Calibri" panose="020F0502020204030204" pitchFamily="34" charset="0"/>
            </a:endParaRPr>
          </a:p>
          <a:p>
            <a:pPr marL="0" lvl="1" algn="just">
              <a:buClr>
                <a:srgbClr val="002060"/>
              </a:buClr>
              <a:buSzPct val="75000"/>
            </a:pPr>
            <a:endParaRPr lang="fr-FR" sz="1050" b="1" u="sng" dirty="0">
              <a:solidFill>
                <a:srgbClr val="C00000"/>
              </a:solidFill>
              <a:latin typeface="EYInterstate Light" panose="02000506000000020004" pitchFamily="2" charset="0"/>
              <a:cs typeface="Calibri" panose="020F0502020204030204" pitchFamily="34" charset="0"/>
            </a:endParaRPr>
          </a:p>
          <a:p>
            <a:pPr marL="0" lvl="1" algn="just">
              <a:buClr>
                <a:srgbClr val="002060"/>
              </a:buClr>
              <a:buSzPct val="75000"/>
            </a:pPr>
            <a:endParaRPr lang="fr-FR" sz="1050" b="1" u="sng" dirty="0">
              <a:solidFill>
                <a:srgbClr val="C00000"/>
              </a:solidFill>
              <a:latin typeface="EYInterstate Light" panose="02000506000000020004" pitchFamily="2" charset="0"/>
              <a:cs typeface="Calibri" panose="020F0502020204030204" pitchFamily="34" charset="0"/>
            </a:endParaRPr>
          </a:p>
          <a:p>
            <a:pPr marL="0" lvl="1" algn="just">
              <a:buClr>
                <a:srgbClr val="002060"/>
              </a:buClr>
              <a:buSzPct val="75000"/>
            </a:pPr>
            <a:endParaRPr lang="fr-FR" sz="1050" b="1" u="sng" dirty="0">
              <a:solidFill>
                <a:srgbClr val="C00000"/>
              </a:solidFill>
              <a:latin typeface="EYInterstate Light" panose="02000506000000020004" pitchFamily="2" charset="0"/>
              <a:cs typeface="Calibri" panose="020F0502020204030204" pitchFamily="34" charset="0"/>
            </a:endParaRPr>
          </a:p>
          <a:p>
            <a:pPr marL="0" lvl="1" algn="just">
              <a:buClr>
                <a:srgbClr val="002060"/>
              </a:buClr>
              <a:buSzPct val="75000"/>
            </a:pPr>
            <a:endParaRPr lang="fr-FR" sz="1050" b="1" u="sng" dirty="0">
              <a:solidFill>
                <a:srgbClr val="C00000"/>
              </a:solidFill>
              <a:latin typeface="EYInterstate Light" panose="02000506000000020004" pitchFamily="2" charset="0"/>
              <a:cs typeface="Calibri" panose="020F0502020204030204" pitchFamily="34" charset="0"/>
            </a:endParaRPr>
          </a:p>
          <a:p>
            <a:pPr marL="0" lvl="1" algn="just">
              <a:buClr>
                <a:srgbClr val="002060"/>
              </a:buClr>
              <a:buSzPct val="75000"/>
            </a:pPr>
            <a:endParaRPr lang="fr-FR" sz="1050" b="1" u="sng" dirty="0">
              <a:solidFill>
                <a:srgbClr val="C00000"/>
              </a:solidFill>
              <a:latin typeface="EYInterstate Light" panose="02000506000000020004" pitchFamily="2" charset="0"/>
              <a:cs typeface="Calibri" panose="020F0502020204030204" pitchFamily="34" charset="0"/>
            </a:endParaRPr>
          </a:p>
          <a:p>
            <a:pPr marL="0" lvl="1" algn="just">
              <a:buClr>
                <a:srgbClr val="002060"/>
              </a:buClr>
              <a:buSzPct val="75000"/>
            </a:pPr>
            <a:endParaRPr lang="fr-FR" sz="1050" b="1" u="sng" dirty="0">
              <a:solidFill>
                <a:srgbClr val="C00000"/>
              </a:solidFill>
              <a:latin typeface="EYInterstate Light" panose="02000506000000020004" pitchFamily="2" charset="0"/>
              <a:cs typeface="Calibri" panose="020F0502020204030204" pitchFamily="34" charset="0"/>
            </a:endParaRPr>
          </a:p>
          <a:p>
            <a:pPr marL="0" lvl="1" algn="just">
              <a:buClr>
                <a:srgbClr val="002060"/>
              </a:buClr>
              <a:buSzPct val="75000"/>
            </a:pPr>
            <a:endParaRPr lang="fr-FR" sz="1050" b="1" u="sng" dirty="0">
              <a:solidFill>
                <a:srgbClr val="C00000"/>
              </a:solidFill>
              <a:latin typeface="EYInterstate Light" panose="02000506000000020004" pitchFamily="2" charset="0"/>
              <a:cs typeface="Calibri" panose="020F0502020204030204" pitchFamily="34" charset="0"/>
            </a:endParaRPr>
          </a:p>
          <a:p>
            <a:pPr marL="0" lvl="1" algn="just">
              <a:buClr>
                <a:srgbClr val="002060"/>
              </a:buClr>
              <a:buSzPct val="75000"/>
            </a:pPr>
            <a:endParaRPr lang="en-US" sz="900" b="1" dirty="0">
              <a:latin typeface="EYInterstate Light" panose="02000506000000020004" pitchFamily="2" charset="0"/>
              <a:cs typeface="Calibri" panose="020F0502020204030204" pitchFamily="34" charset="0"/>
            </a:endParaRPr>
          </a:p>
          <a:p>
            <a:pPr marL="0" lvl="1" algn="just">
              <a:buClr>
                <a:srgbClr val="002060"/>
              </a:buClr>
              <a:buSzPct val="75000"/>
            </a:pPr>
            <a:endParaRPr lang="fr-FR" sz="900" b="1" dirty="0">
              <a:latin typeface="EYInterstate Light" panose="02000506000000020004" pitchFamily="2" charset="0"/>
              <a:cs typeface="Calibri" panose="020F0502020204030204" pitchFamily="34" charset="0"/>
            </a:endParaRPr>
          </a:p>
          <a:p>
            <a:pPr marL="0" lvl="1" algn="just">
              <a:buClr>
                <a:srgbClr val="002060"/>
              </a:buClr>
              <a:buSzPct val="75000"/>
            </a:pPr>
            <a:endParaRPr lang="fr-FR" sz="900" b="1" dirty="0">
              <a:solidFill>
                <a:srgbClr val="C00000"/>
              </a:solidFill>
              <a:latin typeface="EYInterstate Light" panose="02000506000000020004" pitchFamily="2" charset="0"/>
              <a:cs typeface="Calibri" panose="020F0502020204030204" pitchFamily="34" charset="0"/>
            </a:endParaRPr>
          </a:p>
          <a:p>
            <a:pPr marL="0" lvl="1" algn="just">
              <a:buClr>
                <a:srgbClr val="002060"/>
              </a:buClr>
              <a:buSzPct val="75000"/>
            </a:pPr>
            <a:r>
              <a:rPr lang="fr-FR" sz="1050" b="1" dirty="0">
                <a:solidFill>
                  <a:srgbClr val="C00000"/>
                </a:solidFill>
                <a:latin typeface="EYInterstate Light" panose="02000506000000020004" pitchFamily="2" charset="0"/>
                <a:cs typeface="Calibri" panose="020F0502020204030204" pitchFamily="34" charset="0"/>
              </a:rPr>
              <a:t> 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4730830"/>
              </p:ext>
            </p:extLst>
          </p:nvPr>
        </p:nvGraphicFramePr>
        <p:xfrm>
          <a:off x="323526" y="839042"/>
          <a:ext cx="5083361" cy="4749558"/>
        </p:xfrm>
        <a:graphic>
          <a:graphicData uri="http://schemas.openxmlformats.org/drawingml/2006/table">
            <a:tbl>
              <a:tblPr/>
              <a:tblGrid>
                <a:gridCol w="2156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88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88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87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3312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87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0466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505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04666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23699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En M€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23F8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31/12/20xx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23F8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31/12/20xx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23F8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 Variation K€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23F8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800" b="1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Variation 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23F8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Notes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23F8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6727">
                <a:tc>
                  <a:txBody>
                    <a:bodyPr/>
                    <a:lstStyle/>
                    <a:p>
                      <a:pPr algn="l" fontAlgn="b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Product sales-external sales-excl  Monoliths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                -    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                -    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                   -    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6727">
                <a:tc>
                  <a:txBody>
                    <a:bodyPr/>
                    <a:lstStyle/>
                    <a:p>
                      <a:pPr algn="l" fontAlgn="b"/>
                      <a:r>
                        <a:rPr lang="fr-F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</a:t>
                      </a:r>
                      <a:r>
                        <a:rPr lang="fr-F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Monoliths</a:t>
                      </a:r>
                      <a:r>
                        <a:rPr lang="fr-F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sales-external sales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                -    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                -    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                   -    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1849"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Tooling sales - </a:t>
                      </a:r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excl</a:t>
                      </a: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 Piece Price - external sales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                -    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                -    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                   -    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6727"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Tooling sales - Piece Price - external sales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                -    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                -    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                   -    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26727"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Engineering Sales Acquisition  Cash  - External s.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                -    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                -    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                   -    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59334"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Engineering Sales Development  Cash  - External s.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                -    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                -    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                   -    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56410"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Engineering Sales Serial Follow-up  Cash  -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                -    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                -    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                   -    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56411"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Total Engineering Sales Piece Price Amortization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                -    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                -    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                   -    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26727">
                <a:tc>
                  <a:txBody>
                    <a:bodyPr/>
                    <a:lstStyle/>
                    <a:p>
                      <a:pPr algn="l" fontAlgn="b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Prototypes Sales - External sales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                -    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                -    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                   -    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26727">
                <a:tc>
                  <a:txBody>
                    <a:bodyPr/>
                    <a:lstStyle/>
                    <a:p>
                      <a:pPr algn="l" fontAlgn="b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Services sales-external sales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                -    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                -    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                   -    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26727">
                <a:tc>
                  <a:txBody>
                    <a:bodyPr/>
                    <a:lstStyle/>
                    <a:p>
                      <a:pPr algn="l" fontAlgn="b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Royalty revenues - external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                -    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                -    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                   -    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26727">
                <a:tc>
                  <a:txBody>
                    <a:bodyPr/>
                    <a:lstStyle/>
                    <a:p>
                      <a:pPr algn="l" fontAlgn="b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Merchandise sales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                -    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                -    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                   -    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26727">
                <a:tc>
                  <a:txBody>
                    <a:bodyPr/>
                    <a:lstStyle/>
                    <a:p>
                      <a:pPr algn="l" fontAlgn="b"/>
                      <a:r>
                        <a:rPr lang="fr-FR" sz="8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Total external sales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8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               -    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8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               -    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                   -    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26727">
                <a:tc>
                  <a:txBody>
                    <a:bodyPr/>
                    <a:lstStyle/>
                    <a:p>
                      <a:pPr algn="l" fontAlgn="b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Product sales-IC sales-excl Monoliths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                -    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                -    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                   -    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29974"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Product sales-in same legal entity/other BAU-excl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                -    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                -    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                   -    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26727">
                <a:tc>
                  <a:txBody>
                    <a:bodyPr/>
                    <a:lstStyle/>
                    <a:p>
                      <a:pPr algn="l" fontAlgn="b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Monoliths sales-IC sales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                -    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                -    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                   -    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26727"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Monoliths sales-in same legal entity/other BAU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                -    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                -    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                   -    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26727">
                <a:tc>
                  <a:txBody>
                    <a:bodyPr/>
                    <a:lstStyle/>
                    <a:p>
                      <a:pPr algn="l" fontAlgn="b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Tooling sales - IC sales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                -    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                -    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                   -    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26727"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Tooling sales - Piece Price - IC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                -    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                -    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                   -    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26727"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Engineering Sales Acquisition  Cash  - IC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                -    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                -    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                   -    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126727"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Engineering Sales Development  Cash  - IC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                -    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                -    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                   -    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126727"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Engineering Sales Serial Follow-up  Cash  - IC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                -    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                -    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                   -    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126727"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Engineering Sales Piece Price Amortization -  IC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                -    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                -    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                   -    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126727">
                <a:tc>
                  <a:txBody>
                    <a:bodyPr/>
                    <a:lstStyle/>
                    <a:p>
                      <a:pPr algn="l" fontAlgn="b"/>
                      <a:r>
                        <a:rPr lang="fr-F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Prototypes Sales - IC sales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                -    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                -    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                   -    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4"/>
                  </a:ext>
                </a:extLst>
              </a:tr>
              <a:tr h="126727">
                <a:tc>
                  <a:txBody>
                    <a:bodyPr/>
                    <a:lstStyle/>
                    <a:p>
                      <a:pPr algn="l" fontAlgn="b"/>
                      <a:r>
                        <a:rPr lang="fr-F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Services sales-IC sales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                -    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                -    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                   -    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5"/>
                  </a:ext>
                </a:extLst>
              </a:tr>
              <a:tr h="126727">
                <a:tc>
                  <a:txBody>
                    <a:bodyPr/>
                    <a:lstStyle/>
                    <a:p>
                      <a:pPr algn="l" fontAlgn="b"/>
                      <a:r>
                        <a:rPr lang="fr-F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</a:t>
                      </a:r>
                      <a:r>
                        <a:rPr lang="fr-F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Royalty</a:t>
                      </a:r>
                      <a:r>
                        <a:rPr lang="fr-F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revenues – IC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                -    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                -    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                   -    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6"/>
                  </a:ext>
                </a:extLst>
              </a:tr>
              <a:tr h="126727">
                <a:tc>
                  <a:txBody>
                    <a:bodyPr/>
                    <a:lstStyle/>
                    <a:p>
                      <a:pPr algn="l" fontAlgn="b"/>
                      <a:r>
                        <a:rPr lang="fr-F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Total intercompany sales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8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               -    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8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               -    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                   -    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7"/>
                  </a:ext>
                </a:extLst>
              </a:tr>
              <a:tr h="126727"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Own Work Capitalized – Intangible – Engineering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                -    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                -    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                   -    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8"/>
                  </a:ext>
                </a:extLst>
              </a:tr>
              <a:tr h="126727">
                <a:tc>
                  <a:txBody>
                    <a:bodyPr/>
                    <a:lstStyle/>
                    <a:p>
                      <a:pPr algn="l" fontAlgn="b"/>
                      <a:r>
                        <a:rPr lang="fr-F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</a:t>
                      </a:r>
                      <a:r>
                        <a:rPr lang="fr-F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Own</a:t>
                      </a:r>
                      <a:r>
                        <a:rPr lang="fr-F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</a:t>
                      </a:r>
                      <a:r>
                        <a:rPr lang="fr-F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Work</a:t>
                      </a:r>
                      <a:r>
                        <a:rPr lang="fr-F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</a:t>
                      </a:r>
                      <a:r>
                        <a:rPr lang="fr-F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Capitalized</a:t>
                      </a:r>
                      <a:r>
                        <a:rPr lang="fr-F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– Tangible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                -    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                -    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                   -    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9"/>
                  </a:ext>
                </a:extLst>
              </a:tr>
              <a:tr h="126727"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</a:t>
                      </a:r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Inc</a:t>
                      </a: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 </a:t>
                      </a:r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dec</a:t>
                      </a: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 finish/semi-finish prod  </a:t>
                      </a:r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inv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                -    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                -    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                   -    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30"/>
                  </a:ext>
                </a:extLst>
              </a:tr>
              <a:tr h="126727">
                <a:tc>
                  <a:txBody>
                    <a:bodyPr/>
                    <a:lstStyle/>
                    <a:p>
                      <a:pPr algn="l" fontAlgn="b"/>
                      <a:r>
                        <a:rPr lang="fr-F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</a:t>
                      </a:r>
                      <a:r>
                        <a:rPr lang="fr-F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Inc</a:t>
                      </a:r>
                      <a:r>
                        <a:rPr lang="fr-F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 </a:t>
                      </a:r>
                      <a:r>
                        <a:rPr lang="fr-F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dec</a:t>
                      </a:r>
                      <a:r>
                        <a:rPr lang="fr-F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 </a:t>
                      </a:r>
                      <a:r>
                        <a:rPr lang="fr-F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raw</a:t>
                      </a:r>
                      <a:r>
                        <a:rPr lang="fr-F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mat  &amp; supplies – </a:t>
                      </a:r>
                      <a:r>
                        <a:rPr lang="fr-F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inv</a:t>
                      </a:r>
                      <a:endParaRPr lang="fr-F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                -    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                -    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                   -    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31"/>
                  </a:ext>
                </a:extLst>
              </a:tr>
              <a:tr h="126727">
                <a:tc>
                  <a:txBody>
                    <a:bodyPr/>
                    <a:lstStyle/>
                    <a:p>
                      <a:pPr algn="l" fontAlgn="b"/>
                      <a:r>
                        <a:rPr lang="fr-F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Operating </a:t>
                      </a:r>
                      <a:r>
                        <a:rPr lang="fr-F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grants</a:t>
                      </a:r>
                      <a:endParaRPr lang="fr-F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                -    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                -    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                   -    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32"/>
                  </a:ext>
                </a:extLst>
              </a:tr>
              <a:tr h="126727"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Gains/loss on disposals of </a:t>
                      </a:r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operat</a:t>
                      </a: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assets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                -    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                -    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                   -    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33"/>
                  </a:ext>
                </a:extLst>
              </a:tr>
              <a:tr h="126727">
                <a:tc>
                  <a:txBody>
                    <a:bodyPr/>
                    <a:lstStyle/>
                    <a:p>
                      <a:pPr algn="l" fontAlgn="b"/>
                      <a:r>
                        <a:rPr lang="fr-F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</a:t>
                      </a:r>
                      <a:r>
                        <a:rPr lang="fr-F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Other</a:t>
                      </a:r>
                      <a:r>
                        <a:rPr lang="fr-F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revenues (R1590)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                -    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                -    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                   -    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34"/>
                  </a:ext>
                </a:extLst>
              </a:tr>
              <a:tr h="126727">
                <a:tc>
                  <a:txBody>
                    <a:bodyPr/>
                    <a:lstStyle/>
                    <a:p>
                      <a:pPr algn="l" fontAlgn="b"/>
                      <a:r>
                        <a:rPr lang="fr-F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Total </a:t>
                      </a:r>
                      <a:r>
                        <a:rPr lang="fr-FR" sz="8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other</a:t>
                      </a:r>
                      <a:r>
                        <a:rPr lang="fr-F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revenues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               -    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8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               -    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                   -    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35"/>
                  </a:ext>
                </a:extLst>
              </a:tr>
            </a:tbl>
          </a:graphicData>
        </a:graphic>
      </p:graphicFrame>
      <p:sp>
        <p:nvSpPr>
          <p:cNvPr id="11" name="Pentagon 6"/>
          <p:cNvSpPr/>
          <p:nvPr/>
        </p:nvSpPr>
        <p:spPr>
          <a:xfrm>
            <a:off x="3723814" y="132929"/>
            <a:ext cx="1386001" cy="516535"/>
          </a:xfrm>
          <a:prstGeom prst="homePlate">
            <a:avLst/>
          </a:prstGeom>
          <a:solidFill>
            <a:schemeClr val="bg1">
              <a:lumMod val="85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88900" rIns="88900" bIns="88900" rtlCol="0" anchor="ctr"/>
          <a:lstStyle/>
          <a:p>
            <a:pPr algn="ctr"/>
            <a:r>
              <a:rPr lang="en-US" sz="1200" dirty="0">
                <a:solidFill>
                  <a:schemeClr val="bg1"/>
                </a:solidFill>
                <a:latin typeface="+mj-lt"/>
              </a:rPr>
              <a:t>Context</a:t>
            </a:r>
          </a:p>
        </p:txBody>
      </p:sp>
      <p:sp>
        <p:nvSpPr>
          <p:cNvPr id="12" name="Chevron 8"/>
          <p:cNvSpPr/>
          <p:nvPr/>
        </p:nvSpPr>
        <p:spPr>
          <a:xfrm>
            <a:off x="4930617" y="132929"/>
            <a:ext cx="1386001" cy="516535"/>
          </a:xfrm>
          <a:prstGeom prst="chevron">
            <a:avLst/>
          </a:prstGeom>
          <a:solidFill>
            <a:schemeClr val="bg1">
              <a:lumMod val="85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88900" rIns="0" bIns="88900" rtlCol="0" anchor="ctr"/>
          <a:lstStyle/>
          <a:p>
            <a:pPr algn="ctr"/>
            <a:r>
              <a:rPr lang="en-US" sz="1200" dirty="0">
                <a:solidFill>
                  <a:schemeClr val="bg1"/>
                </a:solidFill>
                <a:latin typeface="+mj-lt"/>
              </a:rPr>
              <a:t>Audit approach</a:t>
            </a:r>
          </a:p>
        </p:txBody>
      </p:sp>
      <p:sp>
        <p:nvSpPr>
          <p:cNvPr id="13" name="Chevron 9"/>
          <p:cNvSpPr/>
          <p:nvPr/>
        </p:nvSpPr>
        <p:spPr>
          <a:xfrm>
            <a:off x="6126958" y="132929"/>
            <a:ext cx="1386001" cy="516535"/>
          </a:xfrm>
          <a:prstGeom prst="chevron">
            <a:avLst/>
          </a:prstGeom>
          <a:solidFill>
            <a:schemeClr val="bg1">
              <a:lumMod val="85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88900" rIns="0" bIns="88900" rtlCol="0" anchor="ctr"/>
          <a:lstStyle/>
          <a:p>
            <a:pPr algn="ctr"/>
            <a:r>
              <a:rPr lang="en-US" sz="1200" dirty="0">
                <a:solidFill>
                  <a:schemeClr val="bg1"/>
                </a:solidFill>
                <a:latin typeface="+mj-lt"/>
              </a:rPr>
              <a:t>Conclusion</a:t>
            </a:r>
          </a:p>
        </p:txBody>
      </p:sp>
      <p:sp>
        <p:nvSpPr>
          <p:cNvPr id="14" name="Chevron 10"/>
          <p:cNvSpPr/>
          <p:nvPr/>
        </p:nvSpPr>
        <p:spPr>
          <a:xfrm>
            <a:off x="7319236" y="132929"/>
            <a:ext cx="1386001" cy="516535"/>
          </a:xfrm>
          <a:prstGeom prst="chevron">
            <a:avLst/>
          </a:prstGeom>
          <a:solidFill>
            <a:srgbClr val="223F87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88900" rIns="0" bIns="88900" rtlCol="0" anchor="ctr"/>
          <a:lstStyle/>
          <a:p>
            <a:r>
              <a:rPr lang="en-US" sz="1200" b="1" dirty="0">
                <a:solidFill>
                  <a:schemeClr val="bg1"/>
                </a:solidFill>
                <a:latin typeface="+mj-lt"/>
              </a:rPr>
              <a:t>Appendices</a:t>
            </a:r>
          </a:p>
        </p:txBody>
      </p:sp>
      <p:sp>
        <p:nvSpPr>
          <p:cNvPr id="15" name="Slide Number Placeholder 9"/>
          <p:cNvSpPr>
            <a:spLocks noGrp="1"/>
          </p:cNvSpPr>
          <p:nvPr>
            <p:ph type="sldNum" sz="quarter" idx="12"/>
          </p:nvPr>
        </p:nvSpPr>
        <p:spPr>
          <a:xfrm>
            <a:off x="2700337" y="6482398"/>
            <a:ext cx="2057400" cy="365125"/>
          </a:xfrm>
        </p:spPr>
        <p:txBody>
          <a:bodyPr/>
          <a:lstStyle/>
          <a:p>
            <a:fld id="{661E6E57-A11E-4CD0-AED6-15B700CC2E98}" type="slidenum">
              <a:rPr lang="fr-FR" smtClean="0">
                <a:latin typeface="EYInterstate Light" panose="02000506000000020004" pitchFamily="2" charset="0"/>
              </a:rPr>
              <a:t>21</a:t>
            </a:fld>
            <a:endParaRPr lang="fr-FR" dirty="0">
              <a:latin typeface="EYInterstate Light" panose="02000506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392865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 txBox="1">
            <a:spLocks/>
          </p:cNvSpPr>
          <p:nvPr/>
        </p:nvSpPr>
        <p:spPr>
          <a:xfrm>
            <a:off x="323528" y="50376"/>
            <a:ext cx="8381710" cy="850106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700" b="1" dirty="0">
                <a:solidFill>
                  <a:prstClr val="black"/>
                </a:solidFill>
              </a:rPr>
              <a:t>Equity reconciliation</a:t>
            </a:r>
          </a:p>
        </p:txBody>
      </p:sp>
      <p:sp>
        <p:nvSpPr>
          <p:cNvPr id="4" name="Espace réservé du contenu 2"/>
          <p:cNvSpPr txBox="1">
            <a:spLocks/>
          </p:cNvSpPr>
          <p:nvPr/>
        </p:nvSpPr>
        <p:spPr>
          <a:xfrm>
            <a:off x="399583" y="1257300"/>
            <a:ext cx="8229600" cy="4525963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endParaRPr lang="en-US" sz="1800" dirty="0">
              <a:solidFill>
                <a:srgbClr val="FF0000"/>
              </a:solidFill>
              <a:latin typeface="EYInterstate Light" panose="02000506000000020004" pitchFamily="2" charset="0"/>
            </a:endParaRPr>
          </a:p>
          <a:p>
            <a:pPr marL="0" indent="0" algn="just">
              <a:buNone/>
            </a:pPr>
            <a:endParaRPr lang="en-US" sz="1800" dirty="0">
              <a:solidFill>
                <a:srgbClr val="FF0000"/>
              </a:solidFill>
              <a:latin typeface="EYInterstate Light" panose="02000506000000020004" pitchFamily="2" charset="0"/>
            </a:endParaRPr>
          </a:p>
          <a:p>
            <a:pPr algn="just"/>
            <a:endParaRPr lang="en-US" sz="1800" dirty="0">
              <a:solidFill>
                <a:srgbClr val="FF0000"/>
              </a:solidFill>
              <a:latin typeface="EYInterstate Light" panose="02000506000000020004" pitchFamily="2" charset="0"/>
            </a:endParaRPr>
          </a:p>
          <a:p>
            <a:pPr algn="just"/>
            <a:endParaRPr lang="en-US" sz="1800" dirty="0">
              <a:latin typeface="EYInterstate Light" panose="02000506000000020004" pitchFamily="2" charset="0"/>
            </a:endParaRPr>
          </a:p>
          <a:p>
            <a:pPr marL="0" indent="0" algn="just">
              <a:buNone/>
            </a:pPr>
            <a:endParaRPr lang="en-US" sz="1800" dirty="0">
              <a:latin typeface="EYInterstate Light" panose="02000506000000020004" pitchFamily="2" charset="0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5464840"/>
              </p:ext>
            </p:extLst>
          </p:nvPr>
        </p:nvGraphicFramePr>
        <p:xfrm>
          <a:off x="323528" y="872560"/>
          <a:ext cx="8381708" cy="4865557"/>
        </p:xfrm>
        <a:graphic>
          <a:graphicData uri="http://schemas.openxmlformats.org/drawingml/2006/table">
            <a:tbl>
              <a:tblPr/>
              <a:tblGrid>
                <a:gridCol w="23839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90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80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432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0613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8251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432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0321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501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119671">
                <a:tc>
                  <a:txBody>
                    <a:bodyPr/>
                    <a:lstStyle/>
                    <a:p>
                      <a:pPr algn="ctr" fontAlgn="b"/>
                      <a:endParaRPr lang="fr-F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8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Statutory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8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IFRS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8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TB data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8357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F8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Closing </a:t>
                      </a:r>
                      <a:br>
                        <a:rPr lang="en-US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</a:br>
                      <a:r>
                        <a:rPr lang="en-US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shareholder's</a:t>
                      </a:r>
                      <a:br>
                        <a:rPr lang="en-US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</a:br>
                      <a:r>
                        <a:rPr lang="en-US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equity</a:t>
                      </a:r>
                      <a:br>
                        <a:rPr lang="en-US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</a:br>
                      <a:r>
                        <a:rPr lang="en-US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per  31.12.20xx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F8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Net </a:t>
                      </a:r>
                      <a:r>
                        <a:rPr lang="fr-FR" sz="8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income</a:t>
                      </a:r>
                      <a:endParaRPr lang="fr-FR" sz="800" b="1" i="0" u="none" strike="noStrike" dirty="0">
                        <a:solidFill>
                          <a:srgbClr val="FFFFFF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F8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Dividends</a:t>
                      </a:r>
                      <a:endParaRPr lang="fr-FR" sz="800" b="1" i="0" u="none" strike="noStrike" dirty="0">
                        <a:solidFill>
                          <a:srgbClr val="FFFFFF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F8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OCI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F8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1" i="0" u="none" strike="noStrike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Retained earnings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F8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Closing </a:t>
                      </a:r>
                      <a:br>
                        <a:rPr lang="en-US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</a:br>
                      <a:r>
                        <a:rPr lang="en-US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shareholder's</a:t>
                      </a:r>
                      <a:br>
                        <a:rPr lang="en-US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</a:br>
                      <a:r>
                        <a:rPr lang="en-US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equity</a:t>
                      </a:r>
                      <a:br>
                        <a:rPr lang="en-US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</a:br>
                      <a:r>
                        <a:rPr lang="en-US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per  31.12.xx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F8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1" i="0" u="none" strike="noStrike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F8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Diff</a:t>
                      </a:r>
                      <a:r>
                        <a:rPr lang="fr-FR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.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F8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9671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9671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Investment grants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9671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Accelerated depreciation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7705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19671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Statutory equity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 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 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 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 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 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 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 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97705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19671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Pension plan provision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 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1967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Discounted social construction loan (N)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 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97705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 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161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Fixed assets (gross value) : reversal of assets in partial contribution of assets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 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19671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Fixed assets : additionnal amortization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 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1967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Office equipement leasing (fixed asset)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 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19671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Office equipement leasing (amortization)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 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1967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Tangible fixed assets in progress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 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19671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Softwares Lease assets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 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19671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Depreciation</a:t>
                      </a:r>
                      <a:r>
                        <a:rPr lang="fr-F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software </a:t>
                      </a:r>
                      <a:r>
                        <a:rPr lang="fr-F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lease</a:t>
                      </a:r>
                      <a:endParaRPr lang="fr-FR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 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19671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19671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Debt leasing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 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19671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R&amp;D: gross carrying amount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 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119671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R&amp;D : outstanding recognition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 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119671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R&amp;D: depreciation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 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119671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Capitalized studies (in inventories)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 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119671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Discounted social construction loan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 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4"/>
                  </a:ext>
                </a:extLst>
              </a:tr>
              <a:tr h="119671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5"/>
                  </a:ext>
                </a:extLst>
              </a:tr>
              <a:tr h="97705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6"/>
                  </a:ext>
                </a:extLst>
              </a:tr>
              <a:tr h="119671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Deferred tax assets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 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7"/>
                  </a:ext>
                </a:extLst>
              </a:tr>
              <a:tr h="119671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8"/>
                  </a:ext>
                </a:extLst>
              </a:tr>
              <a:tr h="119671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Organic</a:t>
                      </a:r>
                      <a:r>
                        <a:rPr lang="fr-F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IFRIC 21 2015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9"/>
                  </a:ext>
                </a:extLst>
              </a:tr>
              <a:tr h="119671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Organic IFRIC 21 2016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30"/>
                  </a:ext>
                </a:extLst>
              </a:tr>
              <a:tr h="97705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31"/>
                  </a:ext>
                </a:extLst>
              </a:tr>
              <a:tr h="119671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Sum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 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 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 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 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 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32"/>
                  </a:ext>
                </a:extLst>
              </a:tr>
              <a:tr h="119671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Per Consolidation package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33"/>
                  </a:ext>
                </a:extLst>
              </a:tr>
              <a:tr h="119671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Difference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34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323526" y="5712388"/>
            <a:ext cx="8381710" cy="276999"/>
          </a:xfrm>
          <a:prstGeom prst="rect">
            <a:avLst/>
          </a:prstGeom>
          <a:ln>
            <a:solidFill>
              <a:srgbClr val="002060"/>
            </a:solidFill>
          </a:ln>
        </p:spPr>
        <p:txBody>
          <a:bodyPr wrap="square">
            <a:spAutoFit/>
          </a:bodyPr>
          <a:lstStyle/>
          <a:p>
            <a:pPr marL="0" lvl="1" algn="just">
              <a:buClr>
                <a:srgbClr val="002060"/>
              </a:buClr>
              <a:buSzPct val="75000"/>
            </a:pPr>
            <a:r>
              <a:rPr lang="fr-FR" sz="1200" b="1" i="1" u="sng" dirty="0">
                <a:latin typeface="+mj-lt"/>
              </a:rPr>
              <a:t>Conclusion :</a:t>
            </a:r>
          </a:p>
        </p:txBody>
      </p:sp>
      <p:sp>
        <p:nvSpPr>
          <p:cNvPr id="12" name="Pentagon 6"/>
          <p:cNvSpPr/>
          <p:nvPr/>
        </p:nvSpPr>
        <p:spPr>
          <a:xfrm>
            <a:off x="3723814" y="132929"/>
            <a:ext cx="1386001" cy="516535"/>
          </a:xfrm>
          <a:prstGeom prst="homePlate">
            <a:avLst/>
          </a:prstGeom>
          <a:solidFill>
            <a:schemeClr val="bg1">
              <a:lumMod val="85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88900" rIns="88900" bIns="88900" rtlCol="0" anchor="ctr"/>
          <a:lstStyle/>
          <a:p>
            <a:pPr algn="ctr"/>
            <a:r>
              <a:rPr lang="en-US" sz="1200" dirty="0">
                <a:solidFill>
                  <a:schemeClr val="bg1"/>
                </a:solidFill>
                <a:latin typeface="+mj-lt"/>
              </a:rPr>
              <a:t>Context</a:t>
            </a:r>
          </a:p>
        </p:txBody>
      </p:sp>
      <p:sp>
        <p:nvSpPr>
          <p:cNvPr id="13" name="Chevron 8"/>
          <p:cNvSpPr/>
          <p:nvPr/>
        </p:nvSpPr>
        <p:spPr>
          <a:xfrm>
            <a:off x="4930617" y="132929"/>
            <a:ext cx="1386001" cy="516535"/>
          </a:xfrm>
          <a:prstGeom prst="chevron">
            <a:avLst/>
          </a:prstGeom>
          <a:solidFill>
            <a:schemeClr val="bg1">
              <a:lumMod val="85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88900" rIns="0" bIns="88900" rtlCol="0" anchor="ctr"/>
          <a:lstStyle/>
          <a:p>
            <a:pPr algn="ctr"/>
            <a:r>
              <a:rPr lang="en-US" sz="1200" dirty="0">
                <a:solidFill>
                  <a:schemeClr val="bg1"/>
                </a:solidFill>
                <a:latin typeface="+mj-lt"/>
              </a:rPr>
              <a:t>Audit approach</a:t>
            </a:r>
          </a:p>
        </p:txBody>
      </p:sp>
      <p:sp>
        <p:nvSpPr>
          <p:cNvPr id="14" name="Chevron 9"/>
          <p:cNvSpPr/>
          <p:nvPr/>
        </p:nvSpPr>
        <p:spPr>
          <a:xfrm>
            <a:off x="6126958" y="132929"/>
            <a:ext cx="1386001" cy="516535"/>
          </a:xfrm>
          <a:prstGeom prst="chevron">
            <a:avLst/>
          </a:prstGeom>
          <a:solidFill>
            <a:schemeClr val="bg1">
              <a:lumMod val="85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88900" rIns="0" bIns="88900" rtlCol="0" anchor="ctr"/>
          <a:lstStyle/>
          <a:p>
            <a:pPr algn="ctr"/>
            <a:r>
              <a:rPr lang="en-US" sz="1200" dirty="0">
                <a:solidFill>
                  <a:schemeClr val="bg1"/>
                </a:solidFill>
                <a:latin typeface="+mj-lt"/>
              </a:rPr>
              <a:t>Conclusion</a:t>
            </a:r>
          </a:p>
        </p:txBody>
      </p:sp>
      <p:sp>
        <p:nvSpPr>
          <p:cNvPr id="15" name="Chevron 10"/>
          <p:cNvSpPr/>
          <p:nvPr/>
        </p:nvSpPr>
        <p:spPr>
          <a:xfrm>
            <a:off x="7319236" y="132929"/>
            <a:ext cx="1386001" cy="516535"/>
          </a:xfrm>
          <a:prstGeom prst="chevron">
            <a:avLst/>
          </a:prstGeom>
          <a:solidFill>
            <a:srgbClr val="223F87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88900" rIns="0" bIns="88900" rtlCol="0" anchor="ctr"/>
          <a:lstStyle/>
          <a:p>
            <a:r>
              <a:rPr lang="en-US" sz="1200" b="1" dirty="0">
                <a:solidFill>
                  <a:schemeClr val="bg1"/>
                </a:solidFill>
                <a:latin typeface="+mj-lt"/>
              </a:rPr>
              <a:t>Appendices</a:t>
            </a:r>
          </a:p>
        </p:txBody>
      </p:sp>
      <p:sp>
        <p:nvSpPr>
          <p:cNvPr id="16" name="Slide Number Placeholder 9"/>
          <p:cNvSpPr>
            <a:spLocks noGrp="1"/>
          </p:cNvSpPr>
          <p:nvPr>
            <p:ph type="sldNum" sz="quarter" idx="12"/>
          </p:nvPr>
        </p:nvSpPr>
        <p:spPr>
          <a:xfrm>
            <a:off x="2700337" y="6482398"/>
            <a:ext cx="2057400" cy="365125"/>
          </a:xfrm>
        </p:spPr>
        <p:txBody>
          <a:bodyPr/>
          <a:lstStyle/>
          <a:p>
            <a:fld id="{661E6E57-A11E-4CD0-AED6-15B700CC2E98}" type="slidenum">
              <a:rPr lang="fr-FR" smtClean="0">
                <a:latin typeface="EYInterstate Light" panose="02000506000000020004" pitchFamily="2" charset="0"/>
              </a:rPr>
              <a:t>22</a:t>
            </a:fld>
            <a:endParaRPr lang="fr-FR" dirty="0">
              <a:latin typeface="EYInterstate Light" panose="02000506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426019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 txBox="1">
            <a:spLocks/>
          </p:cNvSpPr>
          <p:nvPr/>
        </p:nvSpPr>
        <p:spPr>
          <a:xfrm>
            <a:off x="323528" y="50376"/>
            <a:ext cx="8381710" cy="850106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700" b="1" dirty="0">
                <a:solidFill>
                  <a:prstClr val="black"/>
                </a:solidFill>
              </a:rPr>
              <a:t>Deferred Taxes</a:t>
            </a:r>
          </a:p>
        </p:txBody>
      </p:sp>
      <p:sp>
        <p:nvSpPr>
          <p:cNvPr id="4" name="Espace réservé du contenu 2"/>
          <p:cNvSpPr txBox="1">
            <a:spLocks/>
          </p:cNvSpPr>
          <p:nvPr/>
        </p:nvSpPr>
        <p:spPr>
          <a:xfrm>
            <a:off x="399583" y="1257300"/>
            <a:ext cx="8229600" cy="4525963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endParaRPr lang="en-US" sz="1800" dirty="0">
              <a:solidFill>
                <a:srgbClr val="FF0000"/>
              </a:solidFill>
              <a:latin typeface="EYInterstate Light" panose="02000506000000020004" pitchFamily="2" charset="0"/>
            </a:endParaRPr>
          </a:p>
          <a:p>
            <a:pPr marL="0" indent="0" algn="just">
              <a:buNone/>
            </a:pPr>
            <a:endParaRPr lang="en-US" sz="1800" dirty="0">
              <a:solidFill>
                <a:srgbClr val="FF0000"/>
              </a:solidFill>
              <a:latin typeface="EYInterstate Light" panose="02000506000000020004" pitchFamily="2" charset="0"/>
            </a:endParaRPr>
          </a:p>
          <a:p>
            <a:pPr algn="just"/>
            <a:endParaRPr lang="en-US" sz="1800" dirty="0">
              <a:solidFill>
                <a:srgbClr val="FF0000"/>
              </a:solidFill>
              <a:latin typeface="EYInterstate Light" panose="02000506000000020004" pitchFamily="2" charset="0"/>
            </a:endParaRPr>
          </a:p>
          <a:p>
            <a:pPr algn="just"/>
            <a:endParaRPr lang="en-US" sz="1800" dirty="0">
              <a:latin typeface="EYInterstate Light" panose="02000506000000020004" pitchFamily="2" charset="0"/>
            </a:endParaRPr>
          </a:p>
          <a:p>
            <a:pPr marL="0" indent="0" algn="just">
              <a:buNone/>
            </a:pPr>
            <a:endParaRPr lang="en-US" sz="1800" dirty="0">
              <a:latin typeface="EYInterstate Light" panose="02000506000000020004" pitchFamily="2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23526" y="5712388"/>
            <a:ext cx="8381710" cy="276999"/>
          </a:xfrm>
          <a:prstGeom prst="rect">
            <a:avLst/>
          </a:prstGeom>
          <a:ln>
            <a:solidFill>
              <a:srgbClr val="002060"/>
            </a:solidFill>
          </a:ln>
        </p:spPr>
        <p:txBody>
          <a:bodyPr wrap="square">
            <a:spAutoFit/>
          </a:bodyPr>
          <a:lstStyle/>
          <a:p>
            <a:pPr marL="0" lvl="1" algn="just">
              <a:buClr>
                <a:srgbClr val="002060"/>
              </a:buClr>
              <a:buSzPct val="75000"/>
            </a:pPr>
            <a:r>
              <a:rPr lang="fr-FR" sz="1200" b="1" i="1" u="sng" dirty="0">
                <a:latin typeface="+mj-lt"/>
              </a:rPr>
              <a:t>Conclusion :</a:t>
            </a:r>
          </a:p>
        </p:txBody>
      </p:sp>
      <p:sp>
        <p:nvSpPr>
          <p:cNvPr id="12" name="Pentagon 6"/>
          <p:cNvSpPr/>
          <p:nvPr/>
        </p:nvSpPr>
        <p:spPr>
          <a:xfrm>
            <a:off x="3723814" y="132929"/>
            <a:ext cx="1386001" cy="516535"/>
          </a:xfrm>
          <a:prstGeom prst="homePlate">
            <a:avLst/>
          </a:prstGeom>
          <a:solidFill>
            <a:schemeClr val="bg1">
              <a:lumMod val="85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88900" rIns="88900" bIns="88900" rtlCol="0" anchor="ctr"/>
          <a:lstStyle/>
          <a:p>
            <a:pPr algn="ctr"/>
            <a:r>
              <a:rPr lang="en-US" sz="1200" dirty="0">
                <a:solidFill>
                  <a:schemeClr val="bg1"/>
                </a:solidFill>
                <a:latin typeface="+mj-lt"/>
              </a:rPr>
              <a:t>Context</a:t>
            </a:r>
          </a:p>
        </p:txBody>
      </p:sp>
      <p:sp>
        <p:nvSpPr>
          <p:cNvPr id="13" name="Chevron 8"/>
          <p:cNvSpPr/>
          <p:nvPr/>
        </p:nvSpPr>
        <p:spPr>
          <a:xfrm>
            <a:off x="4930617" y="132929"/>
            <a:ext cx="1386001" cy="516535"/>
          </a:xfrm>
          <a:prstGeom prst="chevron">
            <a:avLst/>
          </a:prstGeom>
          <a:solidFill>
            <a:schemeClr val="bg1">
              <a:lumMod val="85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88900" rIns="0" bIns="88900" rtlCol="0" anchor="ctr"/>
          <a:lstStyle/>
          <a:p>
            <a:pPr algn="ctr"/>
            <a:r>
              <a:rPr lang="en-US" sz="1200" dirty="0">
                <a:solidFill>
                  <a:schemeClr val="bg1"/>
                </a:solidFill>
                <a:latin typeface="+mj-lt"/>
              </a:rPr>
              <a:t>Audit approach</a:t>
            </a:r>
          </a:p>
        </p:txBody>
      </p:sp>
      <p:sp>
        <p:nvSpPr>
          <p:cNvPr id="14" name="Chevron 9"/>
          <p:cNvSpPr/>
          <p:nvPr/>
        </p:nvSpPr>
        <p:spPr>
          <a:xfrm>
            <a:off x="6126958" y="132929"/>
            <a:ext cx="1386001" cy="516535"/>
          </a:xfrm>
          <a:prstGeom prst="chevron">
            <a:avLst/>
          </a:prstGeom>
          <a:solidFill>
            <a:schemeClr val="bg1">
              <a:lumMod val="85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88900" rIns="0" bIns="88900" rtlCol="0" anchor="ctr"/>
          <a:lstStyle/>
          <a:p>
            <a:pPr algn="ctr"/>
            <a:r>
              <a:rPr lang="en-US" sz="1200" dirty="0">
                <a:solidFill>
                  <a:schemeClr val="bg1"/>
                </a:solidFill>
                <a:latin typeface="+mj-lt"/>
              </a:rPr>
              <a:t>Conclusion</a:t>
            </a:r>
          </a:p>
        </p:txBody>
      </p:sp>
      <p:sp>
        <p:nvSpPr>
          <p:cNvPr id="15" name="Chevron 10"/>
          <p:cNvSpPr/>
          <p:nvPr/>
        </p:nvSpPr>
        <p:spPr>
          <a:xfrm>
            <a:off x="7319236" y="132929"/>
            <a:ext cx="1386001" cy="516535"/>
          </a:xfrm>
          <a:prstGeom prst="chevron">
            <a:avLst/>
          </a:prstGeom>
          <a:solidFill>
            <a:srgbClr val="223F87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88900" rIns="0" bIns="88900" rtlCol="0" anchor="ctr"/>
          <a:lstStyle/>
          <a:p>
            <a:r>
              <a:rPr lang="en-US" sz="1200" b="1" dirty="0">
                <a:solidFill>
                  <a:schemeClr val="bg1"/>
                </a:solidFill>
                <a:latin typeface="+mj-lt"/>
              </a:rPr>
              <a:t>Appendices</a:t>
            </a:r>
          </a:p>
        </p:txBody>
      </p:sp>
      <p:sp>
        <p:nvSpPr>
          <p:cNvPr id="16" name="Slide Number Placeholder 9"/>
          <p:cNvSpPr>
            <a:spLocks noGrp="1"/>
          </p:cNvSpPr>
          <p:nvPr>
            <p:ph type="sldNum" sz="quarter" idx="12"/>
          </p:nvPr>
        </p:nvSpPr>
        <p:spPr>
          <a:xfrm>
            <a:off x="2700337" y="6482398"/>
            <a:ext cx="2057400" cy="365125"/>
          </a:xfrm>
        </p:spPr>
        <p:txBody>
          <a:bodyPr/>
          <a:lstStyle/>
          <a:p>
            <a:fld id="{661E6E57-A11E-4CD0-AED6-15B700CC2E98}" type="slidenum">
              <a:rPr lang="fr-FR" smtClean="0">
                <a:latin typeface="EYInterstate Light" panose="02000506000000020004" pitchFamily="2" charset="0"/>
              </a:rPr>
              <a:t>23</a:t>
            </a:fld>
            <a:endParaRPr lang="fr-FR" dirty="0">
              <a:latin typeface="EYInterstate Light" panose="02000506000000020004" pitchFamily="2" charset="0"/>
            </a:endParaRPr>
          </a:p>
        </p:txBody>
      </p:sp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6447296"/>
              </p:ext>
            </p:extLst>
          </p:nvPr>
        </p:nvGraphicFramePr>
        <p:xfrm>
          <a:off x="323528" y="814421"/>
          <a:ext cx="8381711" cy="4496396"/>
        </p:xfrm>
        <a:graphic>
          <a:graphicData uri="http://schemas.openxmlformats.org/drawingml/2006/table">
            <a:tbl>
              <a:tblPr/>
              <a:tblGrid>
                <a:gridCol w="4659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185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66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82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6769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6658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540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5404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5404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68252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67696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492257">
                <a:tc gridSpan="2">
                  <a:txBody>
                    <a:bodyPr/>
                    <a:lstStyle/>
                    <a:p>
                      <a:pPr algn="l" fontAlgn="b"/>
                      <a:r>
                        <a:rPr lang="fr-FR" sz="600" b="1" i="0" u="sng" strike="noStrike" dirty="0" err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Deferred</a:t>
                      </a:r>
                      <a:r>
                        <a:rPr lang="fr-FR" sz="600" b="1" i="0" u="sng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</a:t>
                      </a:r>
                      <a:r>
                        <a:rPr lang="fr-FR" sz="600" b="1" i="0" u="sng" strike="noStrike" dirty="0" err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Tax</a:t>
                      </a:r>
                      <a:r>
                        <a:rPr lang="fr-FR" sz="600" b="1" i="0" u="sng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</a:t>
                      </a:r>
                      <a:r>
                        <a:rPr lang="fr-FR" sz="600" b="1" i="0" u="sng" strike="noStrike" dirty="0" err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Analysis</a:t>
                      </a:r>
                      <a:endParaRPr lang="fr-FR" sz="600" b="1" i="0" u="sng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  <a:p>
                      <a:pPr algn="ctr" fontAlgn="b"/>
                      <a:r>
                        <a:rPr lang="fr-FR" sz="600" b="1" i="0" u="none" strike="noStrike" dirty="0">
                          <a:solidFill>
                            <a:srgbClr val="FF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fr-FR" sz="600" b="1" i="0" u="none" strike="noStrike" dirty="0">
                        <a:solidFill>
                          <a:srgbClr val="FF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6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6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-- (Asset) Liability --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6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6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6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-- (Asset) Liability --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6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1491">
                <a:tc>
                  <a:txBody>
                    <a:bodyPr/>
                    <a:lstStyle/>
                    <a:p>
                      <a:pPr algn="l" fontAlgn="b"/>
                      <a:r>
                        <a:rPr lang="fr-FR" sz="6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600" b="1" i="0" u="none" strike="noStrike" dirty="0">
                          <a:solidFill>
                            <a:srgbClr val="FF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6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6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6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6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6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6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6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6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6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1491">
                <a:tc>
                  <a:txBody>
                    <a:bodyPr/>
                    <a:lstStyle/>
                    <a:p>
                      <a:pPr algn="ctr" fontAlgn="b"/>
                      <a:r>
                        <a:rPr lang="fr-FR" sz="600" b="1" i="0" u="none" strike="noStrike">
                          <a:solidFill>
                            <a:srgbClr val="FF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600" b="1" i="0" u="none" strike="noStrike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223F87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fr-FR" sz="600" b="1" i="0" u="none" strike="noStrike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Opening</a:t>
                      </a:r>
                    </a:p>
                  </a:txBody>
                  <a:tcPr marL="0" marR="0" marT="0" marB="0" anchor="ctr">
                    <a:lnL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223F8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fr-FR" sz="600" b="1" i="0" u="sng" strike="noStrike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Local currency Bal.</a:t>
                      </a:r>
                    </a:p>
                  </a:txBody>
                  <a:tcPr marL="0" marR="0" marT="0" marB="0" anchor="ctr">
                    <a:lnL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F8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6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b">
                    <a:lnL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fr-FR" sz="6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Closing</a:t>
                      </a:r>
                      <a:endParaRPr lang="fr-FR" sz="600" b="1" i="0" u="none" strike="noStrike" dirty="0">
                        <a:solidFill>
                          <a:srgbClr val="FFFFFF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223F8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fr-FR" sz="600" b="1" i="0" u="sng" strike="noStrike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Local currency Bal.</a:t>
                      </a:r>
                    </a:p>
                  </a:txBody>
                  <a:tcPr marL="0" marR="0" marT="0" marB="0" anchor="ctr">
                    <a:lnL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F8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6553">
                <a:tc>
                  <a:txBody>
                    <a:bodyPr/>
                    <a:lstStyle/>
                    <a:p>
                      <a:pPr algn="ctr" fontAlgn="b"/>
                      <a:r>
                        <a:rPr lang="fr-FR" sz="600" b="1" i="0" u="none" strike="noStrike">
                          <a:solidFill>
                            <a:srgbClr val="FF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600" b="1" i="0" u="sng" strike="noStrike" dirty="0" err="1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Indicators</a:t>
                      </a:r>
                      <a:endParaRPr lang="fr-FR" sz="600" b="1" i="0" u="sng" strike="noStrike" dirty="0">
                        <a:solidFill>
                          <a:srgbClr val="FFFFFF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F8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600" b="1" i="0" u="sng" strike="noStrike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Gross</a:t>
                      </a:r>
                    </a:p>
                  </a:txBody>
                  <a:tcPr marL="0" marR="0" marT="0" marB="0" anchor="ctr">
                    <a:lnL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F8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600" b="1" i="0" u="sng" strike="noStrike" dirty="0" err="1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Tax</a:t>
                      </a:r>
                      <a:r>
                        <a:rPr lang="fr-FR" sz="600" b="1" i="0" u="sng" strike="noStrike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 Rate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F8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600" b="1" i="0" u="sng" strike="noStrike" dirty="0" err="1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Tax</a:t>
                      </a:r>
                      <a:endParaRPr lang="fr-FR" sz="600" b="1" i="0" u="sng" strike="noStrike" dirty="0">
                        <a:solidFill>
                          <a:srgbClr val="FFFFFF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F87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b">
                    <a:lnL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600" b="1" i="0" u="sng" strike="noStrike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Gross</a:t>
                      </a:r>
                    </a:p>
                  </a:txBody>
                  <a:tcPr marL="0" marR="0" marT="0" marB="0" anchor="ctr">
                    <a:lnL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F8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600" b="1" i="0" u="sng" strike="noStrike" dirty="0" err="1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Tax</a:t>
                      </a:r>
                      <a:r>
                        <a:rPr lang="fr-FR" sz="600" b="1" i="0" u="sng" strike="noStrike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 Rate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F8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600" b="1" i="0" u="sng" strike="noStrike" dirty="0" err="1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Tax</a:t>
                      </a:r>
                      <a:endParaRPr lang="fr-FR" sz="600" b="1" i="0" u="sng" strike="noStrike" dirty="0">
                        <a:solidFill>
                          <a:srgbClr val="FFFFFF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F87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1491">
                <a:tc>
                  <a:txBody>
                    <a:bodyPr/>
                    <a:lstStyle/>
                    <a:p>
                      <a:pPr algn="ctr" fontAlgn="b"/>
                      <a:r>
                        <a:rPr lang="fr-FR" sz="600" b="1" i="0" u="none" strike="noStrike">
                          <a:solidFill>
                            <a:srgbClr val="FF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6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Intangible assets</a:t>
                      </a:r>
                    </a:p>
                  </a:txBody>
                  <a:tcPr marL="0" marR="0" marT="0" marB="0" anchor="b">
                    <a:lnL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6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b">
                    <a:lnL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0,00%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6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 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pct20">
                      <a:fgClr>
                        <a:srgbClr val="000000"/>
                      </a:fgClr>
                      <a:bgClr>
                        <a:srgbClr val="FFFFFF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6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b">
                    <a:lnL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pct20">
                      <a:fgClr>
                        <a:srgbClr val="000000"/>
                      </a:fgClr>
                      <a:bgClr>
                        <a:srgbClr val="FFFFFF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6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b">
                    <a:lnL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600" b="1" i="0" u="none" strike="noStrike">
                          <a:solidFill>
                            <a:srgbClr val="0000FF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b">
                    <a:lnL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6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0,00%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6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 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pct20">
                      <a:fgClr>
                        <a:srgbClr val="000000"/>
                      </a:fgClr>
                      <a:bgClr>
                        <a:srgbClr val="FFFFFF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6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b">
                    <a:lnL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pct20">
                      <a:fgClr>
                        <a:srgbClr val="000000"/>
                      </a:fgClr>
                      <a:bgClr>
                        <a:srgbClr val="FFFFFF"/>
                      </a:bgClr>
                    </a:patt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4542">
                <a:tc>
                  <a:txBody>
                    <a:bodyPr/>
                    <a:lstStyle/>
                    <a:p>
                      <a:pPr algn="ctr" fontAlgn="b"/>
                      <a:r>
                        <a:rPr lang="fr-FR" sz="600" b="1" i="0" u="none" strike="noStrike">
                          <a:solidFill>
                            <a:srgbClr val="FF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Depreciation and amortization on tangible assets</a:t>
                      </a:r>
                    </a:p>
                  </a:txBody>
                  <a:tcPr marL="0" marR="0" marT="0" marB="0" anchor="b">
                    <a:lnL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6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b">
                    <a:lnL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0,00%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 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pct20">
                      <a:fgClr>
                        <a:srgbClr val="000000"/>
                      </a:fgClr>
                      <a:bgClr>
                        <a:srgbClr val="FFFFFF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6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b">
                    <a:lnL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pct20">
                      <a:fgClr>
                        <a:srgbClr val="000000"/>
                      </a:fgClr>
                      <a:bgClr>
                        <a:srgbClr val="FFFFFF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6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b">
                    <a:lnL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600" b="1" i="0" u="none" strike="noStrike">
                          <a:solidFill>
                            <a:srgbClr val="0000FF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b">
                    <a:lnL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6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0,00%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6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 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pct20">
                      <a:fgClr>
                        <a:srgbClr val="000000"/>
                      </a:fgClr>
                      <a:bgClr>
                        <a:srgbClr val="FFFFFF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6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b">
                    <a:lnL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pct20">
                      <a:fgClr>
                        <a:srgbClr val="000000"/>
                      </a:fgClr>
                      <a:bgClr>
                        <a:srgbClr val="FFFFFF"/>
                      </a:bgClr>
                    </a:patt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26622">
                <a:tc>
                  <a:txBody>
                    <a:bodyPr/>
                    <a:lstStyle/>
                    <a:p>
                      <a:pPr algn="ctr" fontAlgn="b"/>
                      <a:r>
                        <a:rPr lang="fr-FR" sz="600" b="1" i="0" u="none" strike="noStrike">
                          <a:solidFill>
                            <a:srgbClr val="FF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Capitalized</a:t>
                      </a:r>
                      <a:r>
                        <a:rPr lang="fr-F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</a:t>
                      </a:r>
                      <a:r>
                        <a:rPr lang="fr-FR" sz="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leases</a:t>
                      </a:r>
                      <a:r>
                        <a:rPr lang="fr-F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IAS 17</a:t>
                      </a:r>
                    </a:p>
                  </a:txBody>
                  <a:tcPr marL="0" marR="0" marT="0" marB="0" anchor="b">
                    <a:lnL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6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b">
                    <a:lnL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6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0,00%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6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 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pct20">
                      <a:fgClr>
                        <a:srgbClr val="000000"/>
                      </a:fgClr>
                      <a:bgClr>
                        <a:srgbClr val="FFFFFF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6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b">
                    <a:lnL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pct20">
                      <a:fgClr>
                        <a:srgbClr val="000000"/>
                      </a:fgClr>
                      <a:bgClr>
                        <a:srgbClr val="FFFFFF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6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b">
                    <a:lnL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600" b="1" i="0" u="none" strike="noStrike">
                          <a:solidFill>
                            <a:srgbClr val="0000FF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b">
                    <a:lnL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6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0,00%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6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 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pct20">
                      <a:fgClr>
                        <a:srgbClr val="000000"/>
                      </a:fgClr>
                      <a:bgClr>
                        <a:srgbClr val="FFFFFF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6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b">
                    <a:lnL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pct20">
                      <a:fgClr>
                        <a:srgbClr val="000000"/>
                      </a:fgClr>
                      <a:bgClr>
                        <a:srgbClr val="FFFFFF"/>
                      </a:bgClr>
                    </a:patt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4542">
                <a:tc>
                  <a:txBody>
                    <a:bodyPr/>
                    <a:lstStyle/>
                    <a:p>
                      <a:pPr algn="ctr" fontAlgn="b"/>
                      <a:r>
                        <a:rPr lang="fr-FR" sz="600" b="1" i="0" u="none" strike="noStrike">
                          <a:solidFill>
                            <a:srgbClr val="FF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Elimination of deductible provision on investment in subsidiaries</a:t>
                      </a:r>
                    </a:p>
                  </a:txBody>
                  <a:tcPr marL="0" marR="0" marT="0" marB="0" anchor="b">
                    <a:lnL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6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b">
                    <a:lnL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6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0,00%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6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 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pct20">
                      <a:fgClr>
                        <a:srgbClr val="000000"/>
                      </a:fgClr>
                      <a:bgClr>
                        <a:srgbClr val="FFFFFF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6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b">
                    <a:lnL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pct20">
                      <a:fgClr>
                        <a:srgbClr val="000000"/>
                      </a:fgClr>
                      <a:bgClr>
                        <a:srgbClr val="FFFFFF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6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b">
                    <a:lnL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600" b="1" i="0" u="none" strike="noStrike">
                          <a:solidFill>
                            <a:srgbClr val="0000FF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b">
                    <a:lnL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6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0,00%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 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pct20">
                      <a:fgClr>
                        <a:srgbClr val="000000"/>
                      </a:fgClr>
                      <a:bgClr>
                        <a:srgbClr val="FFFFFF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6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b">
                    <a:lnL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pct20">
                      <a:fgClr>
                        <a:srgbClr val="000000"/>
                      </a:fgClr>
                      <a:bgClr>
                        <a:srgbClr val="FFFFFF"/>
                      </a:bgClr>
                    </a:patt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26622">
                <a:tc>
                  <a:txBody>
                    <a:bodyPr/>
                    <a:lstStyle/>
                    <a:p>
                      <a:pPr algn="ctr" fontAlgn="b"/>
                      <a:r>
                        <a:rPr lang="fr-FR" sz="600" b="1" i="0" u="none" strike="noStrike">
                          <a:solidFill>
                            <a:srgbClr val="FF0000"/>
                          </a:solidFill>
                          <a:effectLst/>
                          <a:latin typeface="+mj-lt"/>
                        </a:rPr>
                        <a:t>A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6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Other fixed assets</a:t>
                      </a:r>
                    </a:p>
                  </a:txBody>
                  <a:tcPr marL="0" marR="0" marT="0" marB="0" anchor="b">
                    <a:lnL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6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b">
                    <a:lnL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6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0,00%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6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 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pct20">
                      <a:fgClr>
                        <a:srgbClr val="000000"/>
                      </a:fgClr>
                      <a:bgClr>
                        <a:srgbClr val="FFFFFF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6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b">
                    <a:lnL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pct20">
                      <a:fgClr>
                        <a:srgbClr val="000000"/>
                      </a:fgClr>
                      <a:bgClr>
                        <a:srgbClr val="FFFFFF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6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b">
                    <a:lnL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600" b="1" i="0" u="none" strike="noStrike">
                          <a:solidFill>
                            <a:srgbClr val="0000FF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b">
                    <a:lnL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6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0,00%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6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 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pct20">
                      <a:fgClr>
                        <a:srgbClr val="000000"/>
                      </a:fgClr>
                      <a:bgClr>
                        <a:srgbClr val="FFFFFF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6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b">
                    <a:lnL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pct20">
                      <a:fgClr>
                        <a:srgbClr val="000000"/>
                      </a:fgClr>
                      <a:bgClr>
                        <a:srgbClr val="FFFFFF"/>
                      </a:bgClr>
                    </a:patt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26622">
                <a:tc>
                  <a:txBody>
                    <a:bodyPr/>
                    <a:lstStyle/>
                    <a:p>
                      <a:pPr algn="ctr" fontAlgn="b"/>
                      <a:r>
                        <a:rPr lang="fr-FR" sz="600" b="1" i="0" u="none" strike="noStrike">
                          <a:solidFill>
                            <a:srgbClr val="FF0000"/>
                          </a:solidFill>
                          <a:effectLst/>
                          <a:latin typeface="+mj-lt"/>
                        </a:rPr>
                        <a:t>B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Other</a:t>
                      </a:r>
                      <a:r>
                        <a:rPr lang="fr-F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long </a:t>
                      </a:r>
                      <a:r>
                        <a:rPr lang="fr-FR" sz="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term</a:t>
                      </a:r>
                      <a:r>
                        <a:rPr lang="fr-F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</a:t>
                      </a:r>
                      <a:r>
                        <a:rPr lang="fr-FR" sz="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assets</a:t>
                      </a:r>
                      <a:endParaRPr lang="fr-FR" sz="6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6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b">
                    <a:lnL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6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0,00%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6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 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pct20">
                      <a:fgClr>
                        <a:srgbClr val="000000"/>
                      </a:fgClr>
                      <a:bgClr>
                        <a:srgbClr val="FFFFFF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6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b">
                    <a:lnL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pct20">
                      <a:fgClr>
                        <a:srgbClr val="000000"/>
                      </a:fgClr>
                      <a:bgClr>
                        <a:srgbClr val="FFFFFF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6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b">
                    <a:lnL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600" b="1" i="0" u="none" strike="noStrike">
                          <a:solidFill>
                            <a:srgbClr val="0000FF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b">
                    <a:lnL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6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0,00%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6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 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pct20">
                      <a:fgClr>
                        <a:srgbClr val="000000"/>
                      </a:fgClr>
                      <a:bgClr>
                        <a:srgbClr val="FFFFFF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6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b">
                    <a:lnL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pct20">
                      <a:fgClr>
                        <a:srgbClr val="000000"/>
                      </a:fgClr>
                      <a:bgClr>
                        <a:srgbClr val="FFFFFF"/>
                      </a:bgClr>
                    </a:patt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26622">
                <a:tc>
                  <a:txBody>
                    <a:bodyPr/>
                    <a:lstStyle/>
                    <a:p>
                      <a:pPr algn="ctr" fontAlgn="b"/>
                      <a:r>
                        <a:rPr lang="fr-FR" sz="600" b="1" i="0" u="none" strike="noStrike">
                          <a:solidFill>
                            <a:srgbClr val="FF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6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Pensions &amp; other</a:t>
                      </a:r>
                    </a:p>
                  </a:txBody>
                  <a:tcPr marL="0" marR="0" marT="0" marB="0" anchor="b">
                    <a:lnL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6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b">
                    <a:lnL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6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0,00%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6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 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pct20">
                      <a:fgClr>
                        <a:srgbClr val="000000"/>
                      </a:fgClr>
                      <a:bgClr>
                        <a:srgbClr val="FFFFFF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b">
                    <a:lnL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pct20">
                      <a:fgClr>
                        <a:srgbClr val="000000"/>
                      </a:fgClr>
                      <a:bgClr>
                        <a:srgbClr val="FFFFFF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6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b">
                    <a:lnL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600" b="1" i="0" u="none" strike="noStrike">
                          <a:solidFill>
                            <a:srgbClr val="0000FF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b">
                    <a:lnL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6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0,00%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6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 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pct20">
                      <a:fgClr>
                        <a:srgbClr val="000000"/>
                      </a:fgClr>
                      <a:bgClr>
                        <a:srgbClr val="FFFFFF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6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b">
                    <a:lnL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pct20">
                      <a:fgClr>
                        <a:srgbClr val="000000"/>
                      </a:fgClr>
                      <a:bgClr>
                        <a:srgbClr val="FFFFFF"/>
                      </a:bgClr>
                    </a:patt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26622">
                <a:tc>
                  <a:txBody>
                    <a:bodyPr/>
                    <a:lstStyle/>
                    <a:p>
                      <a:pPr algn="ctr" fontAlgn="b"/>
                      <a:r>
                        <a:rPr lang="fr-FR" sz="600" b="1" i="0" u="none" strike="noStrike">
                          <a:solidFill>
                            <a:srgbClr val="FF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6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Elimination of regulated provision</a:t>
                      </a:r>
                    </a:p>
                  </a:txBody>
                  <a:tcPr marL="0" marR="0" marT="0" marB="0" anchor="b">
                    <a:lnL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6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b">
                    <a:lnL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6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0,00%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6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 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pct20">
                      <a:fgClr>
                        <a:srgbClr val="000000"/>
                      </a:fgClr>
                      <a:bgClr>
                        <a:srgbClr val="FFFFFF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b">
                    <a:lnL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pct20">
                      <a:fgClr>
                        <a:srgbClr val="000000"/>
                      </a:fgClr>
                      <a:bgClr>
                        <a:srgbClr val="FFFFFF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b">
                    <a:lnL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600" b="1" i="0" u="none" strike="noStrike">
                          <a:solidFill>
                            <a:srgbClr val="0000FF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b">
                    <a:lnL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6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0,00%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6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 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pct20">
                      <a:fgClr>
                        <a:srgbClr val="000000"/>
                      </a:fgClr>
                      <a:bgClr>
                        <a:srgbClr val="FFFFFF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6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b">
                    <a:lnL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pct20">
                      <a:fgClr>
                        <a:srgbClr val="000000"/>
                      </a:fgClr>
                      <a:bgClr>
                        <a:srgbClr val="FFFFFF"/>
                      </a:bgClr>
                    </a:patt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26622">
                <a:tc>
                  <a:txBody>
                    <a:bodyPr/>
                    <a:lstStyle/>
                    <a:p>
                      <a:pPr algn="ctr" fontAlgn="b"/>
                      <a:r>
                        <a:rPr lang="fr-FR" sz="600" b="1" i="0" u="none" strike="noStrike">
                          <a:solidFill>
                            <a:srgbClr val="FF0000"/>
                          </a:solidFill>
                          <a:effectLst/>
                          <a:latin typeface="+mj-lt"/>
                        </a:rPr>
                        <a:t>C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6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Other provisions</a:t>
                      </a:r>
                    </a:p>
                  </a:txBody>
                  <a:tcPr marL="0" marR="0" marT="0" marB="0" anchor="b">
                    <a:lnL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6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b">
                    <a:lnL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6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0,00%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6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 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pct20">
                      <a:fgClr>
                        <a:srgbClr val="000000"/>
                      </a:fgClr>
                      <a:bgClr>
                        <a:srgbClr val="FFFFFF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6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b">
                    <a:lnL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pct20">
                      <a:fgClr>
                        <a:srgbClr val="000000"/>
                      </a:fgClr>
                      <a:bgClr>
                        <a:srgbClr val="FFFFFF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b">
                    <a:lnL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600" b="1" i="0" u="none" strike="noStrike">
                          <a:solidFill>
                            <a:srgbClr val="0000FF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b">
                    <a:lnL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6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0,00%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6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 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pct20">
                      <a:fgClr>
                        <a:srgbClr val="000000"/>
                      </a:fgClr>
                      <a:bgClr>
                        <a:srgbClr val="FFFFFF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6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b">
                    <a:lnL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pct20">
                      <a:fgClr>
                        <a:srgbClr val="000000"/>
                      </a:fgClr>
                      <a:bgClr>
                        <a:srgbClr val="FFFFFF"/>
                      </a:bgClr>
                    </a:patt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26622">
                <a:tc>
                  <a:txBody>
                    <a:bodyPr/>
                    <a:lstStyle/>
                    <a:p>
                      <a:pPr algn="ctr" fontAlgn="b"/>
                      <a:r>
                        <a:rPr lang="fr-FR" sz="600" b="1" i="0" u="none" strike="noStrike">
                          <a:solidFill>
                            <a:srgbClr val="FF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6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Inventories</a:t>
                      </a:r>
                    </a:p>
                  </a:txBody>
                  <a:tcPr marL="0" marR="0" marT="0" marB="0" anchor="b">
                    <a:lnL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6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b">
                    <a:lnL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6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0,00%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6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 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pct20">
                      <a:fgClr>
                        <a:srgbClr val="000000"/>
                      </a:fgClr>
                      <a:bgClr>
                        <a:srgbClr val="FFFFFF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6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b">
                    <a:lnL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pct20">
                      <a:fgClr>
                        <a:srgbClr val="000000"/>
                      </a:fgClr>
                      <a:bgClr>
                        <a:srgbClr val="FFFFFF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b">
                    <a:lnL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600" b="1" i="0" u="none" strike="noStrike" dirty="0">
                          <a:solidFill>
                            <a:srgbClr val="0000FF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b">
                    <a:lnL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6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0,00%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6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 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pct20">
                      <a:fgClr>
                        <a:srgbClr val="000000"/>
                      </a:fgClr>
                      <a:bgClr>
                        <a:srgbClr val="FFFFFF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6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b">
                    <a:lnL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pct20">
                      <a:fgClr>
                        <a:srgbClr val="000000"/>
                      </a:fgClr>
                      <a:bgClr>
                        <a:srgbClr val="FFFFFF"/>
                      </a:bgClr>
                    </a:patt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26622">
                <a:tc>
                  <a:txBody>
                    <a:bodyPr/>
                    <a:lstStyle/>
                    <a:p>
                      <a:pPr algn="ctr" fontAlgn="b"/>
                      <a:r>
                        <a:rPr lang="fr-FR" sz="600" b="1" i="0" u="none" strike="noStrike">
                          <a:solidFill>
                            <a:srgbClr val="FF0000"/>
                          </a:solidFill>
                          <a:effectLst/>
                          <a:latin typeface="+mj-lt"/>
                        </a:rPr>
                        <a:t>D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6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Other crrent assets</a:t>
                      </a:r>
                    </a:p>
                  </a:txBody>
                  <a:tcPr marL="0" marR="0" marT="0" marB="0" anchor="b">
                    <a:lnL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6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b">
                    <a:lnL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6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0,00%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6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 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pct20">
                      <a:fgClr>
                        <a:srgbClr val="000000"/>
                      </a:fgClr>
                      <a:bgClr>
                        <a:srgbClr val="FFFFFF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6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b">
                    <a:lnL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pct20">
                      <a:fgClr>
                        <a:srgbClr val="000000"/>
                      </a:fgClr>
                      <a:bgClr>
                        <a:srgbClr val="FFFFFF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6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b">
                    <a:lnL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600" b="1" i="0" u="none" strike="noStrike" dirty="0">
                          <a:solidFill>
                            <a:srgbClr val="0000FF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b">
                    <a:lnL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6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0,00%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6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 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pct20">
                      <a:fgClr>
                        <a:srgbClr val="000000"/>
                      </a:fgClr>
                      <a:bgClr>
                        <a:srgbClr val="FFFFFF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6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b">
                    <a:lnL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pct20">
                      <a:fgClr>
                        <a:srgbClr val="000000"/>
                      </a:fgClr>
                      <a:bgClr>
                        <a:srgbClr val="FFFFFF"/>
                      </a:bgClr>
                    </a:patt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26622">
                <a:tc>
                  <a:txBody>
                    <a:bodyPr/>
                    <a:lstStyle/>
                    <a:p>
                      <a:pPr algn="ctr" fontAlgn="b"/>
                      <a:r>
                        <a:rPr lang="fr-FR" sz="600" b="1" i="0" u="none" strike="noStrike">
                          <a:solidFill>
                            <a:srgbClr val="FF0000"/>
                          </a:solidFill>
                          <a:effectLst/>
                          <a:latin typeface="+mj-lt"/>
                        </a:rPr>
                        <a:t>E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6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Other liabilities</a:t>
                      </a:r>
                    </a:p>
                  </a:txBody>
                  <a:tcPr marL="0" marR="0" marT="0" marB="0" anchor="b">
                    <a:lnL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6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b">
                    <a:lnL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0,00%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6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 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pct20">
                      <a:fgClr>
                        <a:srgbClr val="000000"/>
                      </a:fgClr>
                      <a:bgClr>
                        <a:srgbClr val="FFFFFF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6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b">
                    <a:lnL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pct20">
                      <a:fgClr>
                        <a:srgbClr val="000000"/>
                      </a:fgClr>
                      <a:bgClr>
                        <a:srgbClr val="FFFFFF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6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b">
                    <a:lnL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600" b="1" i="0" u="none" strike="noStrike" dirty="0">
                          <a:solidFill>
                            <a:srgbClr val="0000FF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b">
                    <a:lnL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0,00%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6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 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pct20">
                      <a:fgClr>
                        <a:srgbClr val="000000"/>
                      </a:fgClr>
                      <a:bgClr>
                        <a:srgbClr val="FFFFFF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6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b">
                    <a:lnL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pct20">
                      <a:fgClr>
                        <a:srgbClr val="000000"/>
                      </a:fgClr>
                      <a:bgClr>
                        <a:srgbClr val="FFFFFF"/>
                      </a:bgClr>
                    </a:patt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26622">
                <a:tc>
                  <a:txBody>
                    <a:bodyPr/>
                    <a:lstStyle/>
                    <a:p>
                      <a:pPr algn="ctr" fontAlgn="b"/>
                      <a:r>
                        <a:rPr lang="fr-FR" sz="600" b="1" i="0" u="none" strike="noStrike">
                          <a:solidFill>
                            <a:srgbClr val="FF0000"/>
                          </a:solidFill>
                          <a:effectLst/>
                          <a:latin typeface="+mj-lt"/>
                        </a:rPr>
                        <a:t>F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6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Other</a:t>
                      </a:r>
                    </a:p>
                  </a:txBody>
                  <a:tcPr marL="0" marR="0" marT="0" marB="0" anchor="b">
                    <a:lnL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6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b">
                    <a:lnL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6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0,00%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6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 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pct20">
                      <a:fgClr>
                        <a:srgbClr val="000000"/>
                      </a:fgClr>
                      <a:bgClr>
                        <a:srgbClr val="FFFFFF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6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b">
                    <a:lnL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pct20">
                      <a:fgClr>
                        <a:srgbClr val="000000"/>
                      </a:fgClr>
                      <a:bgClr>
                        <a:srgbClr val="FFFFFF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6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b">
                    <a:lnL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600" b="1" i="0" u="none" strike="noStrike">
                          <a:solidFill>
                            <a:srgbClr val="0000FF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b">
                    <a:lnL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0,00%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6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 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pct20">
                      <a:fgClr>
                        <a:srgbClr val="000000"/>
                      </a:fgClr>
                      <a:bgClr>
                        <a:srgbClr val="FFFFFF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6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b">
                    <a:lnL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pct20">
                      <a:fgClr>
                        <a:srgbClr val="000000"/>
                      </a:fgClr>
                      <a:bgClr>
                        <a:srgbClr val="FFFFFF"/>
                      </a:bgClr>
                    </a:patt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31491">
                <a:tc>
                  <a:txBody>
                    <a:bodyPr/>
                    <a:lstStyle/>
                    <a:p>
                      <a:pPr algn="ctr" fontAlgn="b"/>
                      <a:r>
                        <a:rPr lang="fr-FR" sz="600" b="1" i="0" u="none" strike="noStrike">
                          <a:solidFill>
                            <a:srgbClr val="FF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600" b="1" i="1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Total Timing differences</a:t>
                      </a:r>
                    </a:p>
                  </a:txBody>
                  <a:tcPr marL="0" marR="0" marT="0" marB="0" anchor="b">
                    <a:lnL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600" b="1" i="1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  </a:t>
                      </a:r>
                    </a:p>
                  </a:txBody>
                  <a:tcPr marL="0" marR="0" marT="0" marB="0" anchor="b">
                    <a:lnL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600" b="1" i="1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600" b="1" i="1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 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pct20">
                      <a:fgClr>
                        <a:srgbClr val="000000"/>
                      </a:fgClr>
                      <a:bgClr>
                        <a:srgbClr val="FFFFFF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600" b="1" i="1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  </a:t>
                      </a:r>
                    </a:p>
                  </a:txBody>
                  <a:tcPr marL="0" marR="0" marT="0" marB="0" anchor="b">
                    <a:lnL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pct20">
                      <a:fgClr>
                        <a:srgbClr val="000000"/>
                      </a:fgClr>
                      <a:bgClr>
                        <a:srgbClr val="FFFFFF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6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b">
                    <a:lnL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600" b="1" i="1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  </a:t>
                      </a:r>
                    </a:p>
                  </a:txBody>
                  <a:tcPr marL="0" marR="0" marT="0" marB="0" anchor="b">
                    <a:lnL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600" b="1" i="1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600" b="1" i="1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 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pct20">
                      <a:fgClr>
                        <a:srgbClr val="000000"/>
                      </a:fgClr>
                      <a:bgClr>
                        <a:srgbClr val="FFFFFF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600" b="1" i="1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  </a:t>
                      </a:r>
                    </a:p>
                  </a:txBody>
                  <a:tcPr marL="0" marR="0" marT="0" marB="0" anchor="b">
                    <a:lnL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pct20">
                      <a:fgClr>
                        <a:srgbClr val="000000"/>
                      </a:fgClr>
                      <a:bgClr>
                        <a:srgbClr val="FFFFFF"/>
                      </a:bgClr>
                    </a:patt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36361">
                <a:tc>
                  <a:txBody>
                    <a:bodyPr/>
                    <a:lstStyle/>
                    <a:p>
                      <a:pPr algn="ctr" fontAlgn="b"/>
                      <a:r>
                        <a:rPr lang="fr-FR" sz="600" b="1" i="0" u="none" strike="noStrike">
                          <a:solidFill>
                            <a:srgbClr val="FF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6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Tax loss carryover</a:t>
                      </a:r>
                    </a:p>
                  </a:txBody>
                  <a:tcPr marL="0" marR="0" marT="0" marB="0" anchor="b">
                    <a:lnL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6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b">
                    <a:lnL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6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0,00%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6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 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pct20">
                      <a:fgClr>
                        <a:srgbClr val="000000"/>
                      </a:fgClr>
                      <a:bgClr>
                        <a:srgbClr val="FFFFFF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6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b">
                    <a:lnL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pct20">
                      <a:fgClr>
                        <a:srgbClr val="000000"/>
                      </a:fgClr>
                      <a:bgClr>
                        <a:srgbClr val="FFFFFF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6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b">
                    <a:lnL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600" b="1" i="0" u="none" strike="noStrike">
                          <a:solidFill>
                            <a:srgbClr val="0000FF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b">
                    <a:lnL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6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0,00%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pct20">
                      <a:fgClr>
                        <a:srgbClr val="000000"/>
                      </a:fgClr>
                      <a:bgClr>
                        <a:srgbClr val="FFFFFF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b">
                    <a:lnL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pct20">
                      <a:fgClr>
                        <a:srgbClr val="000000"/>
                      </a:fgClr>
                      <a:bgClr>
                        <a:srgbClr val="FFFFFF"/>
                      </a:bgClr>
                    </a:patt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36361">
                <a:tc>
                  <a:txBody>
                    <a:bodyPr/>
                    <a:lstStyle/>
                    <a:p>
                      <a:pPr algn="ctr" fontAlgn="b"/>
                      <a:r>
                        <a:rPr lang="fr-FR" sz="600" b="1" i="0" u="none" strike="noStrike">
                          <a:solidFill>
                            <a:srgbClr val="FF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600" b="1" i="1" u="none" strike="noStrike">
                          <a:solidFill>
                            <a:srgbClr val="002060"/>
                          </a:solidFill>
                          <a:effectLst/>
                          <a:latin typeface="+mj-lt"/>
                        </a:rPr>
                        <a:t>Total deferred tax base</a:t>
                      </a:r>
                    </a:p>
                  </a:txBody>
                  <a:tcPr marL="0" marR="0" marT="0" marB="0" anchor="b">
                    <a:lnL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600" b="1" i="1" u="none" strike="noStrike">
                          <a:solidFill>
                            <a:srgbClr val="00206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b">
                    <a:lnL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600" b="1" i="1" u="none" strike="noStrike">
                          <a:solidFill>
                            <a:srgbClr val="002060"/>
                          </a:solidFill>
                          <a:effectLst/>
                          <a:latin typeface="+mj-lt"/>
                        </a:rPr>
                        <a:t>0,00%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600" b="1" i="1" u="none" strike="noStrike">
                          <a:solidFill>
                            <a:srgbClr val="002060"/>
                          </a:solidFill>
                          <a:effectLst/>
                          <a:latin typeface="+mj-lt"/>
                        </a:rPr>
                        <a:t>0 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pct20">
                      <a:fgClr>
                        <a:srgbClr val="000000"/>
                      </a:fgClr>
                      <a:bgClr>
                        <a:srgbClr val="FFFFFF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600" b="1" i="1" u="none" strike="noStrike">
                          <a:solidFill>
                            <a:srgbClr val="00206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b">
                    <a:lnL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pct20">
                      <a:fgClr>
                        <a:srgbClr val="000000"/>
                      </a:fgClr>
                      <a:bgClr>
                        <a:srgbClr val="FFFFFF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6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b">
                    <a:lnL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600" b="1" i="1" u="none" strike="noStrike">
                          <a:solidFill>
                            <a:srgbClr val="00206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b">
                    <a:lnL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600" b="1" i="1" u="none" strike="noStrike">
                          <a:solidFill>
                            <a:srgbClr val="002060"/>
                          </a:solidFill>
                          <a:effectLst/>
                          <a:latin typeface="+mj-lt"/>
                        </a:rPr>
                        <a:t>0,00%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600" b="1" i="1" u="none" strike="noStrike" dirty="0">
                          <a:solidFill>
                            <a:srgbClr val="00206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pct20">
                      <a:fgClr>
                        <a:srgbClr val="000000"/>
                      </a:fgClr>
                      <a:bgClr>
                        <a:srgbClr val="FFFFFF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600" b="1" i="1" u="none" strike="noStrike" dirty="0">
                          <a:solidFill>
                            <a:srgbClr val="00206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b">
                    <a:lnL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pct20">
                      <a:fgClr>
                        <a:srgbClr val="000000"/>
                      </a:fgClr>
                      <a:bgClr>
                        <a:srgbClr val="FFFFFF"/>
                      </a:bgClr>
                    </a:patt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36361">
                <a:tc>
                  <a:txBody>
                    <a:bodyPr/>
                    <a:lstStyle/>
                    <a:p>
                      <a:pPr algn="l" fontAlgn="b"/>
                      <a:r>
                        <a:rPr lang="fr-FR" sz="6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600" b="1" i="0" u="none" strike="noStrike">
                          <a:solidFill>
                            <a:srgbClr val="FF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6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6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6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6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6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6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6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6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6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254197">
                <a:tc gridSpan="2">
                  <a:txBody>
                    <a:bodyPr/>
                    <a:lstStyle/>
                    <a:p>
                      <a:pPr algn="l" fontAlgn="b"/>
                      <a:r>
                        <a:rPr lang="fr-FR" sz="600" b="1" i="0" u="sng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Variation and </a:t>
                      </a:r>
                      <a:r>
                        <a:rPr lang="fr-FR" sz="600" b="1" i="0" u="sng" strike="noStrike" dirty="0" err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maturity</a:t>
                      </a:r>
                      <a:r>
                        <a:rPr lang="fr-FR" sz="600" b="1" i="0" u="sng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</a:t>
                      </a:r>
                    </a:p>
                    <a:p>
                      <a:pPr algn="ctr" fontAlgn="b"/>
                      <a:r>
                        <a:rPr lang="fr-FR" sz="600" b="1" i="0" u="none" strike="noStrike" dirty="0">
                          <a:solidFill>
                            <a:srgbClr val="FF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fr-FR" sz="600" b="1" i="0" u="none" strike="noStrike" dirty="0">
                        <a:solidFill>
                          <a:srgbClr val="FF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6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Opening</a:t>
                      </a:r>
                      <a:endParaRPr lang="fr-FR" sz="6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b">
                    <a:lnL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6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Closing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6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b">
                    <a:lnL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6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6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6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6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6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6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204542">
                <a:tc>
                  <a:txBody>
                    <a:bodyPr/>
                    <a:lstStyle/>
                    <a:p>
                      <a:pPr algn="ctr" fontAlgn="b"/>
                      <a:r>
                        <a:rPr lang="fr-FR" sz="600" b="1" i="0" u="none" strike="noStrike">
                          <a:solidFill>
                            <a:srgbClr val="FF0000"/>
                          </a:solidFill>
                          <a:effectLst/>
                          <a:latin typeface="+mj-lt"/>
                        </a:rPr>
                        <a:t>G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A 9020 - ST def tax ass on tax loss carryforwards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b">
                    <a:lnL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6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b">
                    <a:lnL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6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6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6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6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6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6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204542">
                <a:tc>
                  <a:txBody>
                    <a:bodyPr/>
                    <a:lstStyle/>
                    <a:p>
                      <a:pPr algn="ctr" fontAlgn="b"/>
                      <a:r>
                        <a:rPr lang="fr-FR" sz="600" b="1" i="0" u="none" strike="noStrike">
                          <a:solidFill>
                            <a:srgbClr val="FF0000"/>
                          </a:solidFill>
                          <a:effectLst/>
                          <a:latin typeface="+mj-lt"/>
                        </a:rPr>
                        <a:t>H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A9021 - Prov. on ST def tax ass on tax loss carryforwards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6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b">
                    <a:lnL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6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b">
                    <a:lnL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6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6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6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6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6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6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204542">
                <a:tc>
                  <a:txBody>
                    <a:bodyPr/>
                    <a:lstStyle/>
                    <a:p>
                      <a:pPr algn="ctr" fontAlgn="b"/>
                      <a:r>
                        <a:rPr lang="fr-FR" sz="600" b="1" i="0" u="none" strike="noStrike">
                          <a:solidFill>
                            <a:srgbClr val="FF0000"/>
                          </a:solidFill>
                          <a:effectLst/>
                          <a:latin typeface="+mj-lt"/>
                        </a:rPr>
                        <a:t>G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A9030 - LT def tax ass on tax loss carryforwards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6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b">
                    <a:lnL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6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b">
                    <a:lnL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6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6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6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6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6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6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4"/>
                  </a:ext>
                </a:extLst>
              </a:tr>
              <a:tr h="209412">
                <a:tc>
                  <a:txBody>
                    <a:bodyPr/>
                    <a:lstStyle/>
                    <a:p>
                      <a:pPr algn="ctr" fontAlgn="b"/>
                      <a:r>
                        <a:rPr lang="fr-FR" sz="600" b="1" i="0" u="none" strike="noStrike">
                          <a:solidFill>
                            <a:srgbClr val="FF0000"/>
                          </a:solidFill>
                          <a:effectLst/>
                          <a:latin typeface="+mj-lt"/>
                        </a:rPr>
                        <a:t>H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A9031 - Prov. on LT def tax ass on tax loss carryforwards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6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b">
                    <a:lnL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6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b">
                    <a:lnL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6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6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6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6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6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5"/>
                  </a:ext>
                </a:extLst>
              </a:tr>
            </a:tbl>
          </a:graphicData>
        </a:graphic>
      </p:graphicFrame>
      <p:sp>
        <p:nvSpPr>
          <p:cNvPr id="17" name="Espace réservé du contenu 2"/>
          <p:cNvSpPr txBox="1">
            <a:spLocks/>
          </p:cNvSpPr>
          <p:nvPr/>
        </p:nvSpPr>
        <p:spPr>
          <a:xfrm>
            <a:off x="4514381" y="4686299"/>
            <a:ext cx="4190855" cy="533077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fr-FR" sz="1100" b="1" i="1" dirty="0" err="1">
                <a:solidFill>
                  <a:srgbClr val="FF0000"/>
                </a:solidFill>
                <a:latin typeface="+mj-lt"/>
                <a:cs typeface="Calibri" panose="020F0502020204030204" pitchFamily="34" charset="0"/>
              </a:rPr>
              <a:t>From</a:t>
            </a:r>
            <a:r>
              <a:rPr lang="fr-FR" sz="1100" b="1" i="1" dirty="0">
                <a:solidFill>
                  <a:srgbClr val="FF0000"/>
                </a:solidFill>
                <a:latin typeface="+mj-lt"/>
                <a:cs typeface="Calibri" panose="020F0502020204030204" pitchFamily="34" charset="0"/>
              </a:rPr>
              <a:t> the Faurecia report OB6003N </a:t>
            </a:r>
            <a:r>
              <a:rPr lang="fr-FR" sz="1100" b="1" i="1" dirty="0" err="1">
                <a:solidFill>
                  <a:srgbClr val="FF0000"/>
                </a:solidFill>
                <a:latin typeface="+mj-lt"/>
                <a:cs typeface="Calibri" panose="020F0502020204030204" pitchFamily="34" charset="0"/>
              </a:rPr>
              <a:t>please</a:t>
            </a:r>
            <a:r>
              <a:rPr lang="fr-FR" sz="1100" b="1" i="1" dirty="0">
                <a:solidFill>
                  <a:srgbClr val="FF0000"/>
                </a:solidFill>
                <a:latin typeface="+mj-lt"/>
                <a:cs typeface="Calibri" panose="020F0502020204030204" pitchFamily="34" charset="0"/>
              </a:rPr>
              <a:t> </a:t>
            </a:r>
            <a:r>
              <a:rPr lang="fr-FR" sz="1100" b="1" i="1" dirty="0" err="1">
                <a:solidFill>
                  <a:srgbClr val="FF0000"/>
                </a:solidFill>
                <a:latin typeface="+mj-lt"/>
                <a:cs typeface="Calibri" panose="020F0502020204030204" pitchFamily="34" charset="0"/>
              </a:rPr>
              <a:t>complete</a:t>
            </a:r>
            <a:r>
              <a:rPr lang="fr-FR" sz="1100" b="1" i="1" dirty="0">
                <a:solidFill>
                  <a:srgbClr val="FF0000"/>
                </a:solidFill>
                <a:latin typeface="+mj-lt"/>
                <a:cs typeface="Calibri" panose="020F0502020204030204" pitchFamily="34" charset="0"/>
              </a:rPr>
              <a:t> the table and </a:t>
            </a:r>
            <a:r>
              <a:rPr lang="fr-FR" sz="1100" b="1" i="1" dirty="0" err="1">
                <a:solidFill>
                  <a:srgbClr val="FF0000"/>
                </a:solidFill>
                <a:latin typeface="+mj-lt"/>
                <a:cs typeface="Calibri" panose="020F0502020204030204" pitchFamily="34" charset="0"/>
              </a:rPr>
              <a:t>attached</a:t>
            </a:r>
            <a:r>
              <a:rPr lang="fr-FR" sz="1100" b="1" i="1" dirty="0">
                <a:solidFill>
                  <a:srgbClr val="FF0000"/>
                </a:solidFill>
                <a:latin typeface="+mj-lt"/>
                <a:cs typeface="Calibri" panose="020F0502020204030204" pitchFamily="34" charset="0"/>
              </a:rPr>
              <a:t> the report to </a:t>
            </a:r>
            <a:r>
              <a:rPr lang="fr-FR" sz="1100" b="1" i="1" dirty="0" err="1">
                <a:solidFill>
                  <a:srgbClr val="FF0000"/>
                </a:solidFill>
                <a:latin typeface="+mj-lt"/>
                <a:cs typeface="Calibri" panose="020F0502020204030204" pitchFamily="34" charset="0"/>
              </a:rPr>
              <a:t>your</a:t>
            </a:r>
            <a:r>
              <a:rPr lang="fr-FR" sz="1100" b="1" i="1" dirty="0">
                <a:solidFill>
                  <a:srgbClr val="FF0000"/>
                </a:solidFill>
                <a:latin typeface="+mj-lt"/>
                <a:cs typeface="Calibri" panose="020F0502020204030204" pitchFamily="34" charset="0"/>
              </a:rPr>
              <a:t> SRM and mention </a:t>
            </a:r>
            <a:r>
              <a:rPr lang="fr-FR" sz="1100" b="1" i="1" dirty="0" err="1">
                <a:solidFill>
                  <a:srgbClr val="FF0000"/>
                </a:solidFill>
                <a:latin typeface="+mj-lt"/>
                <a:cs typeface="Calibri" panose="020F0502020204030204" pitchFamily="34" charset="0"/>
              </a:rPr>
              <a:t>below</a:t>
            </a:r>
            <a:r>
              <a:rPr lang="fr-FR" sz="1100" b="1" i="1" dirty="0">
                <a:solidFill>
                  <a:srgbClr val="FF0000"/>
                </a:solidFill>
                <a:latin typeface="+mj-lt"/>
                <a:cs typeface="Calibri" panose="020F0502020204030204" pitchFamily="34" charset="0"/>
              </a:rPr>
              <a:t> major impacts.</a:t>
            </a:r>
            <a:endParaRPr lang="en-US" sz="1100" dirty="0">
              <a:solidFill>
                <a:srgbClr val="FF0000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4541161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 txBox="1">
            <a:spLocks/>
          </p:cNvSpPr>
          <p:nvPr/>
        </p:nvSpPr>
        <p:spPr>
          <a:xfrm>
            <a:off x="323528" y="50376"/>
            <a:ext cx="8381710" cy="850106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700" b="1" dirty="0">
                <a:solidFill>
                  <a:prstClr val="black"/>
                </a:solidFill>
              </a:rPr>
              <a:t>Taxes </a:t>
            </a:r>
          </a:p>
        </p:txBody>
      </p:sp>
      <p:sp>
        <p:nvSpPr>
          <p:cNvPr id="4" name="Espace réservé du contenu 2"/>
          <p:cNvSpPr txBox="1">
            <a:spLocks/>
          </p:cNvSpPr>
          <p:nvPr/>
        </p:nvSpPr>
        <p:spPr>
          <a:xfrm>
            <a:off x="399583" y="1257300"/>
            <a:ext cx="8229600" cy="4525963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endParaRPr lang="en-US" sz="1800" dirty="0">
              <a:solidFill>
                <a:srgbClr val="FF0000"/>
              </a:solidFill>
              <a:latin typeface="+mj-lt"/>
            </a:endParaRPr>
          </a:p>
          <a:p>
            <a:pPr marL="0" indent="0" algn="just">
              <a:buNone/>
            </a:pPr>
            <a:endParaRPr lang="en-US" sz="1800" dirty="0">
              <a:solidFill>
                <a:srgbClr val="FF0000"/>
              </a:solidFill>
              <a:latin typeface="+mj-lt"/>
            </a:endParaRPr>
          </a:p>
          <a:p>
            <a:pPr algn="just"/>
            <a:endParaRPr lang="en-US" sz="1800" dirty="0">
              <a:solidFill>
                <a:srgbClr val="FF0000"/>
              </a:solidFill>
              <a:latin typeface="+mj-lt"/>
            </a:endParaRPr>
          </a:p>
          <a:p>
            <a:pPr algn="just"/>
            <a:endParaRPr lang="en-US" sz="1800" dirty="0">
              <a:latin typeface="+mj-lt"/>
            </a:endParaRPr>
          </a:p>
          <a:p>
            <a:pPr marL="0" indent="0" algn="just">
              <a:buNone/>
            </a:pPr>
            <a:endParaRPr lang="en-US" sz="1800" dirty="0">
              <a:latin typeface="+mj-lt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23526" y="5712388"/>
            <a:ext cx="8381710" cy="276999"/>
          </a:xfrm>
          <a:prstGeom prst="rect">
            <a:avLst/>
          </a:prstGeom>
          <a:ln>
            <a:solidFill>
              <a:srgbClr val="002060"/>
            </a:solidFill>
          </a:ln>
        </p:spPr>
        <p:txBody>
          <a:bodyPr wrap="square">
            <a:spAutoFit/>
          </a:bodyPr>
          <a:lstStyle/>
          <a:p>
            <a:pPr marL="0" lvl="1" algn="just">
              <a:buClr>
                <a:srgbClr val="002060"/>
              </a:buClr>
              <a:buSzPct val="75000"/>
            </a:pPr>
            <a:r>
              <a:rPr lang="fr-FR" sz="1200" b="1" i="1" u="sng" dirty="0">
                <a:latin typeface="+mj-lt"/>
              </a:rPr>
              <a:t>Conclusion :</a:t>
            </a:r>
          </a:p>
        </p:txBody>
      </p:sp>
      <p:sp>
        <p:nvSpPr>
          <p:cNvPr id="12" name="Pentagon 6"/>
          <p:cNvSpPr/>
          <p:nvPr/>
        </p:nvSpPr>
        <p:spPr>
          <a:xfrm>
            <a:off x="3723814" y="132929"/>
            <a:ext cx="1386001" cy="516535"/>
          </a:xfrm>
          <a:prstGeom prst="homePlate">
            <a:avLst/>
          </a:prstGeom>
          <a:solidFill>
            <a:schemeClr val="bg1">
              <a:lumMod val="85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88900" rIns="88900" bIns="88900" rtlCol="0" anchor="ctr"/>
          <a:lstStyle/>
          <a:p>
            <a:pPr algn="ctr"/>
            <a:r>
              <a:rPr lang="en-US" sz="1200" dirty="0">
                <a:solidFill>
                  <a:schemeClr val="bg1"/>
                </a:solidFill>
                <a:latin typeface="+mj-lt"/>
              </a:rPr>
              <a:t>Context</a:t>
            </a:r>
          </a:p>
        </p:txBody>
      </p:sp>
      <p:sp>
        <p:nvSpPr>
          <p:cNvPr id="13" name="Chevron 8"/>
          <p:cNvSpPr/>
          <p:nvPr/>
        </p:nvSpPr>
        <p:spPr>
          <a:xfrm>
            <a:off x="4930617" y="132929"/>
            <a:ext cx="1386001" cy="516535"/>
          </a:xfrm>
          <a:prstGeom prst="chevron">
            <a:avLst/>
          </a:prstGeom>
          <a:solidFill>
            <a:schemeClr val="bg1">
              <a:lumMod val="85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88900" rIns="0" bIns="88900" rtlCol="0" anchor="ctr"/>
          <a:lstStyle/>
          <a:p>
            <a:pPr algn="ctr"/>
            <a:r>
              <a:rPr lang="en-US" sz="1200" dirty="0">
                <a:solidFill>
                  <a:schemeClr val="bg1"/>
                </a:solidFill>
                <a:latin typeface="+mj-lt"/>
              </a:rPr>
              <a:t>Audit approach</a:t>
            </a:r>
          </a:p>
        </p:txBody>
      </p:sp>
      <p:sp>
        <p:nvSpPr>
          <p:cNvPr id="14" name="Chevron 9"/>
          <p:cNvSpPr/>
          <p:nvPr/>
        </p:nvSpPr>
        <p:spPr>
          <a:xfrm>
            <a:off x="6126958" y="132929"/>
            <a:ext cx="1386001" cy="516535"/>
          </a:xfrm>
          <a:prstGeom prst="chevron">
            <a:avLst/>
          </a:prstGeom>
          <a:solidFill>
            <a:schemeClr val="bg1">
              <a:lumMod val="85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88900" rIns="0" bIns="88900" rtlCol="0" anchor="ctr"/>
          <a:lstStyle/>
          <a:p>
            <a:pPr algn="ctr"/>
            <a:r>
              <a:rPr lang="en-US" sz="1200" dirty="0">
                <a:solidFill>
                  <a:schemeClr val="bg1"/>
                </a:solidFill>
                <a:latin typeface="+mj-lt"/>
              </a:rPr>
              <a:t>Conclusion</a:t>
            </a:r>
          </a:p>
        </p:txBody>
      </p:sp>
      <p:sp>
        <p:nvSpPr>
          <p:cNvPr id="15" name="Chevron 10"/>
          <p:cNvSpPr/>
          <p:nvPr/>
        </p:nvSpPr>
        <p:spPr>
          <a:xfrm>
            <a:off x="7319236" y="132929"/>
            <a:ext cx="1386001" cy="516535"/>
          </a:xfrm>
          <a:prstGeom prst="chevron">
            <a:avLst/>
          </a:prstGeom>
          <a:solidFill>
            <a:srgbClr val="223F87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88900" rIns="0" bIns="88900" rtlCol="0" anchor="ctr"/>
          <a:lstStyle/>
          <a:p>
            <a:r>
              <a:rPr lang="en-US" sz="1200" b="1" dirty="0">
                <a:solidFill>
                  <a:schemeClr val="bg1"/>
                </a:solidFill>
                <a:latin typeface="+mj-lt"/>
              </a:rPr>
              <a:t>Appendices</a:t>
            </a:r>
          </a:p>
        </p:txBody>
      </p:sp>
      <p:sp>
        <p:nvSpPr>
          <p:cNvPr id="16" name="Slide Number Placeholder 9"/>
          <p:cNvSpPr>
            <a:spLocks noGrp="1"/>
          </p:cNvSpPr>
          <p:nvPr>
            <p:ph type="sldNum" sz="quarter" idx="12"/>
          </p:nvPr>
        </p:nvSpPr>
        <p:spPr>
          <a:xfrm>
            <a:off x="2700337" y="6482398"/>
            <a:ext cx="2057400" cy="365125"/>
          </a:xfrm>
        </p:spPr>
        <p:txBody>
          <a:bodyPr/>
          <a:lstStyle/>
          <a:p>
            <a:fld id="{661E6E57-A11E-4CD0-AED6-15B700CC2E98}" type="slidenum">
              <a:rPr lang="fr-FR" smtClean="0">
                <a:latin typeface="+mj-lt"/>
              </a:rPr>
              <a:t>24</a:t>
            </a:fld>
            <a:endParaRPr lang="fr-FR" dirty="0">
              <a:latin typeface="+mj-lt"/>
            </a:endParaRPr>
          </a:p>
        </p:txBody>
      </p:sp>
      <p:graphicFrame>
        <p:nvGraphicFramePr>
          <p:cNvPr id="11" name="Tableau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1430028"/>
              </p:ext>
            </p:extLst>
          </p:nvPr>
        </p:nvGraphicFramePr>
        <p:xfrm>
          <a:off x="399583" y="737149"/>
          <a:ext cx="5526769" cy="4839632"/>
        </p:xfrm>
        <a:graphic>
          <a:graphicData uri="http://schemas.openxmlformats.org/drawingml/2006/table">
            <a:tbl>
              <a:tblPr/>
              <a:tblGrid>
                <a:gridCol w="26789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11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2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9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5282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8586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649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9pPr>
                    </a:lstStyle>
                    <a:p>
                      <a:pPr algn="l" fontAlgn="b"/>
                      <a:endParaRPr lang="fr-FR" sz="800" b="0" i="0" u="none" strike="noStrike" dirty="0">
                        <a:latin typeface="+mj-lt"/>
                      </a:endParaRPr>
                    </a:p>
                  </a:txBody>
                  <a:tcPr marL="6127" marR="6127" marT="612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9pPr>
                    </a:lstStyle>
                    <a:p>
                      <a:pPr algn="l" fontAlgn="b"/>
                      <a:endParaRPr lang="fr-FR" sz="800" b="0" i="0" u="none" strike="noStrike" dirty="0">
                        <a:latin typeface="+mj-lt"/>
                      </a:endParaRPr>
                    </a:p>
                  </a:txBody>
                  <a:tcPr marL="6127" marR="6127" marT="6127" marB="0" anchor="b">
                    <a:lnL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9pPr>
                    </a:lstStyle>
                    <a:p>
                      <a:pPr algn="l" fontAlgn="b"/>
                      <a:endParaRPr lang="fr-FR" sz="800" b="0" i="0" u="none" strike="noStrike" dirty="0">
                        <a:latin typeface="+mj-lt"/>
                      </a:endParaRPr>
                    </a:p>
                  </a:txBody>
                  <a:tcPr marL="6127" marR="6127" marT="6127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 gridSpan="3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9pPr>
                    </a:lstStyle>
                    <a:p>
                      <a:pPr algn="ctr" fontAlgn="b"/>
                      <a:r>
                        <a:rPr lang="fr-FR" sz="800" b="0" i="0" u="none" strike="noStrike">
                          <a:latin typeface="+mj-lt"/>
                        </a:rPr>
                        <a:t>Local currency</a:t>
                      </a:r>
                    </a:p>
                  </a:txBody>
                  <a:tcPr marL="6127" marR="6127" marT="612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row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9pPr>
                    </a:lstStyle>
                    <a:p>
                      <a:pPr algn="ctr" fontAlgn="b"/>
                      <a:r>
                        <a:rPr lang="fr-FR" sz="800" b="0" i="0" u="none" strike="noStrike" dirty="0">
                          <a:latin typeface="+mj-lt"/>
                        </a:rPr>
                        <a:t>Note</a:t>
                      </a:r>
                    </a:p>
                  </a:txBody>
                  <a:tcPr marL="6127" marR="6127" marT="612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376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9pPr>
                    </a:lstStyle>
                    <a:p>
                      <a:pPr algn="l" fontAlgn="b"/>
                      <a:endParaRPr lang="fr-FR" sz="800" b="0" i="0" u="none" strike="noStrike">
                        <a:latin typeface="+mj-lt"/>
                      </a:endParaRPr>
                    </a:p>
                  </a:txBody>
                  <a:tcPr marL="6127" marR="6127" marT="612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9pPr>
                    </a:lstStyle>
                    <a:p>
                      <a:pPr algn="l" fontAlgn="b"/>
                      <a:endParaRPr lang="fr-FR" sz="800" b="0" i="0" u="none" strike="noStrike" dirty="0">
                        <a:latin typeface="+mj-lt"/>
                      </a:endParaRPr>
                    </a:p>
                  </a:txBody>
                  <a:tcPr marL="6127" marR="6127" marT="6127" marB="0" anchor="b">
                    <a:lnL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9pPr>
                    </a:lstStyle>
                    <a:p>
                      <a:pPr algn="l" fontAlgn="b"/>
                      <a:endParaRPr lang="fr-FR" sz="800" b="0" i="0" u="none" strike="noStrike" dirty="0">
                        <a:latin typeface="+mj-lt"/>
                      </a:endParaRPr>
                    </a:p>
                  </a:txBody>
                  <a:tcPr marL="6127" marR="6127" marT="6127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3"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376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9pPr>
                    </a:lstStyle>
                    <a:p>
                      <a:pPr algn="l" fontAlgn="b"/>
                      <a:endParaRPr lang="fr-FR" sz="800" b="0" i="0" u="none" strike="noStrike">
                        <a:latin typeface="+mj-lt"/>
                      </a:endParaRPr>
                    </a:p>
                  </a:txBody>
                  <a:tcPr marL="6127" marR="6127" marT="612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9pPr>
                    </a:lstStyle>
                    <a:p>
                      <a:pPr algn="l" fontAlgn="b"/>
                      <a:endParaRPr lang="fr-FR" sz="800" b="0" i="0" u="none" strike="noStrike" dirty="0">
                        <a:latin typeface="+mj-lt"/>
                      </a:endParaRPr>
                    </a:p>
                  </a:txBody>
                  <a:tcPr marL="6127" marR="6127" marT="612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9pPr>
                    </a:lstStyle>
                    <a:p>
                      <a:pPr algn="l" fontAlgn="b"/>
                      <a:endParaRPr lang="fr-FR" sz="800" b="0" i="0" u="none" strike="noStrike" dirty="0">
                        <a:latin typeface="+mj-lt"/>
                      </a:endParaRPr>
                    </a:p>
                  </a:txBody>
                  <a:tcPr marL="6127" marR="6127" marT="612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9pPr>
                    </a:lstStyle>
                    <a:p>
                      <a:pPr algn="l" fontAlgn="b"/>
                      <a:endParaRPr lang="fr-FR" sz="800" b="0" i="0" u="none" strike="noStrike">
                        <a:latin typeface="+mj-lt"/>
                      </a:endParaRPr>
                    </a:p>
                  </a:txBody>
                  <a:tcPr marL="6127" marR="6127" marT="612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9pPr>
                    </a:lstStyle>
                    <a:p>
                      <a:pPr algn="l" fontAlgn="b"/>
                      <a:endParaRPr lang="fr-FR" sz="800" b="0" i="0" u="none" strike="noStrike">
                        <a:latin typeface="+mj-lt"/>
                      </a:endParaRPr>
                    </a:p>
                  </a:txBody>
                  <a:tcPr marL="6127" marR="6127" marT="612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9pPr>
                    </a:lstStyle>
                    <a:p>
                      <a:pPr algn="ctr" fontAlgn="b"/>
                      <a:endParaRPr lang="fr-FR" sz="800" b="0" i="0" u="none" strike="noStrike">
                        <a:latin typeface="+mj-lt"/>
                      </a:endParaRPr>
                    </a:p>
                  </a:txBody>
                  <a:tcPr marL="6127" marR="6127" marT="612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9pPr>
                    </a:lstStyle>
                    <a:p>
                      <a:pPr algn="l" fontAlgn="b"/>
                      <a:endParaRPr lang="fr-FR" sz="800" b="0" i="0" u="none" strike="noStrike">
                        <a:latin typeface="+mj-lt"/>
                      </a:endParaRPr>
                    </a:p>
                  </a:txBody>
                  <a:tcPr marL="6127" marR="6127" marT="612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508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9pPr>
                    </a:lstStyle>
                    <a:p>
                      <a:pPr algn="l" fontAlgn="b"/>
                      <a:r>
                        <a:rPr lang="en-US" sz="800" b="0" i="0" u="none" strike="noStrike" dirty="0">
                          <a:latin typeface="+mj-lt"/>
                        </a:rPr>
                        <a:t>Group net income (loss) BEFORE taxes per package</a:t>
                      </a:r>
                    </a:p>
                  </a:txBody>
                  <a:tcPr marL="6127" marR="6127" marT="612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9pPr>
                    </a:lstStyle>
                    <a:p>
                      <a:pPr algn="l" fontAlgn="b"/>
                      <a:endParaRPr lang="fr-FR" sz="800" b="0" i="0" u="none" strike="noStrike" dirty="0">
                        <a:latin typeface="+mj-lt"/>
                      </a:endParaRPr>
                    </a:p>
                  </a:txBody>
                  <a:tcPr marL="6127" marR="6127" marT="612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9pPr>
                    </a:lstStyle>
                    <a:p>
                      <a:pPr algn="l" fontAlgn="b"/>
                      <a:r>
                        <a:rPr lang="fr-FR" sz="800" b="0" i="0" u="none" strike="noStrike" dirty="0">
                          <a:latin typeface="+mj-lt"/>
                        </a:rPr>
                        <a:t> </a:t>
                      </a:r>
                    </a:p>
                  </a:txBody>
                  <a:tcPr marL="6127" marR="6127" marT="612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9pPr>
                    </a:lstStyle>
                    <a:p>
                      <a:pPr algn="ctr" fontAlgn="b"/>
                      <a:r>
                        <a:rPr lang="fr-FR" sz="800" b="0" i="0" u="none" strike="noStrike" dirty="0">
                          <a:latin typeface="+mj-lt"/>
                        </a:rPr>
                        <a:t> </a:t>
                      </a:r>
                    </a:p>
                  </a:txBody>
                  <a:tcPr marL="6127" marR="6127" marT="612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9pPr>
                    </a:lstStyle>
                    <a:p>
                      <a:pPr algn="ctr" fontAlgn="b"/>
                      <a:r>
                        <a:rPr lang="fr-FR" sz="800" b="0" i="0" u="none" strike="noStrike" dirty="0">
                          <a:latin typeface="+mj-lt"/>
                        </a:rPr>
                        <a:t> </a:t>
                      </a:r>
                    </a:p>
                  </a:txBody>
                  <a:tcPr marL="6127" marR="6127" marT="612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9pPr>
                    </a:lstStyle>
                    <a:p>
                      <a:pPr algn="ctr" fontAlgn="b"/>
                      <a:r>
                        <a:rPr lang="fr-FR" sz="800" b="0" i="0" u="none" strike="noStrike">
                          <a:latin typeface="+mj-lt"/>
                        </a:rPr>
                        <a:t> </a:t>
                      </a:r>
                    </a:p>
                  </a:txBody>
                  <a:tcPr marL="6127" marR="6127" marT="612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9pPr>
                    </a:lstStyle>
                    <a:p>
                      <a:pPr algn="ctr" fontAlgn="b"/>
                      <a:r>
                        <a:rPr lang="fr-FR" sz="800" b="0" i="0" u="none" strike="noStrike">
                          <a:latin typeface="+mj-lt"/>
                        </a:rPr>
                        <a:t> </a:t>
                      </a:r>
                    </a:p>
                  </a:txBody>
                  <a:tcPr marL="6127" marR="6127" marT="6127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376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9pPr>
                    </a:lstStyle>
                    <a:p>
                      <a:pPr algn="l" fontAlgn="b"/>
                      <a:r>
                        <a:rPr lang="fr-FR" sz="800" b="0" i="0" u="none" strike="noStrike">
                          <a:latin typeface="+mj-lt"/>
                        </a:rPr>
                        <a:t> </a:t>
                      </a:r>
                    </a:p>
                  </a:txBody>
                  <a:tcPr marL="6127" marR="6127" marT="612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9pPr>
                    </a:lstStyle>
                    <a:p>
                      <a:pPr algn="l" fontAlgn="b"/>
                      <a:endParaRPr lang="fr-FR" sz="800" b="0" i="0" u="none" strike="noStrike" dirty="0">
                        <a:latin typeface="+mj-lt"/>
                      </a:endParaRPr>
                    </a:p>
                  </a:txBody>
                  <a:tcPr marL="6127" marR="6127" marT="612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9pPr>
                    </a:lstStyle>
                    <a:p>
                      <a:pPr algn="l" fontAlgn="b"/>
                      <a:r>
                        <a:rPr lang="fr-FR" sz="800" b="0" i="0" u="none" strike="noStrike" dirty="0">
                          <a:latin typeface="+mj-lt"/>
                        </a:rPr>
                        <a:t> </a:t>
                      </a:r>
                    </a:p>
                  </a:txBody>
                  <a:tcPr marL="6127" marR="6127" marT="612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9pPr>
                    </a:lstStyle>
                    <a:p>
                      <a:pPr algn="ctr" fontAlgn="b"/>
                      <a:r>
                        <a:rPr lang="fr-FR" sz="800" b="0" i="0" u="none" strike="noStrike">
                          <a:latin typeface="+mj-lt"/>
                        </a:rPr>
                        <a:t> </a:t>
                      </a:r>
                    </a:p>
                  </a:txBody>
                  <a:tcPr marL="6127" marR="6127" marT="612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9pPr>
                    </a:lstStyle>
                    <a:p>
                      <a:pPr algn="ctr" fontAlgn="b"/>
                      <a:r>
                        <a:rPr lang="fr-FR" sz="800" b="0" i="0" u="none" strike="noStrike" dirty="0">
                          <a:latin typeface="+mj-lt"/>
                        </a:rPr>
                        <a:t> </a:t>
                      </a:r>
                    </a:p>
                  </a:txBody>
                  <a:tcPr marL="6127" marR="6127" marT="612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9pPr>
                    </a:lstStyle>
                    <a:p>
                      <a:pPr algn="ctr" fontAlgn="b"/>
                      <a:r>
                        <a:rPr lang="fr-FR" sz="800" b="0" i="0" u="none" strike="noStrike">
                          <a:latin typeface="+mj-lt"/>
                        </a:rPr>
                        <a:t> </a:t>
                      </a:r>
                    </a:p>
                  </a:txBody>
                  <a:tcPr marL="6127" marR="6127" marT="612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9pPr>
                    </a:lstStyle>
                    <a:p>
                      <a:pPr algn="ctr" fontAlgn="b"/>
                      <a:r>
                        <a:rPr lang="fr-FR" sz="800" b="0" i="0" u="none" strike="noStrike">
                          <a:latin typeface="+mj-lt"/>
                        </a:rPr>
                        <a:t> </a:t>
                      </a:r>
                    </a:p>
                  </a:txBody>
                  <a:tcPr marL="6127" marR="6127" marT="612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2376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9pPr>
                    </a:lstStyle>
                    <a:p>
                      <a:pPr algn="l" fontAlgn="b"/>
                      <a:r>
                        <a:rPr lang="fr-FR" sz="800" b="0" i="0" u="none" strike="noStrike">
                          <a:latin typeface="+mj-lt"/>
                        </a:rPr>
                        <a:t>Subsidiary's statutory tax rate</a:t>
                      </a:r>
                    </a:p>
                  </a:txBody>
                  <a:tcPr marL="6127" marR="6127" marT="612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9pPr>
                    </a:lstStyle>
                    <a:p>
                      <a:pPr algn="l" fontAlgn="b"/>
                      <a:endParaRPr lang="fr-FR" sz="800" b="0" i="0" u="none" strike="noStrike">
                        <a:latin typeface="+mj-lt"/>
                      </a:endParaRPr>
                    </a:p>
                  </a:txBody>
                  <a:tcPr marL="6127" marR="6127" marT="612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9pPr>
                    </a:lstStyle>
                    <a:p>
                      <a:pPr algn="l" fontAlgn="b"/>
                      <a:r>
                        <a:rPr lang="fr-FR" sz="800" b="0" i="0" u="none" strike="noStrike">
                          <a:latin typeface="+mj-lt"/>
                        </a:rPr>
                        <a:t> </a:t>
                      </a:r>
                    </a:p>
                  </a:txBody>
                  <a:tcPr marL="6127" marR="6127" marT="612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9pPr>
                    </a:lstStyle>
                    <a:p>
                      <a:pPr algn="ctr" fontAlgn="b"/>
                      <a:r>
                        <a:rPr lang="fr-FR" sz="800" b="0" i="0" u="none" strike="noStrike">
                          <a:latin typeface="+mj-lt"/>
                        </a:rPr>
                        <a:t> </a:t>
                      </a:r>
                    </a:p>
                  </a:txBody>
                  <a:tcPr marL="6127" marR="6127" marT="612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9pPr>
                    </a:lstStyle>
                    <a:p>
                      <a:pPr algn="ctr" fontAlgn="b"/>
                      <a:r>
                        <a:rPr lang="fr-FR" sz="800" b="0" i="0" u="none" strike="noStrike" dirty="0">
                          <a:latin typeface="+mj-lt"/>
                        </a:rPr>
                        <a:t> </a:t>
                      </a:r>
                    </a:p>
                  </a:txBody>
                  <a:tcPr marL="6127" marR="6127" marT="612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9pPr>
                    </a:lstStyle>
                    <a:p>
                      <a:pPr algn="ctr" fontAlgn="b"/>
                      <a:r>
                        <a:rPr lang="fr-FR" sz="800" b="0" i="0" u="none" strike="noStrike">
                          <a:latin typeface="+mj-lt"/>
                        </a:rPr>
                        <a:t> </a:t>
                      </a:r>
                    </a:p>
                  </a:txBody>
                  <a:tcPr marL="6127" marR="6127" marT="612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9pPr>
                    </a:lstStyle>
                    <a:p>
                      <a:pPr algn="ctr" fontAlgn="b"/>
                      <a:r>
                        <a:rPr lang="fr-FR" sz="800" b="0" i="0" u="none" strike="noStrike">
                          <a:latin typeface="+mj-lt"/>
                        </a:rPr>
                        <a:t> </a:t>
                      </a:r>
                    </a:p>
                  </a:txBody>
                  <a:tcPr marL="6127" marR="6127" marT="6127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121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9pPr>
                    </a:lstStyle>
                    <a:p>
                      <a:pPr algn="l" fontAlgn="b"/>
                      <a:r>
                        <a:rPr lang="en-US" sz="800" b="0" i="0" u="none" strike="noStrike" dirty="0" err="1">
                          <a:latin typeface="+mj-lt"/>
                        </a:rPr>
                        <a:t>Theorectical</a:t>
                      </a:r>
                      <a:r>
                        <a:rPr lang="en-US" sz="800" b="0" i="0" u="none" strike="noStrike" dirty="0">
                          <a:latin typeface="+mj-lt"/>
                        </a:rPr>
                        <a:t> subsidiary income tax provision (credit)</a:t>
                      </a:r>
                    </a:p>
                  </a:txBody>
                  <a:tcPr marL="6127" marR="6127" marT="612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9pPr>
                    </a:lstStyle>
                    <a:p>
                      <a:pPr algn="l" fontAlgn="b"/>
                      <a:endParaRPr lang="fr-FR" sz="800" b="1" i="0" u="none" strike="noStrike" dirty="0">
                        <a:solidFill>
                          <a:srgbClr val="C00000"/>
                        </a:solidFill>
                        <a:latin typeface="+mj-lt"/>
                      </a:endParaRPr>
                    </a:p>
                  </a:txBody>
                  <a:tcPr marL="6127" marR="6127" marT="612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9pPr>
                    </a:lstStyle>
                    <a:p>
                      <a:pPr algn="l" fontAlgn="b"/>
                      <a:r>
                        <a:rPr lang="fr-FR" sz="800" b="0" i="0" u="none" strike="noStrike" dirty="0">
                          <a:latin typeface="+mj-lt"/>
                        </a:rPr>
                        <a:t> </a:t>
                      </a:r>
                    </a:p>
                  </a:txBody>
                  <a:tcPr marL="6127" marR="6127" marT="612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9pPr>
                    </a:lstStyle>
                    <a:p>
                      <a:pPr algn="ctr" fontAlgn="b"/>
                      <a:r>
                        <a:rPr lang="fr-FR" sz="800" b="0" i="0" u="none" strike="noStrike">
                          <a:latin typeface="+mj-lt"/>
                        </a:rPr>
                        <a:t> </a:t>
                      </a:r>
                    </a:p>
                  </a:txBody>
                  <a:tcPr marL="6127" marR="6127" marT="612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9pPr>
                    </a:lstStyle>
                    <a:p>
                      <a:pPr algn="ctr" fontAlgn="b"/>
                      <a:r>
                        <a:rPr lang="fr-FR" sz="800" b="1" i="0" u="none" strike="noStrike" dirty="0">
                          <a:latin typeface="+mj-lt"/>
                        </a:rPr>
                        <a:t> </a:t>
                      </a:r>
                    </a:p>
                  </a:txBody>
                  <a:tcPr marL="6127" marR="6127" marT="612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9pPr>
                    </a:lstStyle>
                    <a:p>
                      <a:pPr algn="ctr" fontAlgn="b"/>
                      <a:endParaRPr lang="fr-FR" sz="800" b="0" i="0" u="none" strike="noStrike" dirty="0">
                        <a:latin typeface="+mj-lt"/>
                      </a:endParaRPr>
                    </a:p>
                  </a:txBody>
                  <a:tcPr marL="6127" marR="6127" marT="612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9pPr>
                    </a:lstStyle>
                    <a:p>
                      <a:pPr algn="ctr" fontAlgn="b"/>
                      <a:r>
                        <a:rPr lang="fr-FR" sz="800" b="0" i="0" u="none" strike="noStrike">
                          <a:latin typeface="+mj-lt"/>
                        </a:rPr>
                        <a:t> </a:t>
                      </a:r>
                    </a:p>
                  </a:txBody>
                  <a:tcPr marL="6127" marR="6127" marT="6127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2376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9pPr>
                    </a:lstStyle>
                    <a:p>
                      <a:pPr algn="l" fontAlgn="b"/>
                      <a:endParaRPr lang="fr-FR" sz="800" b="0" i="0" u="none" strike="noStrike">
                        <a:latin typeface="+mj-lt"/>
                      </a:endParaRPr>
                    </a:p>
                  </a:txBody>
                  <a:tcPr marL="6127" marR="6127" marT="612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9pPr>
                    </a:lstStyle>
                    <a:p>
                      <a:pPr algn="l" fontAlgn="b"/>
                      <a:endParaRPr lang="fr-FR" sz="800" b="1" i="0" u="none" strike="noStrike" dirty="0">
                        <a:solidFill>
                          <a:srgbClr val="C00000"/>
                        </a:solidFill>
                        <a:latin typeface="+mj-lt"/>
                      </a:endParaRPr>
                    </a:p>
                  </a:txBody>
                  <a:tcPr marL="6127" marR="6127" marT="612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9pPr>
                    </a:lstStyle>
                    <a:p>
                      <a:pPr algn="l" fontAlgn="b"/>
                      <a:endParaRPr lang="fr-FR" sz="800" b="0" i="0" u="none" strike="noStrike" dirty="0">
                        <a:latin typeface="+mj-lt"/>
                      </a:endParaRPr>
                    </a:p>
                  </a:txBody>
                  <a:tcPr marL="6127" marR="6127" marT="612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9pPr>
                    </a:lstStyle>
                    <a:p>
                      <a:pPr algn="ctr" fontAlgn="b"/>
                      <a:endParaRPr lang="fr-FR" sz="800" b="0" i="0" u="none" strike="noStrike">
                        <a:latin typeface="+mj-lt"/>
                      </a:endParaRPr>
                    </a:p>
                  </a:txBody>
                  <a:tcPr marL="6127" marR="6127" marT="612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9pPr>
                    </a:lstStyle>
                    <a:p>
                      <a:pPr algn="ctr" fontAlgn="b"/>
                      <a:endParaRPr lang="fr-FR" sz="800" b="0" i="0" u="none" strike="noStrike">
                        <a:latin typeface="+mj-lt"/>
                      </a:endParaRPr>
                    </a:p>
                  </a:txBody>
                  <a:tcPr marL="6127" marR="6127" marT="612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9pPr>
                    </a:lstStyle>
                    <a:p>
                      <a:pPr algn="ctr" fontAlgn="b"/>
                      <a:endParaRPr lang="fr-FR" sz="800" b="0" i="0" u="none" strike="noStrike" dirty="0">
                        <a:latin typeface="+mj-lt"/>
                      </a:endParaRPr>
                    </a:p>
                  </a:txBody>
                  <a:tcPr marL="6127" marR="6127" marT="612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9pPr>
                    </a:lstStyle>
                    <a:p>
                      <a:pPr algn="ctr" fontAlgn="b"/>
                      <a:endParaRPr lang="fr-FR" sz="800" b="0" i="0" u="none" strike="noStrike">
                        <a:latin typeface="+mj-lt"/>
                      </a:endParaRPr>
                    </a:p>
                  </a:txBody>
                  <a:tcPr marL="6127" marR="6127" marT="612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2867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9pPr>
                    </a:lstStyle>
                    <a:p>
                      <a:pPr algn="l" fontAlgn="b"/>
                      <a:endParaRPr lang="fr-FR" sz="800" b="0" i="0" u="none" strike="noStrike">
                        <a:latin typeface="+mj-lt"/>
                      </a:endParaRPr>
                    </a:p>
                  </a:txBody>
                  <a:tcPr marL="6127" marR="6127" marT="612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9pPr>
                    </a:lstStyle>
                    <a:p>
                      <a:pPr algn="l" fontAlgn="b"/>
                      <a:endParaRPr lang="fr-FR" sz="800" b="1" i="0" u="none" strike="noStrike" dirty="0">
                        <a:solidFill>
                          <a:srgbClr val="C00000"/>
                        </a:solidFill>
                        <a:latin typeface="+mj-lt"/>
                      </a:endParaRPr>
                    </a:p>
                  </a:txBody>
                  <a:tcPr marL="6127" marR="6127" marT="612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9pPr>
                    </a:lstStyle>
                    <a:p>
                      <a:pPr algn="l" fontAlgn="b"/>
                      <a:endParaRPr lang="fr-FR" sz="800" b="0" i="0" u="none" strike="noStrike" dirty="0">
                        <a:latin typeface="+mj-lt"/>
                      </a:endParaRPr>
                    </a:p>
                  </a:txBody>
                  <a:tcPr marL="6127" marR="6127" marT="612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9pPr>
                    </a:lstStyle>
                    <a:p>
                      <a:pPr algn="ctr" fontAlgn="b"/>
                      <a:r>
                        <a:rPr lang="fr-FR" sz="800" b="1" i="0" u="none" strike="noStrike" dirty="0">
                          <a:latin typeface="+mj-lt"/>
                        </a:rPr>
                        <a:t>Gross</a:t>
                      </a:r>
                    </a:p>
                  </a:txBody>
                  <a:tcPr marL="6127" marR="6127" marT="612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9pPr>
                    </a:lstStyle>
                    <a:p>
                      <a:pPr algn="ctr" fontAlgn="b"/>
                      <a:r>
                        <a:rPr lang="fr-FR" sz="800" b="1" i="0" u="none" strike="noStrike">
                          <a:latin typeface="+mj-lt"/>
                        </a:rPr>
                        <a:t>Rate</a:t>
                      </a:r>
                    </a:p>
                  </a:txBody>
                  <a:tcPr marL="6127" marR="6127" marT="612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9pPr>
                    </a:lstStyle>
                    <a:p>
                      <a:pPr algn="ctr" fontAlgn="b"/>
                      <a:r>
                        <a:rPr lang="fr-FR" sz="800" b="1" i="0" u="none" strike="noStrike" dirty="0">
                          <a:latin typeface="+mj-lt"/>
                        </a:rPr>
                        <a:t>Net</a:t>
                      </a:r>
                    </a:p>
                  </a:txBody>
                  <a:tcPr marL="6127" marR="6127" marT="612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9pPr>
                    </a:lstStyle>
                    <a:p>
                      <a:pPr algn="ctr" fontAlgn="b"/>
                      <a:endParaRPr lang="fr-FR" sz="800" b="0" i="0" u="none" strike="noStrike">
                        <a:latin typeface="+mj-lt"/>
                      </a:endParaRPr>
                    </a:p>
                  </a:txBody>
                  <a:tcPr marL="6127" marR="6127" marT="612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2376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9pPr>
                    </a:lstStyle>
                    <a:p>
                      <a:pPr algn="l" fontAlgn="b"/>
                      <a:r>
                        <a:rPr lang="fr-FR" sz="800" b="0" i="0" u="none" strike="noStrike" dirty="0">
                          <a:latin typeface="+mj-lt"/>
                        </a:rPr>
                        <a:t>Permanent </a:t>
                      </a:r>
                      <a:r>
                        <a:rPr lang="fr-FR" sz="800" b="0" i="0" u="none" strike="noStrike" dirty="0" err="1">
                          <a:latin typeface="+mj-lt"/>
                        </a:rPr>
                        <a:t>differences</a:t>
                      </a:r>
                      <a:endParaRPr lang="fr-FR" sz="800" b="0" i="0" u="none" strike="noStrike" dirty="0">
                        <a:latin typeface="+mj-lt"/>
                      </a:endParaRPr>
                    </a:p>
                  </a:txBody>
                  <a:tcPr marL="6127" marR="6127" marT="612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9pPr>
                    </a:lstStyle>
                    <a:p>
                      <a:pPr algn="ctr" fontAlgn="b"/>
                      <a:r>
                        <a:rPr lang="fr-FR" sz="800" b="1" i="0" u="none" strike="noStrike" dirty="0">
                          <a:solidFill>
                            <a:srgbClr val="C00000"/>
                          </a:solidFill>
                          <a:latin typeface="+mj-lt"/>
                        </a:rPr>
                        <a:t>A</a:t>
                      </a:r>
                    </a:p>
                  </a:txBody>
                  <a:tcPr marL="6127" marR="6127" marT="612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9pPr>
                    </a:lstStyle>
                    <a:p>
                      <a:pPr algn="l" fontAlgn="b"/>
                      <a:r>
                        <a:rPr lang="fr-FR" sz="800" b="0" i="0" u="none" strike="noStrike" dirty="0">
                          <a:latin typeface="+mj-lt"/>
                        </a:rPr>
                        <a:t> </a:t>
                      </a:r>
                    </a:p>
                  </a:txBody>
                  <a:tcPr marL="6127" marR="6127" marT="612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9pPr>
                    </a:lstStyle>
                    <a:p>
                      <a:pPr algn="ctr" fontAlgn="b"/>
                      <a:r>
                        <a:rPr lang="fr-FR" sz="800" b="0" i="0" u="none" strike="noStrike">
                          <a:latin typeface="+mj-lt"/>
                        </a:rPr>
                        <a:t> </a:t>
                      </a:r>
                    </a:p>
                  </a:txBody>
                  <a:tcPr marL="6127" marR="6127" marT="612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9pPr>
                    </a:lstStyle>
                    <a:p>
                      <a:pPr algn="ctr" fontAlgn="b"/>
                      <a:r>
                        <a:rPr lang="fr-FR" sz="800" b="0" i="0" u="none" strike="noStrike">
                          <a:latin typeface="+mj-lt"/>
                        </a:rPr>
                        <a:t> </a:t>
                      </a:r>
                    </a:p>
                  </a:txBody>
                  <a:tcPr marL="6127" marR="6127" marT="612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9pPr>
                    </a:lstStyle>
                    <a:p>
                      <a:pPr algn="ctr" fontAlgn="b"/>
                      <a:r>
                        <a:rPr lang="fr-FR" sz="800" b="0" i="0" u="none" strike="noStrike" dirty="0">
                          <a:latin typeface="+mj-lt"/>
                        </a:rPr>
                        <a:t> </a:t>
                      </a:r>
                    </a:p>
                  </a:txBody>
                  <a:tcPr marL="6127" marR="6127" marT="612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9pPr>
                    </a:lstStyle>
                    <a:p>
                      <a:pPr algn="ctr" fontAlgn="b"/>
                      <a:r>
                        <a:rPr lang="fr-FR" sz="800" b="0" i="0" u="none" strike="noStrike">
                          <a:latin typeface="+mj-lt"/>
                        </a:rPr>
                        <a:t> </a:t>
                      </a:r>
                    </a:p>
                  </a:txBody>
                  <a:tcPr marL="6127" marR="6127" marT="6127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2376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9pPr>
                    </a:lstStyle>
                    <a:p>
                      <a:pPr algn="l" fontAlgn="b"/>
                      <a:r>
                        <a:rPr lang="fr-FR" sz="800" b="0" i="0" u="none" strike="noStrike" dirty="0">
                          <a:latin typeface="+mj-lt"/>
                        </a:rPr>
                        <a:t> </a:t>
                      </a:r>
                    </a:p>
                  </a:txBody>
                  <a:tcPr marL="6127" marR="6127" marT="612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9pPr>
                    </a:lstStyle>
                    <a:p>
                      <a:pPr algn="l" fontAlgn="b"/>
                      <a:endParaRPr lang="fr-FR" sz="800" b="1" i="0" u="none" strike="noStrike" dirty="0">
                        <a:solidFill>
                          <a:srgbClr val="C00000"/>
                        </a:solidFill>
                        <a:latin typeface="+mj-lt"/>
                      </a:endParaRPr>
                    </a:p>
                  </a:txBody>
                  <a:tcPr marL="6127" marR="6127" marT="612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9pPr>
                    </a:lstStyle>
                    <a:p>
                      <a:pPr algn="l" fontAlgn="b"/>
                      <a:r>
                        <a:rPr lang="fr-FR" sz="800" b="0" i="0" u="none" strike="noStrike" dirty="0">
                          <a:latin typeface="+mj-lt"/>
                        </a:rPr>
                        <a:t> </a:t>
                      </a:r>
                    </a:p>
                  </a:txBody>
                  <a:tcPr marL="6127" marR="6127" marT="612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9pPr>
                    </a:lstStyle>
                    <a:p>
                      <a:pPr algn="ctr" fontAlgn="b"/>
                      <a:endParaRPr lang="fr-FR" sz="800" b="0" i="0" u="none" strike="noStrike">
                        <a:latin typeface="+mj-lt"/>
                      </a:endParaRPr>
                    </a:p>
                  </a:txBody>
                  <a:tcPr marL="6127" marR="6127" marT="612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9pPr>
                    </a:lstStyle>
                    <a:p>
                      <a:pPr algn="ctr" fontAlgn="b"/>
                      <a:endParaRPr lang="fr-FR" sz="800" b="0" i="0" u="none" strike="noStrike">
                        <a:latin typeface="+mj-lt"/>
                      </a:endParaRPr>
                    </a:p>
                  </a:txBody>
                  <a:tcPr marL="6127" marR="6127" marT="612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9pPr>
                    </a:lstStyle>
                    <a:p>
                      <a:pPr algn="ctr" fontAlgn="b"/>
                      <a:r>
                        <a:rPr lang="fr-FR" sz="800" b="0" i="0" u="none" strike="noStrike" dirty="0">
                          <a:latin typeface="+mj-lt"/>
                        </a:rPr>
                        <a:t> </a:t>
                      </a:r>
                    </a:p>
                  </a:txBody>
                  <a:tcPr marL="6127" marR="6127" marT="612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9pPr>
                    </a:lstStyle>
                    <a:p>
                      <a:pPr algn="ctr" fontAlgn="b"/>
                      <a:r>
                        <a:rPr lang="fr-FR" sz="800" b="0" i="0" u="none" strike="noStrike">
                          <a:latin typeface="+mj-lt"/>
                        </a:rPr>
                        <a:t> </a:t>
                      </a:r>
                    </a:p>
                  </a:txBody>
                  <a:tcPr marL="6127" marR="6127" marT="6127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2376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9pPr>
                    </a:lstStyle>
                    <a:p>
                      <a:pPr algn="l" fontAlgn="b"/>
                      <a:r>
                        <a:rPr lang="fr-FR" sz="800" b="0" i="0" u="none" strike="noStrike" dirty="0">
                          <a:latin typeface="+mj-lt"/>
                        </a:rPr>
                        <a:t> </a:t>
                      </a:r>
                    </a:p>
                  </a:txBody>
                  <a:tcPr marL="6127" marR="6127" marT="612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9pPr>
                    </a:lstStyle>
                    <a:p>
                      <a:pPr algn="l" fontAlgn="b"/>
                      <a:endParaRPr lang="fr-FR" sz="800" b="1" i="0" u="none" strike="noStrike" dirty="0">
                        <a:solidFill>
                          <a:srgbClr val="C00000"/>
                        </a:solidFill>
                        <a:latin typeface="+mj-lt"/>
                      </a:endParaRPr>
                    </a:p>
                  </a:txBody>
                  <a:tcPr marL="6127" marR="6127" marT="612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9pPr>
                    </a:lstStyle>
                    <a:p>
                      <a:pPr algn="l" fontAlgn="b"/>
                      <a:r>
                        <a:rPr lang="fr-FR" sz="800" b="0" i="0" u="none" strike="noStrike" dirty="0">
                          <a:latin typeface="+mj-lt"/>
                        </a:rPr>
                        <a:t>  </a:t>
                      </a:r>
                    </a:p>
                  </a:txBody>
                  <a:tcPr marL="6127" marR="6127" marT="612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9pPr>
                    </a:lstStyle>
                    <a:p>
                      <a:pPr algn="ctr" fontAlgn="b"/>
                      <a:endParaRPr lang="fr-FR" sz="800" b="0" i="0" u="none" strike="noStrike">
                        <a:latin typeface="+mj-lt"/>
                      </a:endParaRPr>
                    </a:p>
                  </a:txBody>
                  <a:tcPr marL="6127" marR="6127" marT="612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9pPr>
                    </a:lstStyle>
                    <a:p>
                      <a:pPr algn="ctr" fontAlgn="b"/>
                      <a:endParaRPr lang="fr-FR" sz="800" b="0" i="0" u="none" strike="noStrike">
                        <a:latin typeface="+mj-lt"/>
                      </a:endParaRPr>
                    </a:p>
                  </a:txBody>
                  <a:tcPr marL="6127" marR="6127" marT="612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9pPr>
                    </a:lstStyle>
                    <a:p>
                      <a:pPr algn="ctr" fontAlgn="b"/>
                      <a:r>
                        <a:rPr lang="fr-FR" sz="800" b="0" i="0" u="none" strike="noStrike" dirty="0">
                          <a:latin typeface="+mj-lt"/>
                        </a:rPr>
                        <a:t> </a:t>
                      </a:r>
                    </a:p>
                  </a:txBody>
                  <a:tcPr marL="6127" marR="6127" marT="612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9pPr>
                    </a:lstStyle>
                    <a:p>
                      <a:pPr algn="ctr" fontAlgn="b"/>
                      <a:r>
                        <a:rPr lang="fr-FR" sz="800" b="0" i="0" u="none" strike="noStrike">
                          <a:latin typeface="+mj-lt"/>
                        </a:rPr>
                        <a:t> </a:t>
                      </a:r>
                    </a:p>
                  </a:txBody>
                  <a:tcPr marL="6127" marR="6127" marT="6127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2376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9pPr>
                    </a:lstStyle>
                    <a:p>
                      <a:pPr algn="l" fontAlgn="b"/>
                      <a:r>
                        <a:rPr lang="fr-FR" sz="800" b="0" i="0" u="none" strike="noStrike">
                          <a:latin typeface="+mj-lt"/>
                        </a:rPr>
                        <a:t> </a:t>
                      </a:r>
                    </a:p>
                  </a:txBody>
                  <a:tcPr marL="6127" marR="6127" marT="612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9pPr>
                    </a:lstStyle>
                    <a:p>
                      <a:pPr algn="l" fontAlgn="b"/>
                      <a:endParaRPr lang="fr-FR" sz="800" b="1" i="0" u="none" strike="noStrike" dirty="0">
                        <a:solidFill>
                          <a:srgbClr val="C00000"/>
                        </a:solidFill>
                        <a:latin typeface="+mj-lt"/>
                      </a:endParaRPr>
                    </a:p>
                  </a:txBody>
                  <a:tcPr marL="6127" marR="6127" marT="612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9pPr>
                    </a:lstStyle>
                    <a:p>
                      <a:pPr algn="l" fontAlgn="b"/>
                      <a:r>
                        <a:rPr lang="fr-FR" sz="800" b="0" i="0" u="none" strike="noStrike" dirty="0">
                          <a:latin typeface="+mj-lt"/>
                        </a:rPr>
                        <a:t>  </a:t>
                      </a:r>
                    </a:p>
                  </a:txBody>
                  <a:tcPr marL="6127" marR="6127" marT="612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9pPr>
                    </a:lstStyle>
                    <a:p>
                      <a:pPr algn="ctr" fontAlgn="b"/>
                      <a:r>
                        <a:rPr lang="fr-FR" sz="800" b="0" i="0" u="none" strike="noStrike">
                          <a:latin typeface="+mj-lt"/>
                        </a:rPr>
                        <a:t> </a:t>
                      </a:r>
                    </a:p>
                  </a:txBody>
                  <a:tcPr marL="6127" marR="6127" marT="612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9pPr>
                    </a:lstStyle>
                    <a:p>
                      <a:pPr algn="ctr" fontAlgn="b"/>
                      <a:r>
                        <a:rPr lang="fr-FR" sz="800" b="0" i="0" u="none" strike="noStrike">
                          <a:latin typeface="+mj-lt"/>
                        </a:rPr>
                        <a:t> </a:t>
                      </a:r>
                    </a:p>
                  </a:txBody>
                  <a:tcPr marL="6127" marR="6127" marT="612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9pPr>
                    </a:lstStyle>
                    <a:p>
                      <a:pPr algn="ctr" fontAlgn="b"/>
                      <a:r>
                        <a:rPr lang="fr-FR" sz="800" b="0" i="0" u="none" strike="noStrike" dirty="0">
                          <a:latin typeface="+mj-lt"/>
                        </a:rPr>
                        <a:t> </a:t>
                      </a:r>
                    </a:p>
                  </a:txBody>
                  <a:tcPr marL="6127" marR="6127" marT="612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9pPr>
                    </a:lstStyle>
                    <a:p>
                      <a:pPr algn="ctr" fontAlgn="b"/>
                      <a:r>
                        <a:rPr lang="fr-FR" sz="800" b="0" i="0" u="none" strike="noStrike">
                          <a:latin typeface="+mj-lt"/>
                        </a:rPr>
                        <a:t> </a:t>
                      </a:r>
                    </a:p>
                  </a:txBody>
                  <a:tcPr marL="6127" marR="6127" marT="6127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2376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9pPr>
                    </a:lstStyle>
                    <a:p>
                      <a:pPr algn="l" fontAlgn="b"/>
                      <a:endParaRPr lang="fr-FR" sz="800" b="0" i="0" u="none" strike="noStrike" dirty="0">
                        <a:latin typeface="+mj-lt"/>
                      </a:endParaRPr>
                    </a:p>
                  </a:txBody>
                  <a:tcPr marL="6127" marR="6127" marT="612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9pPr>
                    </a:lstStyle>
                    <a:p>
                      <a:pPr algn="l" fontAlgn="b"/>
                      <a:endParaRPr lang="fr-FR" sz="800" b="1" i="0" u="none" strike="noStrike" dirty="0">
                        <a:solidFill>
                          <a:srgbClr val="C00000"/>
                        </a:solidFill>
                        <a:latin typeface="+mj-lt"/>
                      </a:endParaRPr>
                    </a:p>
                  </a:txBody>
                  <a:tcPr marL="6127" marR="6127" marT="612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9pPr>
                    </a:lstStyle>
                    <a:p>
                      <a:pPr algn="l" fontAlgn="b"/>
                      <a:endParaRPr lang="fr-FR" sz="800" b="0" i="0" u="none" strike="noStrike" dirty="0">
                        <a:latin typeface="+mj-lt"/>
                      </a:endParaRPr>
                    </a:p>
                  </a:txBody>
                  <a:tcPr marL="6127" marR="6127" marT="612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9pPr>
                    </a:lstStyle>
                    <a:p>
                      <a:pPr algn="ctr" fontAlgn="b"/>
                      <a:endParaRPr lang="fr-FR" sz="800" b="0" i="0" u="none" strike="noStrike">
                        <a:latin typeface="+mj-lt"/>
                      </a:endParaRPr>
                    </a:p>
                  </a:txBody>
                  <a:tcPr marL="6127" marR="6127" marT="612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9pPr>
                    </a:lstStyle>
                    <a:p>
                      <a:pPr algn="ctr" fontAlgn="b"/>
                      <a:endParaRPr lang="fr-FR" sz="800" b="0" i="0" u="none" strike="noStrike">
                        <a:latin typeface="+mj-lt"/>
                      </a:endParaRPr>
                    </a:p>
                  </a:txBody>
                  <a:tcPr marL="6127" marR="6127" marT="612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9pPr>
                    </a:lstStyle>
                    <a:p>
                      <a:pPr algn="ctr" fontAlgn="b"/>
                      <a:endParaRPr lang="fr-FR" sz="800" b="0" i="0" u="none" strike="noStrike" dirty="0">
                        <a:latin typeface="+mj-lt"/>
                      </a:endParaRPr>
                    </a:p>
                  </a:txBody>
                  <a:tcPr marL="6127" marR="6127" marT="612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9pPr>
                    </a:lstStyle>
                    <a:p>
                      <a:pPr algn="ctr" fontAlgn="b"/>
                      <a:endParaRPr lang="fr-FR" sz="800" b="0" i="0" u="none" strike="noStrike">
                        <a:latin typeface="+mj-lt"/>
                      </a:endParaRPr>
                    </a:p>
                  </a:txBody>
                  <a:tcPr marL="6127" marR="6127" marT="612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2376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9pPr>
                    </a:lstStyle>
                    <a:p>
                      <a:pPr algn="l" fontAlgn="b"/>
                      <a:r>
                        <a:rPr lang="en-US" sz="800" b="0" i="0" u="none" strike="noStrike" dirty="0">
                          <a:latin typeface="+mj-lt"/>
                        </a:rPr>
                        <a:t>Movements in tax losses position</a:t>
                      </a:r>
                    </a:p>
                  </a:txBody>
                  <a:tcPr marL="6127" marR="6127" marT="612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9pPr>
                    </a:lstStyle>
                    <a:p>
                      <a:pPr algn="ctr" fontAlgn="b"/>
                      <a:r>
                        <a:rPr lang="fr-FR" sz="800" b="1" i="0" u="none" strike="noStrike" dirty="0">
                          <a:solidFill>
                            <a:srgbClr val="C00000"/>
                          </a:solidFill>
                          <a:latin typeface="+mj-lt"/>
                        </a:rPr>
                        <a:t>B</a:t>
                      </a:r>
                    </a:p>
                  </a:txBody>
                  <a:tcPr marL="6127" marR="6127" marT="612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9pPr>
                    </a:lstStyle>
                    <a:p>
                      <a:pPr algn="l" fontAlgn="b"/>
                      <a:r>
                        <a:rPr lang="fr-FR" sz="800" b="0" i="0" u="none" strike="noStrike">
                          <a:latin typeface="+mj-lt"/>
                        </a:rPr>
                        <a:t> </a:t>
                      </a:r>
                    </a:p>
                  </a:txBody>
                  <a:tcPr marL="6127" marR="6127" marT="612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9pPr>
                    </a:lstStyle>
                    <a:p>
                      <a:pPr algn="ctr" fontAlgn="b"/>
                      <a:r>
                        <a:rPr lang="fr-FR" sz="800" b="0" i="0" u="none" strike="noStrike">
                          <a:latin typeface="+mj-lt"/>
                        </a:rPr>
                        <a:t> </a:t>
                      </a:r>
                    </a:p>
                  </a:txBody>
                  <a:tcPr marL="6127" marR="6127" marT="612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9pPr>
                    </a:lstStyle>
                    <a:p>
                      <a:pPr algn="ctr" fontAlgn="b"/>
                      <a:r>
                        <a:rPr lang="fr-FR" sz="800" b="0" i="0" u="none" strike="noStrike">
                          <a:latin typeface="+mj-lt"/>
                        </a:rPr>
                        <a:t> </a:t>
                      </a:r>
                    </a:p>
                  </a:txBody>
                  <a:tcPr marL="6127" marR="6127" marT="612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9pPr>
                    </a:lstStyle>
                    <a:p>
                      <a:pPr algn="ctr" fontAlgn="b"/>
                      <a:r>
                        <a:rPr lang="fr-FR" sz="800" b="0" i="0" u="none" strike="noStrike" dirty="0">
                          <a:latin typeface="+mj-lt"/>
                        </a:rPr>
                        <a:t> </a:t>
                      </a:r>
                    </a:p>
                  </a:txBody>
                  <a:tcPr marL="6127" marR="6127" marT="612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9pPr>
                    </a:lstStyle>
                    <a:p>
                      <a:pPr algn="ctr" fontAlgn="b"/>
                      <a:r>
                        <a:rPr lang="fr-FR" sz="800" b="0" i="0" u="none" strike="noStrike" dirty="0">
                          <a:latin typeface="+mj-lt"/>
                        </a:rPr>
                        <a:t> </a:t>
                      </a:r>
                    </a:p>
                  </a:txBody>
                  <a:tcPr marL="6127" marR="6127" marT="6127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4508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9pPr>
                    </a:lstStyle>
                    <a:p>
                      <a:pPr algn="l" fontAlgn="b"/>
                      <a:r>
                        <a:rPr lang="en-US" sz="800" b="0" i="0" u="none" strike="noStrike" dirty="0" err="1">
                          <a:latin typeface="+mj-lt"/>
                        </a:rPr>
                        <a:t>FYxx</a:t>
                      </a:r>
                      <a:r>
                        <a:rPr lang="en-US" sz="800" b="0" i="0" u="none" strike="noStrike" baseline="0" dirty="0">
                          <a:latin typeface="+mj-lt"/>
                        </a:rPr>
                        <a:t> </a:t>
                      </a:r>
                      <a:r>
                        <a:rPr lang="en-US" sz="800" b="0" i="0" u="none" strike="noStrike" dirty="0">
                          <a:latin typeface="+mj-lt"/>
                        </a:rPr>
                        <a:t>tax losses carryforward </a:t>
                      </a:r>
                      <a:r>
                        <a:rPr lang="en-US" sz="800" b="0" i="0" u="none" strike="noStrike" dirty="0" err="1">
                          <a:latin typeface="+mj-lt"/>
                        </a:rPr>
                        <a:t>unrecognised</a:t>
                      </a:r>
                      <a:endParaRPr lang="en-US" sz="800" b="0" i="0" u="none" strike="noStrike" dirty="0">
                        <a:latin typeface="+mj-lt"/>
                      </a:endParaRPr>
                    </a:p>
                  </a:txBody>
                  <a:tcPr marL="6127" marR="6127" marT="612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9pPr>
                    </a:lstStyle>
                    <a:p>
                      <a:pPr algn="l" fontAlgn="b"/>
                      <a:endParaRPr lang="fr-FR" sz="800" b="1" i="0" u="none" strike="noStrike" dirty="0">
                        <a:solidFill>
                          <a:srgbClr val="C00000"/>
                        </a:solidFill>
                        <a:latin typeface="+mj-lt"/>
                      </a:endParaRPr>
                    </a:p>
                  </a:txBody>
                  <a:tcPr marL="6127" marR="6127" marT="612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9pPr>
                    </a:lstStyle>
                    <a:p>
                      <a:pPr algn="l" fontAlgn="b"/>
                      <a:endParaRPr lang="fr-FR" sz="800" b="0" i="0" u="none" strike="noStrike" dirty="0">
                        <a:latin typeface="+mj-lt"/>
                      </a:endParaRPr>
                    </a:p>
                  </a:txBody>
                  <a:tcPr marL="6127" marR="6127" marT="612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9pPr>
                    </a:lstStyle>
                    <a:p>
                      <a:pPr algn="ctr" fontAlgn="b"/>
                      <a:endParaRPr lang="fr-FR" sz="800" b="0" i="0" u="none" strike="noStrike">
                        <a:latin typeface="+mj-lt"/>
                      </a:endParaRPr>
                    </a:p>
                  </a:txBody>
                  <a:tcPr marL="6127" marR="6127" marT="612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9pPr>
                    </a:lstStyle>
                    <a:p>
                      <a:pPr algn="ctr" fontAlgn="b"/>
                      <a:endParaRPr lang="fr-FR" sz="800" b="0" i="0" u="none" strike="noStrike">
                        <a:latin typeface="+mj-lt"/>
                      </a:endParaRPr>
                    </a:p>
                  </a:txBody>
                  <a:tcPr marL="6127" marR="6127" marT="612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9pPr>
                    </a:lstStyle>
                    <a:p>
                      <a:pPr algn="ctr" fontAlgn="b"/>
                      <a:endParaRPr lang="fr-FR" sz="800" b="0" i="0" u="none" strike="noStrike" dirty="0">
                        <a:latin typeface="+mj-lt"/>
                      </a:endParaRPr>
                    </a:p>
                  </a:txBody>
                  <a:tcPr marL="6127" marR="6127" marT="612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9pPr>
                    </a:lstStyle>
                    <a:p>
                      <a:pPr algn="ctr" fontAlgn="b"/>
                      <a:r>
                        <a:rPr lang="fr-FR" sz="800" b="0" i="0" u="none" strike="noStrike" dirty="0">
                          <a:latin typeface="+mj-lt"/>
                        </a:rPr>
                        <a:t> </a:t>
                      </a:r>
                    </a:p>
                  </a:txBody>
                  <a:tcPr marL="6127" marR="6127" marT="6127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2376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9pPr>
                    </a:lstStyle>
                    <a:p>
                      <a:pPr algn="l" fontAlgn="b"/>
                      <a:r>
                        <a:rPr lang="fr-FR" sz="800" b="0" i="0" u="none" strike="noStrike">
                          <a:latin typeface="+mj-lt"/>
                        </a:rPr>
                        <a:t>Tax losses expired unused</a:t>
                      </a:r>
                    </a:p>
                  </a:txBody>
                  <a:tcPr marL="6127" marR="6127" marT="612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9pPr>
                    </a:lstStyle>
                    <a:p>
                      <a:pPr algn="l" fontAlgn="b"/>
                      <a:endParaRPr lang="fr-FR" sz="800" b="1" i="0" u="none" strike="noStrike">
                        <a:solidFill>
                          <a:srgbClr val="C00000"/>
                        </a:solidFill>
                        <a:latin typeface="+mj-lt"/>
                      </a:endParaRPr>
                    </a:p>
                  </a:txBody>
                  <a:tcPr marL="6127" marR="6127" marT="612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9pPr>
                    </a:lstStyle>
                    <a:p>
                      <a:pPr algn="l" fontAlgn="b"/>
                      <a:endParaRPr lang="fr-FR" sz="800" b="0" i="0" u="none" strike="noStrike">
                        <a:latin typeface="+mj-lt"/>
                      </a:endParaRPr>
                    </a:p>
                  </a:txBody>
                  <a:tcPr marL="6127" marR="6127" marT="612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9pPr>
                    </a:lstStyle>
                    <a:p>
                      <a:pPr algn="ctr" fontAlgn="b"/>
                      <a:endParaRPr lang="fr-FR" sz="800" b="0" i="0" u="none" strike="noStrike">
                        <a:latin typeface="+mj-lt"/>
                      </a:endParaRPr>
                    </a:p>
                  </a:txBody>
                  <a:tcPr marL="6127" marR="6127" marT="612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9pPr>
                    </a:lstStyle>
                    <a:p>
                      <a:pPr algn="ctr" fontAlgn="b"/>
                      <a:endParaRPr lang="fr-FR" sz="800" b="0" i="0" u="none" strike="noStrike">
                        <a:latin typeface="+mj-lt"/>
                      </a:endParaRPr>
                    </a:p>
                  </a:txBody>
                  <a:tcPr marL="6127" marR="6127" marT="612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9pPr>
                    </a:lstStyle>
                    <a:p>
                      <a:pPr algn="ctr" fontAlgn="b"/>
                      <a:r>
                        <a:rPr lang="fr-FR" sz="800" b="0" i="0" u="none" strike="noStrike" dirty="0">
                          <a:latin typeface="+mj-lt"/>
                        </a:rPr>
                        <a:t> </a:t>
                      </a:r>
                    </a:p>
                  </a:txBody>
                  <a:tcPr marL="6127" marR="6127" marT="612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9pPr>
                    </a:lstStyle>
                    <a:p>
                      <a:pPr algn="ctr" fontAlgn="b"/>
                      <a:r>
                        <a:rPr lang="fr-FR" sz="800" b="0" i="0" u="none" strike="noStrike">
                          <a:latin typeface="+mj-lt"/>
                        </a:rPr>
                        <a:t> </a:t>
                      </a:r>
                    </a:p>
                  </a:txBody>
                  <a:tcPr marL="6127" marR="6127" marT="6127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4508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9pPr>
                    </a:lstStyle>
                    <a:p>
                      <a:pPr algn="l" fontAlgn="b"/>
                      <a:r>
                        <a:rPr lang="en-US" sz="800" b="0" i="0" u="none" strike="noStrike">
                          <a:latin typeface="+mj-lt"/>
                        </a:rPr>
                        <a:t>Used of unrecognised tax losses carryforwards</a:t>
                      </a:r>
                    </a:p>
                  </a:txBody>
                  <a:tcPr marL="6127" marR="6127" marT="612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9pPr>
                    </a:lstStyle>
                    <a:p>
                      <a:pPr algn="l" fontAlgn="b"/>
                      <a:endParaRPr lang="fr-FR" sz="800" b="1" i="0" u="none" strike="noStrike" dirty="0">
                        <a:solidFill>
                          <a:srgbClr val="C00000"/>
                        </a:solidFill>
                        <a:latin typeface="+mj-lt"/>
                      </a:endParaRPr>
                    </a:p>
                  </a:txBody>
                  <a:tcPr marL="6127" marR="6127" marT="612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9pPr>
                    </a:lstStyle>
                    <a:p>
                      <a:pPr algn="l" fontAlgn="b"/>
                      <a:r>
                        <a:rPr lang="fr-FR" sz="800" b="0" i="0" u="none" strike="noStrike" dirty="0">
                          <a:latin typeface="+mj-lt"/>
                        </a:rPr>
                        <a:t> </a:t>
                      </a:r>
                    </a:p>
                  </a:txBody>
                  <a:tcPr marL="6127" marR="6127" marT="612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9pPr>
                    </a:lstStyle>
                    <a:p>
                      <a:pPr algn="ctr" fontAlgn="b"/>
                      <a:r>
                        <a:rPr lang="fr-FR" sz="800" b="0" i="0" u="none" strike="noStrike">
                          <a:latin typeface="+mj-lt"/>
                        </a:rPr>
                        <a:t> </a:t>
                      </a:r>
                    </a:p>
                  </a:txBody>
                  <a:tcPr marL="6127" marR="6127" marT="612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9pPr>
                    </a:lstStyle>
                    <a:p>
                      <a:pPr algn="ctr" fontAlgn="b"/>
                      <a:r>
                        <a:rPr lang="fr-FR" sz="800" b="0" i="0" u="none" strike="noStrike">
                          <a:latin typeface="+mj-lt"/>
                        </a:rPr>
                        <a:t> </a:t>
                      </a:r>
                    </a:p>
                  </a:txBody>
                  <a:tcPr marL="6127" marR="6127" marT="612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9pPr>
                    </a:lstStyle>
                    <a:p>
                      <a:pPr algn="ctr" fontAlgn="b"/>
                      <a:r>
                        <a:rPr lang="fr-FR" sz="800" b="0" i="0" u="none" strike="noStrike" dirty="0">
                          <a:latin typeface="+mj-lt"/>
                        </a:rPr>
                        <a:t> </a:t>
                      </a:r>
                    </a:p>
                  </a:txBody>
                  <a:tcPr marL="6127" marR="6127" marT="612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9pPr>
                    </a:lstStyle>
                    <a:p>
                      <a:pPr algn="ctr" fontAlgn="b"/>
                      <a:r>
                        <a:rPr lang="fr-FR" sz="800" b="0" i="0" u="none" strike="noStrike" dirty="0">
                          <a:latin typeface="+mj-lt"/>
                        </a:rPr>
                        <a:t> </a:t>
                      </a:r>
                    </a:p>
                  </a:txBody>
                  <a:tcPr marL="6127" marR="6127" marT="6127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2376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9pPr>
                    </a:lstStyle>
                    <a:p>
                      <a:pPr algn="l" fontAlgn="b"/>
                      <a:endParaRPr lang="fr-FR" sz="800" b="0" i="0" u="none" strike="noStrike">
                        <a:latin typeface="+mj-lt"/>
                      </a:endParaRPr>
                    </a:p>
                  </a:txBody>
                  <a:tcPr marL="6127" marR="6127" marT="612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9pPr>
                    </a:lstStyle>
                    <a:p>
                      <a:pPr algn="l" fontAlgn="b"/>
                      <a:endParaRPr lang="fr-FR" sz="800" b="1" i="0" u="none" strike="noStrike" dirty="0">
                        <a:solidFill>
                          <a:srgbClr val="C00000"/>
                        </a:solidFill>
                        <a:latin typeface="+mj-lt"/>
                      </a:endParaRPr>
                    </a:p>
                  </a:txBody>
                  <a:tcPr marL="6127" marR="6127" marT="612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9pPr>
                    </a:lstStyle>
                    <a:p>
                      <a:pPr algn="l" fontAlgn="b"/>
                      <a:endParaRPr lang="fr-FR" sz="800" b="0" i="0" u="none" strike="noStrike" dirty="0">
                        <a:latin typeface="+mj-lt"/>
                      </a:endParaRPr>
                    </a:p>
                  </a:txBody>
                  <a:tcPr marL="6127" marR="6127" marT="612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9pPr>
                    </a:lstStyle>
                    <a:p>
                      <a:pPr algn="ctr" fontAlgn="b"/>
                      <a:endParaRPr lang="fr-FR" sz="800" b="0" i="0" u="none" strike="noStrike">
                        <a:latin typeface="+mj-lt"/>
                      </a:endParaRPr>
                    </a:p>
                  </a:txBody>
                  <a:tcPr marL="6127" marR="6127" marT="612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9pPr>
                    </a:lstStyle>
                    <a:p>
                      <a:pPr algn="ctr" fontAlgn="b"/>
                      <a:endParaRPr lang="fr-FR" sz="800" b="0" i="0" u="none" strike="noStrike">
                        <a:latin typeface="+mj-lt"/>
                      </a:endParaRPr>
                    </a:p>
                  </a:txBody>
                  <a:tcPr marL="6127" marR="6127" marT="612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9pPr>
                    </a:lstStyle>
                    <a:p>
                      <a:pPr algn="ctr" fontAlgn="b"/>
                      <a:endParaRPr lang="fr-FR" sz="800" b="0" i="0" u="none" strike="noStrike" dirty="0">
                        <a:latin typeface="+mj-lt"/>
                      </a:endParaRPr>
                    </a:p>
                  </a:txBody>
                  <a:tcPr marL="6127" marR="6127" marT="612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9pPr>
                    </a:lstStyle>
                    <a:p>
                      <a:pPr algn="ctr" fontAlgn="b"/>
                      <a:endParaRPr lang="fr-FR" sz="800" b="0" i="0" u="none" strike="noStrike" dirty="0">
                        <a:latin typeface="+mj-lt"/>
                      </a:endParaRPr>
                    </a:p>
                  </a:txBody>
                  <a:tcPr marL="6127" marR="6127" marT="612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2376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9pPr>
                    </a:lstStyle>
                    <a:p>
                      <a:pPr algn="l" fontAlgn="b"/>
                      <a:r>
                        <a:rPr lang="fr-FR" sz="800" b="0" i="0" u="none" strike="noStrike">
                          <a:latin typeface="+mj-lt"/>
                        </a:rPr>
                        <a:t>Tax credits</a:t>
                      </a:r>
                    </a:p>
                  </a:txBody>
                  <a:tcPr marL="6127" marR="6127" marT="612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9pPr>
                    </a:lstStyle>
                    <a:p>
                      <a:pPr algn="ctr" fontAlgn="b"/>
                      <a:r>
                        <a:rPr lang="fr-FR" sz="800" b="1" i="0" u="none" strike="noStrike" dirty="0">
                          <a:solidFill>
                            <a:srgbClr val="C00000"/>
                          </a:solidFill>
                          <a:latin typeface="+mj-lt"/>
                        </a:rPr>
                        <a:t>C</a:t>
                      </a:r>
                    </a:p>
                    <a:p>
                      <a:pPr algn="ctr" fontAlgn="b"/>
                      <a:endParaRPr lang="fr-FR" sz="800" b="1" i="0" u="none" strike="noStrike" dirty="0">
                        <a:solidFill>
                          <a:srgbClr val="C00000"/>
                        </a:solidFill>
                        <a:latin typeface="+mj-lt"/>
                      </a:endParaRPr>
                    </a:p>
                  </a:txBody>
                  <a:tcPr marL="6127" marR="6127" marT="612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9pPr>
                    </a:lstStyle>
                    <a:p>
                      <a:pPr algn="l" fontAlgn="b"/>
                      <a:r>
                        <a:rPr lang="fr-FR" sz="800" b="0" i="0" u="none" strike="noStrike" dirty="0">
                          <a:latin typeface="+mj-lt"/>
                        </a:rPr>
                        <a:t> </a:t>
                      </a:r>
                    </a:p>
                  </a:txBody>
                  <a:tcPr marL="6127" marR="6127" marT="612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9pPr>
                    </a:lstStyle>
                    <a:p>
                      <a:pPr algn="ctr" fontAlgn="b"/>
                      <a:r>
                        <a:rPr lang="fr-FR" sz="800" b="0" i="0" u="none" strike="noStrike">
                          <a:latin typeface="+mj-lt"/>
                        </a:rPr>
                        <a:t> </a:t>
                      </a:r>
                    </a:p>
                  </a:txBody>
                  <a:tcPr marL="6127" marR="6127" marT="612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9pPr>
                    </a:lstStyle>
                    <a:p>
                      <a:pPr algn="ctr" fontAlgn="b"/>
                      <a:r>
                        <a:rPr lang="fr-FR" sz="800" b="0" i="0" u="none" strike="noStrike">
                          <a:latin typeface="+mj-lt"/>
                        </a:rPr>
                        <a:t> </a:t>
                      </a:r>
                    </a:p>
                  </a:txBody>
                  <a:tcPr marL="6127" marR="6127" marT="612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9pPr>
                    </a:lstStyle>
                    <a:p>
                      <a:pPr algn="ctr" fontAlgn="b"/>
                      <a:r>
                        <a:rPr lang="fr-FR" sz="800" b="0" i="0" u="none" strike="noStrike" dirty="0">
                          <a:latin typeface="+mj-lt"/>
                        </a:rPr>
                        <a:t> </a:t>
                      </a:r>
                    </a:p>
                  </a:txBody>
                  <a:tcPr marL="6127" marR="6127" marT="612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9pPr>
                    </a:lstStyle>
                    <a:p>
                      <a:pPr algn="ctr" fontAlgn="b"/>
                      <a:r>
                        <a:rPr lang="fr-FR" sz="800" b="0" i="0" u="none" strike="noStrike" dirty="0">
                          <a:latin typeface="+mj-lt"/>
                        </a:rPr>
                        <a:t> </a:t>
                      </a:r>
                    </a:p>
                  </a:txBody>
                  <a:tcPr marL="6127" marR="6127" marT="6127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2376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9pPr>
                    </a:lstStyle>
                    <a:p>
                      <a:pPr algn="l" fontAlgn="b"/>
                      <a:r>
                        <a:rPr lang="fr-FR" sz="800" b="0" i="0" u="none" strike="noStrike">
                          <a:latin typeface="+mj-lt"/>
                        </a:rPr>
                        <a:t>Exemption</a:t>
                      </a:r>
                    </a:p>
                  </a:txBody>
                  <a:tcPr marL="6127" marR="6127" marT="612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l" fontAlgn="b"/>
                      <a:endParaRPr lang="fr-FR" sz="800" b="0" i="0" u="none" strike="noStrike" dirty="0">
                        <a:latin typeface="Arial"/>
                      </a:endParaRPr>
                    </a:p>
                  </a:txBody>
                  <a:tcPr marL="6127" marR="6127" marT="612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9pPr>
                    </a:lstStyle>
                    <a:p>
                      <a:pPr algn="l" fontAlgn="b"/>
                      <a:endParaRPr lang="fr-FR" sz="800" b="0" i="0" u="none" strike="noStrike" dirty="0">
                        <a:latin typeface="+mj-lt"/>
                      </a:endParaRPr>
                    </a:p>
                  </a:txBody>
                  <a:tcPr marL="6127" marR="6127" marT="612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9pPr>
                    </a:lstStyle>
                    <a:p>
                      <a:pPr algn="ctr" fontAlgn="b"/>
                      <a:endParaRPr lang="fr-FR" sz="800" b="0" i="0" u="none" strike="noStrike">
                        <a:latin typeface="+mj-lt"/>
                      </a:endParaRPr>
                    </a:p>
                  </a:txBody>
                  <a:tcPr marL="6127" marR="6127" marT="612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9pPr>
                    </a:lstStyle>
                    <a:p>
                      <a:pPr algn="ctr" fontAlgn="b"/>
                      <a:endParaRPr lang="fr-FR" sz="800" b="0" i="0" u="none" strike="noStrike">
                        <a:latin typeface="+mj-lt"/>
                      </a:endParaRPr>
                    </a:p>
                  </a:txBody>
                  <a:tcPr marL="6127" marR="6127" marT="612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9pPr>
                    </a:lstStyle>
                    <a:p>
                      <a:pPr algn="ctr" fontAlgn="b"/>
                      <a:endParaRPr lang="fr-FR" sz="800" b="0" i="0" u="none" strike="noStrike" dirty="0">
                        <a:latin typeface="+mj-lt"/>
                      </a:endParaRPr>
                    </a:p>
                  </a:txBody>
                  <a:tcPr marL="6127" marR="6127" marT="612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9pPr>
                    </a:lstStyle>
                    <a:p>
                      <a:pPr algn="ctr" fontAlgn="b"/>
                      <a:r>
                        <a:rPr lang="fr-FR" sz="800" b="0" i="0" u="none" strike="noStrike">
                          <a:latin typeface="+mj-lt"/>
                        </a:rPr>
                        <a:t> </a:t>
                      </a:r>
                    </a:p>
                  </a:txBody>
                  <a:tcPr marL="6127" marR="6127" marT="6127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12376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9pPr>
                    </a:lstStyle>
                    <a:p>
                      <a:pPr algn="l" fontAlgn="b"/>
                      <a:r>
                        <a:rPr lang="en-US" sz="800" b="0" i="0" u="none" strike="noStrike">
                          <a:latin typeface="+mj-lt"/>
                        </a:rPr>
                        <a:t>Changes in provision for deferred taxes</a:t>
                      </a:r>
                    </a:p>
                  </a:txBody>
                  <a:tcPr marL="6127" marR="6127" marT="612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9pPr>
                    </a:lstStyle>
                    <a:p>
                      <a:pPr algn="ctr" fontAlgn="b"/>
                      <a:r>
                        <a:rPr lang="fr-FR" sz="800" b="1" i="0" u="none" strike="noStrike" dirty="0">
                          <a:solidFill>
                            <a:srgbClr val="C00000"/>
                          </a:solidFill>
                          <a:latin typeface="+mj-lt"/>
                        </a:rPr>
                        <a:t>D</a:t>
                      </a:r>
                    </a:p>
                  </a:txBody>
                  <a:tcPr marL="6127" marR="6127" marT="612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9pPr>
                    </a:lstStyle>
                    <a:p>
                      <a:pPr algn="l" fontAlgn="b"/>
                      <a:endParaRPr lang="fr-FR" sz="800" b="0" i="0" u="none" strike="noStrike" dirty="0">
                        <a:latin typeface="+mj-lt"/>
                      </a:endParaRPr>
                    </a:p>
                  </a:txBody>
                  <a:tcPr marL="6127" marR="6127" marT="612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9pPr>
                    </a:lstStyle>
                    <a:p>
                      <a:pPr algn="ctr" fontAlgn="b"/>
                      <a:endParaRPr lang="fr-FR" sz="800" b="0" i="0" u="none" strike="noStrike">
                        <a:latin typeface="+mj-lt"/>
                      </a:endParaRPr>
                    </a:p>
                  </a:txBody>
                  <a:tcPr marL="6127" marR="6127" marT="612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9pPr>
                    </a:lstStyle>
                    <a:p>
                      <a:pPr algn="ctr" fontAlgn="b"/>
                      <a:endParaRPr lang="fr-FR" sz="800" b="0" i="0" u="none" strike="noStrike">
                        <a:latin typeface="+mj-lt"/>
                      </a:endParaRPr>
                    </a:p>
                  </a:txBody>
                  <a:tcPr marL="6127" marR="6127" marT="612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9pPr>
                    </a:lstStyle>
                    <a:p>
                      <a:pPr algn="ctr" fontAlgn="b"/>
                      <a:r>
                        <a:rPr lang="fr-FR" sz="800" b="0" i="0" u="none" strike="noStrike" dirty="0">
                          <a:latin typeface="+mj-lt"/>
                        </a:rPr>
                        <a:t> </a:t>
                      </a:r>
                    </a:p>
                  </a:txBody>
                  <a:tcPr marL="6127" marR="6127" marT="612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9pPr>
                    </a:lstStyle>
                    <a:p>
                      <a:pPr algn="ctr" fontAlgn="b"/>
                      <a:r>
                        <a:rPr lang="fr-FR" sz="800" b="0" i="0" u="none" strike="noStrike" dirty="0">
                          <a:latin typeface="+mj-lt"/>
                        </a:rPr>
                        <a:t> </a:t>
                      </a:r>
                    </a:p>
                  </a:txBody>
                  <a:tcPr marL="6127" marR="6127" marT="6127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12376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9pPr>
                    </a:lstStyle>
                    <a:p>
                      <a:pPr algn="l" fontAlgn="b"/>
                      <a:r>
                        <a:rPr lang="fr-FR" sz="800" b="0" i="0" u="none" strike="noStrike" dirty="0">
                          <a:latin typeface="+mj-lt"/>
                        </a:rPr>
                        <a:t>Impact of </a:t>
                      </a:r>
                      <a:r>
                        <a:rPr lang="fr-FR" sz="800" b="0" i="0" u="none" strike="noStrike" dirty="0" err="1">
                          <a:latin typeface="+mj-lt"/>
                        </a:rPr>
                        <a:t>FYxx</a:t>
                      </a:r>
                      <a:r>
                        <a:rPr lang="fr-FR" sz="800" b="0" i="0" u="none" strike="noStrike" dirty="0">
                          <a:latin typeface="+mj-lt"/>
                        </a:rPr>
                        <a:t> changes</a:t>
                      </a:r>
                    </a:p>
                  </a:txBody>
                  <a:tcPr marL="6127" marR="6127" marT="612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9pPr>
                    </a:lstStyle>
                    <a:p>
                      <a:pPr algn="ctr" fontAlgn="b"/>
                      <a:r>
                        <a:rPr lang="fr-FR" sz="800" b="1" i="0" u="none" strike="noStrike" dirty="0">
                          <a:solidFill>
                            <a:srgbClr val="C00000"/>
                          </a:solidFill>
                          <a:latin typeface="+mj-lt"/>
                        </a:rPr>
                        <a:t>E</a:t>
                      </a:r>
                    </a:p>
                  </a:txBody>
                  <a:tcPr marL="6127" marR="6127" marT="612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9pPr>
                    </a:lstStyle>
                    <a:p>
                      <a:pPr algn="l" fontAlgn="b"/>
                      <a:endParaRPr lang="fr-FR" sz="800" b="0" i="0" u="none" strike="noStrike" dirty="0">
                        <a:latin typeface="+mj-lt"/>
                      </a:endParaRPr>
                    </a:p>
                  </a:txBody>
                  <a:tcPr marL="6127" marR="6127" marT="612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9pPr>
                    </a:lstStyle>
                    <a:p>
                      <a:pPr algn="ctr" fontAlgn="b"/>
                      <a:endParaRPr lang="fr-FR" sz="800" b="0" i="0" u="none" strike="noStrike">
                        <a:latin typeface="+mj-lt"/>
                      </a:endParaRPr>
                    </a:p>
                  </a:txBody>
                  <a:tcPr marL="6127" marR="6127" marT="612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9pPr>
                    </a:lstStyle>
                    <a:p>
                      <a:pPr algn="ctr" fontAlgn="b"/>
                      <a:endParaRPr lang="fr-FR" sz="800" b="0" i="0" u="none" strike="noStrike">
                        <a:latin typeface="+mj-lt"/>
                      </a:endParaRPr>
                    </a:p>
                  </a:txBody>
                  <a:tcPr marL="6127" marR="6127" marT="612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9pPr>
                    </a:lstStyle>
                    <a:p>
                      <a:pPr algn="ctr" fontAlgn="b"/>
                      <a:endParaRPr lang="fr-FR" sz="800" b="0" i="0" u="none" strike="noStrike" dirty="0">
                        <a:latin typeface="+mj-lt"/>
                      </a:endParaRPr>
                    </a:p>
                  </a:txBody>
                  <a:tcPr marL="6127" marR="6127" marT="612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9pPr>
                    </a:lstStyle>
                    <a:p>
                      <a:pPr algn="ctr" fontAlgn="b"/>
                      <a:r>
                        <a:rPr lang="fr-FR" sz="800" b="0" i="0" u="none" strike="noStrike">
                          <a:latin typeface="+mj-lt"/>
                        </a:rPr>
                        <a:t> </a:t>
                      </a:r>
                    </a:p>
                  </a:txBody>
                  <a:tcPr marL="6127" marR="6127" marT="6127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24508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9pPr>
                    </a:lstStyle>
                    <a:p>
                      <a:pPr algn="l" fontAlgn="b"/>
                      <a:r>
                        <a:rPr lang="en-US" sz="800" b="0" i="0" u="none" strike="noStrike" dirty="0">
                          <a:latin typeface="+mj-lt"/>
                        </a:rPr>
                        <a:t>Impact of changes in tax rate on deferred taxes</a:t>
                      </a:r>
                    </a:p>
                  </a:txBody>
                  <a:tcPr marL="6127" marR="6127" marT="612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9pPr>
                    </a:lstStyle>
                    <a:p>
                      <a:pPr algn="ctr" fontAlgn="b"/>
                      <a:r>
                        <a:rPr lang="fr-FR" sz="800" b="1" i="0" u="none" strike="noStrike" dirty="0">
                          <a:solidFill>
                            <a:srgbClr val="C00000"/>
                          </a:solidFill>
                          <a:latin typeface="+mj-lt"/>
                        </a:rPr>
                        <a:t>F</a:t>
                      </a:r>
                    </a:p>
                  </a:txBody>
                  <a:tcPr marL="6127" marR="6127" marT="612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9pPr>
                    </a:lstStyle>
                    <a:p>
                      <a:pPr algn="l" fontAlgn="b"/>
                      <a:endParaRPr lang="fr-FR" sz="800" b="0" i="0" u="none" strike="noStrike" dirty="0">
                        <a:latin typeface="+mj-lt"/>
                      </a:endParaRPr>
                    </a:p>
                  </a:txBody>
                  <a:tcPr marL="6127" marR="6127" marT="612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9pPr>
                    </a:lstStyle>
                    <a:p>
                      <a:pPr algn="ctr" fontAlgn="b"/>
                      <a:endParaRPr lang="fr-FR" sz="800" b="0" i="0" u="none" strike="noStrike">
                        <a:latin typeface="+mj-lt"/>
                      </a:endParaRPr>
                    </a:p>
                  </a:txBody>
                  <a:tcPr marL="6127" marR="6127" marT="612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9pPr>
                    </a:lstStyle>
                    <a:p>
                      <a:pPr algn="ctr" fontAlgn="b"/>
                      <a:endParaRPr lang="fr-FR" sz="800" b="0" i="0" u="none" strike="noStrike">
                        <a:latin typeface="+mj-lt"/>
                      </a:endParaRPr>
                    </a:p>
                  </a:txBody>
                  <a:tcPr marL="6127" marR="6127" marT="612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9pPr>
                    </a:lstStyle>
                    <a:p>
                      <a:pPr algn="ctr" fontAlgn="b"/>
                      <a:endParaRPr lang="fr-FR" sz="800" b="0" i="0" u="none" strike="noStrike" dirty="0">
                        <a:latin typeface="+mj-lt"/>
                      </a:endParaRPr>
                    </a:p>
                  </a:txBody>
                  <a:tcPr marL="6127" marR="6127" marT="612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9pPr>
                    </a:lstStyle>
                    <a:p>
                      <a:pPr algn="ctr" fontAlgn="b"/>
                      <a:r>
                        <a:rPr lang="fr-FR" sz="800" b="0" i="0" u="none" strike="noStrike" dirty="0">
                          <a:latin typeface="+mj-lt"/>
                        </a:rPr>
                        <a:t> </a:t>
                      </a:r>
                    </a:p>
                  </a:txBody>
                  <a:tcPr marL="6127" marR="6127" marT="6127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12376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9pPr>
                    </a:lstStyle>
                    <a:p>
                      <a:pPr algn="l" fontAlgn="b"/>
                      <a:r>
                        <a:rPr lang="fr-FR" sz="800" b="0" i="0" u="none" strike="noStrike">
                          <a:latin typeface="+mj-lt"/>
                        </a:rPr>
                        <a:t>Others</a:t>
                      </a:r>
                    </a:p>
                  </a:txBody>
                  <a:tcPr marL="6127" marR="6127" marT="612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9pPr>
                    </a:lstStyle>
                    <a:p>
                      <a:pPr algn="ctr" fontAlgn="b"/>
                      <a:r>
                        <a:rPr lang="fr-FR" sz="800" b="1" i="0" u="none" strike="noStrike" dirty="0">
                          <a:solidFill>
                            <a:srgbClr val="C00000"/>
                          </a:solidFill>
                          <a:latin typeface="+mj-lt"/>
                        </a:rPr>
                        <a:t>G</a:t>
                      </a:r>
                    </a:p>
                  </a:txBody>
                  <a:tcPr marL="6127" marR="6127" marT="612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9pPr>
                    </a:lstStyle>
                    <a:p>
                      <a:pPr algn="l" fontAlgn="b"/>
                      <a:r>
                        <a:rPr lang="fr-FR" sz="800" b="0" i="0" u="none" strike="noStrike">
                          <a:latin typeface="+mj-lt"/>
                        </a:rPr>
                        <a:t> </a:t>
                      </a:r>
                    </a:p>
                  </a:txBody>
                  <a:tcPr marL="6127" marR="6127" marT="612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9pPr>
                    </a:lstStyle>
                    <a:p>
                      <a:pPr algn="ctr" fontAlgn="b"/>
                      <a:r>
                        <a:rPr lang="fr-FR" sz="800" b="0" i="0" u="none" strike="noStrike">
                          <a:latin typeface="+mj-lt"/>
                        </a:rPr>
                        <a:t> </a:t>
                      </a:r>
                    </a:p>
                  </a:txBody>
                  <a:tcPr marL="6127" marR="6127" marT="612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9pPr>
                    </a:lstStyle>
                    <a:p>
                      <a:pPr algn="ctr" fontAlgn="b"/>
                      <a:r>
                        <a:rPr lang="fr-FR" sz="800" b="0" i="0" u="none" strike="noStrike">
                          <a:latin typeface="+mj-lt"/>
                        </a:rPr>
                        <a:t> </a:t>
                      </a:r>
                    </a:p>
                  </a:txBody>
                  <a:tcPr marL="6127" marR="6127" marT="612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9pPr>
                    </a:lstStyle>
                    <a:p>
                      <a:pPr algn="ctr" fontAlgn="b"/>
                      <a:r>
                        <a:rPr lang="fr-FR" sz="800" b="0" i="0" u="none" strike="noStrike" dirty="0">
                          <a:latin typeface="+mj-lt"/>
                        </a:rPr>
                        <a:t> </a:t>
                      </a:r>
                    </a:p>
                  </a:txBody>
                  <a:tcPr marL="6127" marR="6127" marT="612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9pPr>
                    </a:lstStyle>
                    <a:p>
                      <a:pPr algn="ctr" fontAlgn="b"/>
                      <a:r>
                        <a:rPr lang="fr-FR" sz="800" b="0" i="0" u="none" strike="noStrike">
                          <a:latin typeface="+mj-lt"/>
                        </a:rPr>
                        <a:t> </a:t>
                      </a:r>
                    </a:p>
                  </a:txBody>
                  <a:tcPr marL="6127" marR="6127" marT="6127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4"/>
                  </a:ext>
                </a:extLst>
              </a:tr>
              <a:tr h="12867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9pPr>
                    </a:lstStyle>
                    <a:p>
                      <a:pPr algn="l" fontAlgn="b"/>
                      <a:endParaRPr lang="fr-FR" sz="800" b="0" i="0" u="none" strike="noStrike" dirty="0">
                        <a:latin typeface="+mj-lt"/>
                      </a:endParaRPr>
                    </a:p>
                  </a:txBody>
                  <a:tcPr marL="6127" marR="6127" marT="612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9pPr>
                    </a:lstStyle>
                    <a:p>
                      <a:pPr algn="l" fontAlgn="b"/>
                      <a:endParaRPr lang="fr-FR" sz="800" b="0" i="0" u="none" strike="noStrike" dirty="0">
                        <a:latin typeface="+mj-lt"/>
                      </a:endParaRPr>
                    </a:p>
                  </a:txBody>
                  <a:tcPr marL="6127" marR="6127" marT="612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9pPr>
                    </a:lstStyle>
                    <a:p>
                      <a:pPr algn="l" fontAlgn="b"/>
                      <a:endParaRPr lang="fr-FR" sz="800" b="0" i="0" u="none" strike="noStrike" dirty="0">
                        <a:latin typeface="+mj-lt"/>
                      </a:endParaRPr>
                    </a:p>
                  </a:txBody>
                  <a:tcPr marL="6127" marR="6127" marT="612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9pPr>
                    </a:lstStyle>
                    <a:p>
                      <a:pPr algn="ctr" fontAlgn="b"/>
                      <a:endParaRPr lang="fr-FR" sz="800" b="0" i="0" u="none" strike="noStrike">
                        <a:latin typeface="+mj-lt"/>
                      </a:endParaRPr>
                    </a:p>
                  </a:txBody>
                  <a:tcPr marL="6127" marR="6127" marT="612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9pPr>
                    </a:lstStyle>
                    <a:p>
                      <a:pPr algn="ctr" fontAlgn="b"/>
                      <a:endParaRPr lang="fr-FR" sz="800" b="0" i="0" u="none" strike="noStrike">
                        <a:latin typeface="+mj-lt"/>
                      </a:endParaRPr>
                    </a:p>
                  </a:txBody>
                  <a:tcPr marL="6127" marR="6127" marT="612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9pPr>
                    </a:lstStyle>
                    <a:p>
                      <a:pPr algn="ctr" fontAlgn="b"/>
                      <a:endParaRPr lang="fr-FR" sz="800" b="0" i="0" u="none" strike="noStrike" dirty="0">
                        <a:latin typeface="+mj-lt"/>
                      </a:endParaRPr>
                    </a:p>
                  </a:txBody>
                  <a:tcPr marL="6127" marR="6127" marT="612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9pPr>
                    </a:lstStyle>
                    <a:p>
                      <a:pPr algn="ctr" fontAlgn="b"/>
                      <a:endParaRPr lang="fr-FR" sz="800" b="0" i="0" u="none" strike="noStrike">
                        <a:latin typeface="+mj-lt"/>
                      </a:endParaRPr>
                    </a:p>
                  </a:txBody>
                  <a:tcPr marL="6127" marR="6127" marT="612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5"/>
                  </a:ext>
                </a:extLst>
              </a:tr>
              <a:tr h="26346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9pPr>
                    </a:lstStyle>
                    <a:p>
                      <a:pPr algn="l" fontAlgn="b"/>
                      <a:r>
                        <a:rPr lang="en-US" sz="800" b="0" i="0" u="none" strike="noStrike">
                          <a:latin typeface="+mj-lt"/>
                        </a:rPr>
                        <a:t>Actual income tax provision (credit) in package</a:t>
                      </a:r>
                    </a:p>
                  </a:txBody>
                  <a:tcPr marL="6127" marR="6127" marT="6127" marB="0" anchor="b">
                    <a:lnL>
                      <a:noFill/>
                    </a:lnL>
                    <a:lnR>
                      <a:noFill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9pPr>
                    </a:lstStyle>
                    <a:p>
                      <a:pPr algn="l" fontAlgn="b"/>
                      <a:endParaRPr lang="fr-FR" sz="800" b="0" i="0" u="none" strike="noStrike" dirty="0">
                        <a:latin typeface="+mj-lt"/>
                      </a:endParaRPr>
                    </a:p>
                  </a:txBody>
                  <a:tcPr marL="6127" marR="6127" marT="6127" marB="0" anchor="b">
                    <a:lnL>
                      <a:noFill/>
                    </a:lnL>
                    <a:lnR>
                      <a:noFill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9pPr>
                    </a:lstStyle>
                    <a:p>
                      <a:pPr algn="l" fontAlgn="b"/>
                      <a:r>
                        <a:rPr lang="fr-FR" sz="800" b="0" i="0" u="none" strike="noStrike" dirty="0">
                          <a:latin typeface="+mj-lt"/>
                        </a:rPr>
                        <a:t> </a:t>
                      </a:r>
                    </a:p>
                  </a:txBody>
                  <a:tcPr marL="6127" marR="6127" marT="6127" marB="0" anchor="b">
                    <a:lnL>
                      <a:noFill/>
                    </a:lnL>
                    <a:lnR>
                      <a:noFill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9pPr>
                    </a:lstStyle>
                    <a:p>
                      <a:pPr algn="ctr" fontAlgn="b"/>
                      <a:r>
                        <a:rPr lang="fr-FR" sz="800" b="0" i="0" u="none" strike="noStrike">
                          <a:latin typeface="+mj-lt"/>
                        </a:rPr>
                        <a:t> </a:t>
                      </a:r>
                    </a:p>
                  </a:txBody>
                  <a:tcPr marL="6127" marR="6127" marT="6127" marB="0" anchor="b">
                    <a:lnL>
                      <a:noFill/>
                    </a:lnL>
                    <a:lnR>
                      <a:noFill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9pPr>
                    </a:lstStyle>
                    <a:p>
                      <a:pPr algn="ctr" fontAlgn="b"/>
                      <a:r>
                        <a:rPr lang="fr-FR" sz="800" b="1" i="0" u="none" strike="noStrike">
                          <a:latin typeface="+mj-lt"/>
                        </a:rPr>
                        <a:t>Total</a:t>
                      </a:r>
                    </a:p>
                  </a:txBody>
                  <a:tcPr marL="6127" marR="6127" marT="6127" marB="0" anchor="b">
                    <a:lnL>
                      <a:noFill/>
                    </a:lnL>
                    <a:lnR>
                      <a:noFill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9pPr>
                    </a:lstStyle>
                    <a:p>
                      <a:pPr algn="ctr" fontAlgn="b"/>
                      <a:r>
                        <a:rPr lang="fr-FR" sz="800" b="0" i="0" u="none" strike="noStrike" dirty="0">
                          <a:latin typeface="+mj-lt"/>
                        </a:rPr>
                        <a:t> </a:t>
                      </a:r>
                    </a:p>
                  </a:txBody>
                  <a:tcPr marL="6127" marR="6127" marT="6127" marB="0" anchor="b">
                    <a:lnL>
                      <a:noFill/>
                    </a:lnL>
                    <a:lnR>
                      <a:noFill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9pPr>
                    </a:lstStyle>
                    <a:p>
                      <a:pPr algn="ctr" fontAlgn="b"/>
                      <a:r>
                        <a:rPr lang="fr-FR" sz="800" b="0" i="0" u="none" strike="noStrike">
                          <a:latin typeface="+mj-lt"/>
                        </a:rPr>
                        <a:t> </a:t>
                      </a:r>
                    </a:p>
                  </a:txBody>
                  <a:tcPr marL="6127" marR="6127" marT="6127" marB="0" anchor="b">
                    <a:lnL>
                      <a:noFill/>
                    </a:lnL>
                    <a:lnR>
                      <a:noFill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6"/>
                  </a:ext>
                </a:extLst>
              </a:tr>
              <a:tr h="12867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9pPr>
                    </a:lstStyle>
                    <a:p>
                      <a:pPr algn="l" fontAlgn="b"/>
                      <a:endParaRPr lang="fr-FR" sz="800" b="0" i="0" u="none" strike="noStrike">
                        <a:latin typeface="+mj-lt"/>
                      </a:endParaRPr>
                    </a:p>
                  </a:txBody>
                  <a:tcPr marL="6127" marR="6127" marT="6127" marB="0" anchor="b">
                    <a:lnL>
                      <a:noFill/>
                    </a:lnL>
                    <a:lnR>
                      <a:noFill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9pPr>
                    </a:lstStyle>
                    <a:p>
                      <a:pPr algn="l" fontAlgn="b"/>
                      <a:endParaRPr lang="fr-FR" sz="800" b="0" i="0" u="none" strike="noStrike" dirty="0">
                        <a:latin typeface="+mj-lt"/>
                      </a:endParaRPr>
                    </a:p>
                  </a:txBody>
                  <a:tcPr marL="6127" marR="6127" marT="6127" marB="0" anchor="b">
                    <a:lnL>
                      <a:noFill/>
                    </a:lnL>
                    <a:lnR>
                      <a:noFill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9pPr>
                    </a:lstStyle>
                    <a:p>
                      <a:pPr algn="l" fontAlgn="b"/>
                      <a:endParaRPr lang="fr-FR" sz="800" b="0" i="0" u="none" strike="noStrike" dirty="0">
                        <a:latin typeface="+mj-lt"/>
                      </a:endParaRPr>
                    </a:p>
                  </a:txBody>
                  <a:tcPr marL="6127" marR="6127" marT="6127" marB="0" anchor="b">
                    <a:lnL>
                      <a:noFill/>
                    </a:lnL>
                    <a:lnR>
                      <a:noFill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9pPr>
                    </a:lstStyle>
                    <a:p>
                      <a:pPr algn="ctr" fontAlgn="b"/>
                      <a:endParaRPr lang="fr-FR" sz="800" b="0" i="0" u="none" strike="noStrike">
                        <a:latin typeface="+mj-lt"/>
                      </a:endParaRPr>
                    </a:p>
                  </a:txBody>
                  <a:tcPr marL="6127" marR="6127" marT="6127" marB="0" anchor="b">
                    <a:lnL>
                      <a:noFill/>
                    </a:lnL>
                    <a:lnR>
                      <a:noFill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9pPr>
                    </a:lstStyle>
                    <a:p>
                      <a:pPr algn="ctr" fontAlgn="b"/>
                      <a:endParaRPr lang="fr-FR" sz="800" b="0" i="0" u="none" strike="noStrike">
                        <a:latin typeface="+mj-lt"/>
                      </a:endParaRPr>
                    </a:p>
                  </a:txBody>
                  <a:tcPr marL="6127" marR="6127" marT="6127" marB="0" anchor="b">
                    <a:lnL>
                      <a:noFill/>
                    </a:lnL>
                    <a:lnR>
                      <a:noFill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9pPr>
                    </a:lstStyle>
                    <a:p>
                      <a:pPr algn="ctr" fontAlgn="b"/>
                      <a:endParaRPr lang="fr-FR" sz="800" b="0" i="0" u="none" strike="noStrike" dirty="0">
                        <a:latin typeface="+mj-lt"/>
                      </a:endParaRPr>
                    </a:p>
                  </a:txBody>
                  <a:tcPr marL="6127" marR="6127" marT="6127" marB="0" anchor="b">
                    <a:lnL>
                      <a:noFill/>
                    </a:lnL>
                    <a:lnR>
                      <a:noFill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9pPr>
                    </a:lstStyle>
                    <a:p>
                      <a:pPr algn="ctr" fontAlgn="b"/>
                      <a:endParaRPr lang="fr-FR" sz="800" b="0" i="0" u="none" strike="noStrike" dirty="0">
                        <a:latin typeface="+mj-lt"/>
                      </a:endParaRPr>
                    </a:p>
                  </a:txBody>
                  <a:tcPr marL="6127" marR="6127" marT="6127" marB="0" anchor="b">
                    <a:lnL>
                      <a:noFill/>
                    </a:lnL>
                    <a:lnR>
                      <a:noFill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7"/>
                  </a:ext>
                </a:extLst>
              </a:tr>
              <a:tr h="12376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9pPr>
                    </a:lstStyle>
                    <a:p>
                      <a:pPr algn="l" fontAlgn="b"/>
                      <a:r>
                        <a:rPr lang="en-US" sz="800" b="0" i="0" u="none" strike="noStrike">
                          <a:latin typeface="+mj-lt"/>
                        </a:rPr>
                        <a:t>Current tax provision (credit) in package</a:t>
                      </a:r>
                    </a:p>
                  </a:txBody>
                  <a:tcPr marL="6127" marR="6127" marT="612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9pPr>
                    </a:lstStyle>
                    <a:p>
                      <a:pPr algn="l" fontAlgn="b"/>
                      <a:endParaRPr lang="fr-FR" sz="800" b="0" i="0" u="none" strike="noStrike" dirty="0">
                        <a:latin typeface="+mj-lt"/>
                      </a:endParaRPr>
                    </a:p>
                  </a:txBody>
                  <a:tcPr marL="6127" marR="6127" marT="612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9pPr>
                    </a:lstStyle>
                    <a:p>
                      <a:pPr algn="l" fontAlgn="b"/>
                      <a:endParaRPr lang="fr-FR" sz="800" b="0" i="0" u="none" strike="noStrike" dirty="0">
                        <a:latin typeface="+mj-lt"/>
                      </a:endParaRPr>
                    </a:p>
                  </a:txBody>
                  <a:tcPr marL="6127" marR="6127" marT="612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9pPr>
                    </a:lstStyle>
                    <a:p>
                      <a:pPr algn="ctr" fontAlgn="b"/>
                      <a:endParaRPr lang="fr-FR" sz="800" b="0" i="0" u="none" strike="noStrike">
                        <a:latin typeface="+mj-lt"/>
                      </a:endParaRPr>
                    </a:p>
                  </a:txBody>
                  <a:tcPr marL="6127" marR="6127" marT="612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9pPr>
                    </a:lstStyle>
                    <a:p>
                      <a:pPr algn="ctr" fontAlgn="b"/>
                      <a:endParaRPr lang="fr-FR" sz="800" b="0" i="0" u="none" strike="noStrike">
                        <a:latin typeface="+mj-lt"/>
                      </a:endParaRPr>
                    </a:p>
                  </a:txBody>
                  <a:tcPr marL="6127" marR="6127" marT="612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9pPr>
                    </a:lstStyle>
                    <a:p>
                      <a:pPr algn="ctr" fontAlgn="b"/>
                      <a:endParaRPr lang="fr-FR" sz="800" b="0" i="0" u="none" strike="noStrike">
                        <a:latin typeface="+mj-lt"/>
                      </a:endParaRPr>
                    </a:p>
                  </a:txBody>
                  <a:tcPr marL="6127" marR="6127" marT="612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9pPr>
                    </a:lstStyle>
                    <a:p>
                      <a:pPr algn="ctr" fontAlgn="b"/>
                      <a:endParaRPr lang="fr-FR" sz="800" b="0" i="0" u="none" strike="noStrike">
                        <a:latin typeface="+mj-lt"/>
                      </a:endParaRPr>
                    </a:p>
                  </a:txBody>
                  <a:tcPr marL="6127" marR="6127" marT="612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8"/>
                  </a:ext>
                </a:extLst>
              </a:tr>
              <a:tr h="12376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9pPr>
                    </a:lstStyle>
                    <a:p>
                      <a:pPr algn="l" fontAlgn="b"/>
                      <a:r>
                        <a:rPr lang="en-US" sz="800" b="0" i="0" u="none" strike="noStrike">
                          <a:latin typeface="+mj-lt"/>
                        </a:rPr>
                        <a:t>Deferred tax provision (credit) in package</a:t>
                      </a:r>
                    </a:p>
                  </a:txBody>
                  <a:tcPr marL="6127" marR="6127" marT="612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9pPr>
                    </a:lstStyle>
                    <a:p>
                      <a:pPr algn="l" fontAlgn="b"/>
                      <a:endParaRPr lang="fr-FR" sz="800" b="0" i="0" u="none" strike="noStrike" dirty="0">
                        <a:latin typeface="+mj-lt"/>
                      </a:endParaRPr>
                    </a:p>
                  </a:txBody>
                  <a:tcPr marL="6127" marR="6127" marT="612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9pPr>
                    </a:lstStyle>
                    <a:p>
                      <a:pPr algn="l" fontAlgn="b"/>
                      <a:endParaRPr lang="fr-FR" sz="800" b="0" i="0" u="none" strike="noStrike" dirty="0">
                        <a:latin typeface="+mj-lt"/>
                      </a:endParaRPr>
                    </a:p>
                  </a:txBody>
                  <a:tcPr marL="6127" marR="6127" marT="612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9pPr>
                    </a:lstStyle>
                    <a:p>
                      <a:pPr algn="ctr" fontAlgn="b"/>
                      <a:endParaRPr lang="fr-FR" sz="800" b="0" i="0" u="none" strike="noStrike">
                        <a:latin typeface="+mj-lt"/>
                      </a:endParaRPr>
                    </a:p>
                  </a:txBody>
                  <a:tcPr marL="6127" marR="6127" marT="612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9pPr>
                    </a:lstStyle>
                    <a:p>
                      <a:pPr algn="ctr" fontAlgn="b"/>
                      <a:endParaRPr lang="fr-FR" sz="800" b="0" i="0" u="none" strike="noStrike">
                        <a:latin typeface="+mj-lt"/>
                      </a:endParaRPr>
                    </a:p>
                  </a:txBody>
                  <a:tcPr marL="6127" marR="6127" marT="612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9pPr>
                    </a:lstStyle>
                    <a:p>
                      <a:pPr algn="ctr" fontAlgn="b"/>
                      <a:endParaRPr lang="fr-FR" sz="800" b="0" i="0" u="none" strike="noStrike">
                        <a:latin typeface="+mj-lt"/>
                      </a:endParaRPr>
                    </a:p>
                  </a:txBody>
                  <a:tcPr marL="6127" marR="6127" marT="612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9pPr>
                    </a:lstStyle>
                    <a:p>
                      <a:pPr algn="ctr" fontAlgn="b"/>
                      <a:endParaRPr lang="fr-FR" sz="800" b="0" i="0" u="none" strike="noStrike" dirty="0">
                        <a:latin typeface="+mj-lt"/>
                      </a:endParaRPr>
                    </a:p>
                  </a:txBody>
                  <a:tcPr marL="6127" marR="6127" marT="612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9"/>
                  </a:ext>
                </a:extLst>
              </a:tr>
              <a:tr h="13479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9pPr>
                    </a:lstStyle>
                    <a:p>
                      <a:pPr algn="l" fontAlgn="b"/>
                      <a:endParaRPr lang="fr-FR" sz="800" b="0" i="0" u="none" strike="noStrike">
                        <a:latin typeface="+mj-lt"/>
                      </a:endParaRPr>
                    </a:p>
                  </a:txBody>
                  <a:tcPr marL="6127" marR="6127" marT="612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9pPr>
                    </a:lstStyle>
                    <a:p>
                      <a:pPr algn="l" fontAlgn="b"/>
                      <a:endParaRPr lang="fr-FR" sz="800" b="0" i="0" u="none" strike="noStrike" dirty="0">
                        <a:latin typeface="+mj-lt"/>
                      </a:endParaRPr>
                    </a:p>
                  </a:txBody>
                  <a:tcPr marL="6127" marR="6127" marT="612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9pPr>
                    </a:lstStyle>
                    <a:p>
                      <a:pPr algn="l" fontAlgn="b"/>
                      <a:endParaRPr lang="fr-FR" sz="800" b="0" i="0" u="none" strike="noStrike" dirty="0">
                        <a:latin typeface="+mj-lt"/>
                      </a:endParaRPr>
                    </a:p>
                  </a:txBody>
                  <a:tcPr marL="6127" marR="6127" marT="612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9pPr>
                    </a:lstStyle>
                    <a:p>
                      <a:pPr algn="ctr" fontAlgn="b"/>
                      <a:endParaRPr lang="fr-FR" sz="800" b="0" i="0" u="none" strike="noStrike">
                        <a:latin typeface="+mj-lt"/>
                      </a:endParaRPr>
                    </a:p>
                  </a:txBody>
                  <a:tcPr marL="6127" marR="6127" marT="612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9pPr>
                    </a:lstStyle>
                    <a:p>
                      <a:pPr algn="ctr" fontAlgn="b"/>
                      <a:r>
                        <a:rPr lang="fr-FR" sz="800" b="1" i="0" u="none" strike="noStrike" dirty="0">
                          <a:latin typeface="+mj-lt"/>
                        </a:rPr>
                        <a:t>Total</a:t>
                      </a:r>
                    </a:p>
                  </a:txBody>
                  <a:tcPr marL="6127" marR="6127" marT="612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9pPr>
                    </a:lstStyle>
                    <a:p>
                      <a:pPr algn="ctr" fontAlgn="b"/>
                      <a:r>
                        <a:rPr lang="fr-FR" sz="800" b="0" i="0" u="none" strike="noStrike">
                          <a:latin typeface="+mj-lt"/>
                        </a:rPr>
                        <a:t>0 </a:t>
                      </a:r>
                    </a:p>
                  </a:txBody>
                  <a:tcPr marL="6127" marR="6127" marT="612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9pPr>
                    </a:lstStyle>
                    <a:p>
                      <a:pPr algn="ctr" fontAlgn="b"/>
                      <a:endParaRPr lang="fr-FR" sz="800" b="0" i="0" u="none" strike="noStrike" dirty="0">
                        <a:latin typeface="+mj-lt"/>
                      </a:endParaRPr>
                    </a:p>
                  </a:txBody>
                  <a:tcPr marL="6127" marR="6127" marT="612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30"/>
                  </a:ext>
                </a:extLst>
              </a:tr>
              <a:tr h="13479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9pPr>
                    </a:lstStyle>
                    <a:p>
                      <a:pPr algn="l" fontAlgn="b"/>
                      <a:endParaRPr lang="fr-FR" sz="800" b="0" i="0" u="none" strike="noStrike">
                        <a:latin typeface="+mj-lt"/>
                      </a:endParaRPr>
                    </a:p>
                  </a:txBody>
                  <a:tcPr marL="6127" marR="6127" marT="612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9pPr>
                    </a:lstStyle>
                    <a:p>
                      <a:pPr algn="l" fontAlgn="b"/>
                      <a:endParaRPr lang="fr-FR" sz="800" b="0" i="0" u="none" strike="noStrike" dirty="0">
                        <a:latin typeface="+mj-lt"/>
                      </a:endParaRPr>
                    </a:p>
                  </a:txBody>
                  <a:tcPr marL="6127" marR="6127" marT="612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9pPr>
                    </a:lstStyle>
                    <a:p>
                      <a:pPr algn="l" fontAlgn="b"/>
                      <a:endParaRPr lang="fr-FR" sz="800" b="0" i="0" u="none" strike="noStrike" dirty="0">
                        <a:latin typeface="+mj-lt"/>
                      </a:endParaRPr>
                    </a:p>
                  </a:txBody>
                  <a:tcPr marL="6127" marR="6127" marT="612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9pPr>
                    </a:lstStyle>
                    <a:p>
                      <a:pPr algn="ctr" fontAlgn="b"/>
                      <a:endParaRPr lang="fr-FR" sz="800" b="0" i="0" u="none" strike="noStrike">
                        <a:latin typeface="+mj-lt"/>
                      </a:endParaRPr>
                    </a:p>
                  </a:txBody>
                  <a:tcPr marL="6127" marR="6127" marT="612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9pPr>
                    </a:lstStyle>
                    <a:p>
                      <a:pPr algn="ctr" fontAlgn="b"/>
                      <a:r>
                        <a:rPr lang="fr-FR" sz="800" b="1" i="0" u="none" strike="noStrike" dirty="0">
                          <a:latin typeface="+mj-lt"/>
                        </a:rPr>
                        <a:t>Check</a:t>
                      </a:r>
                    </a:p>
                  </a:txBody>
                  <a:tcPr marL="6127" marR="6127" marT="612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9pPr>
                    </a:lstStyle>
                    <a:p>
                      <a:pPr algn="ctr" fontAlgn="b"/>
                      <a:endParaRPr lang="fr-FR" sz="800" b="0" i="0" u="none" strike="noStrike" dirty="0">
                        <a:latin typeface="+mj-lt"/>
                      </a:endParaRPr>
                    </a:p>
                  </a:txBody>
                  <a:tcPr marL="6127" marR="6127" marT="6127" marB="0" anchor="b">
                    <a:lnL>
                      <a:noFill/>
                    </a:lnL>
                    <a:lnR>
                      <a:noFill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</a:defRPr>
                      </a:lvl9pPr>
                    </a:lstStyle>
                    <a:p>
                      <a:pPr algn="ctr" fontAlgn="b"/>
                      <a:endParaRPr lang="fr-FR" sz="800" b="0" i="0" u="none" strike="noStrike" dirty="0">
                        <a:latin typeface="+mj-lt"/>
                      </a:endParaRPr>
                    </a:p>
                  </a:txBody>
                  <a:tcPr marL="6127" marR="6127" marT="612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31"/>
                  </a:ext>
                </a:extLst>
              </a:tr>
            </a:tbl>
          </a:graphicData>
        </a:graphic>
      </p:graphicFrame>
      <p:sp>
        <p:nvSpPr>
          <p:cNvPr id="17" name="Espace réservé du contenu 2"/>
          <p:cNvSpPr txBox="1">
            <a:spLocks/>
          </p:cNvSpPr>
          <p:nvPr/>
        </p:nvSpPr>
        <p:spPr>
          <a:xfrm>
            <a:off x="6454137" y="900482"/>
            <a:ext cx="2251101" cy="497780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fr-FR" sz="1050" b="1" i="1" dirty="0" err="1">
                <a:solidFill>
                  <a:srgbClr val="FF0000"/>
                </a:solidFill>
                <a:latin typeface="+mj-lt"/>
                <a:cs typeface="Calibri" panose="020F0502020204030204" pitchFamily="34" charset="0"/>
              </a:rPr>
              <a:t>From</a:t>
            </a:r>
            <a:r>
              <a:rPr lang="fr-FR" sz="1050" b="1" i="1" dirty="0">
                <a:solidFill>
                  <a:srgbClr val="FF0000"/>
                </a:solidFill>
                <a:latin typeface="+mj-lt"/>
                <a:cs typeface="Calibri" panose="020F0502020204030204" pitchFamily="34" charset="0"/>
              </a:rPr>
              <a:t> the Faurecia report OB6001N </a:t>
            </a:r>
            <a:r>
              <a:rPr lang="fr-FR" sz="1050" b="1" i="1" dirty="0" err="1">
                <a:solidFill>
                  <a:srgbClr val="FF0000"/>
                </a:solidFill>
                <a:latin typeface="+mj-lt"/>
                <a:cs typeface="Calibri" panose="020F0502020204030204" pitchFamily="34" charset="0"/>
              </a:rPr>
              <a:t>please</a:t>
            </a:r>
            <a:r>
              <a:rPr lang="fr-FR" sz="1050" b="1" i="1" dirty="0">
                <a:solidFill>
                  <a:srgbClr val="FF0000"/>
                </a:solidFill>
                <a:latin typeface="+mj-lt"/>
                <a:cs typeface="Calibri" panose="020F0502020204030204" pitchFamily="34" charset="0"/>
              </a:rPr>
              <a:t> </a:t>
            </a:r>
            <a:r>
              <a:rPr lang="fr-FR" sz="1050" b="1" i="1" dirty="0" err="1">
                <a:solidFill>
                  <a:srgbClr val="FF0000"/>
                </a:solidFill>
                <a:latin typeface="+mj-lt"/>
                <a:cs typeface="Calibri" panose="020F0502020204030204" pitchFamily="34" charset="0"/>
              </a:rPr>
              <a:t>complete</a:t>
            </a:r>
            <a:r>
              <a:rPr lang="fr-FR" sz="1050" b="1" i="1" dirty="0">
                <a:solidFill>
                  <a:srgbClr val="FF0000"/>
                </a:solidFill>
                <a:latin typeface="+mj-lt"/>
                <a:cs typeface="Calibri" panose="020F0502020204030204" pitchFamily="34" charset="0"/>
              </a:rPr>
              <a:t> the table and </a:t>
            </a:r>
            <a:r>
              <a:rPr lang="fr-FR" sz="1050" b="1" i="1" dirty="0" err="1">
                <a:solidFill>
                  <a:srgbClr val="FF0000"/>
                </a:solidFill>
                <a:latin typeface="+mj-lt"/>
                <a:cs typeface="Calibri" panose="020F0502020204030204" pitchFamily="34" charset="0"/>
              </a:rPr>
              <a:t>attached</a:t>
            </a:r>
            <a:r>
              <a:rPr lang="fr-FR" sz="1050" b="1" i="1" dirty="0">
                <a:solidFill>
                  <a:srgbClr val="FF0000"/>
                </a:solidFill>
                <a:latin typeface="+mj-lt"/>
                <a:cs typeface="Calibri" panose="020F0502020204030204" pitchFamily="34" charset="0"/>
              </a:rPr>
              <a:t> the report to </a:t>
            </a:r>
            <a:r>
              <a:rPr lang="fr-FR" sz="1050" b="1" i="1" dirty="0" err="1">
                <a:solidFill>
                  <a:srgbClr val="FF0000"/>
                </a:solidFill>
                <a:latin typeface="+mj-lt"/>
                <a:cs typeface="Calibri" panose="020F0502020204030204" pitchFamily="34" charset="0"/>
              </a:rPr>
              <a:t>your</a:t>
            </a:r>
            <a:r>
              <a:rPr lang="fr-FR" sz="1050" b="1" i="1" dirty="0">
                <a:solidFill>
                  <a:srgbClr val="FF0000"/>
                </a:solidFill>
                <a:latin typeface="+mj-lt"/>
                <a:cs typeface="Calibri" panose="020F0502020204030204" pitchFamily="34" charset="0"/>
              </a:rPr>
              <a:t> SRM and mention </a:t>
            </a:r>
            <a:r>
              <a:rPr lang="fr-FR" sz="1050" b="1" i="1" dirty="0" err="1">
                <a:solidFill>
                  <a:srgbClr val="FF0000"/>
                </a:solidFill>
                <a:latin typeface="+mj-lt"/>
                <a:cs typeface="Calibri" panose="020F0502020204030204" pitchFamily="34" charset="0"/>
              </a:rPr>
              <a:t>below</a:t>
            </a:r>
            <a:r>
              <a:rPr lang="fr-FR" sz="1050" b="1" i="1" dirty="0">
                <a:solidFill>
                  <a:srgbClr val="FF0000"/>
                </a:solidFill>
                <a:latin typeface="+mj-lt"/>
                <a:cs typeface="Calibri" panose="020F0502020204030204" pitchFamily="34" charset="0"/>
              </a:rPr>
              <a:t> major impacts,</a:t>
            </a:r>
            <a:endParaRPr lang="en-US" sz="1050" dirty="0">
              <a:solidFill>
                <a:srgbClr val="FF0000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902559504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Thèm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hème 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22080</TotalTime>
  <Words>4015</Words>
  <Application>Microsoft Office PowerPoint</Application>
  <PresentationFormat>화면 슬라이드 쇼(4:3)</PresentationFormat>
  <Paragraphs>1941</Paragraphs>
  <Slides>24</Slides>
  <Notes>16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24</vt:i4>
      </vt:variant>
    </vt:vector>
  </HeadingPairs>
  <TitlesOfParts>
    <vt:vector size="32" baseType="lpstr">
      <vt:lpstr>EYInterstate</vt:lpstr>
      <vt:lpstr>EYInterstate Light</vt:lpstr>
      <vt:lpstr>Arial</vt:lpstr>
      <vt:lpstr>Arial Narrow</vt:lpstr>
      <vt:lpstr>Calibri</vt:lpstr>
      <vt:lpstr>Calibri Light</vt:lpstr>
      <vt:lpstr>Wingdings 3</vt:lpstr>
      <vt:lpstr>Thème Office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PwC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Claire LESCURE</dc:creator>
  <cp:lastModifiedBy>Hyun-Ho Shim</cp:lastModifiedBy>
  <cp:revision>1332</cp:revision>
  <cp:lastPrinted>2019-04-18T12:49:46Z</cp:lastPrinted>
  <dcterms:created xsi:type="dcterms:W3CDTF">2017-06-16T10:47:33Z</dcterms:created>
  <dcterms:modified xsi:type="dcterms:W3CDTF">2025-01-13T06:29:50Z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WppReportDate">
    <vt:lpwstr/>
  </property>
  <property fmtid="{D5CDD505-2E9C-101B-9397-08002B2CF9AE}" pid="3" name="WppReportVersion">
    <vt:lpwstr>Version 1.0</vt:lpwstr>
  </property>
  <property fmtid="{D5CDD505-2E9C-101B-9397-08002B2CF9AE}" pid="4" name="WppReportDraft">
    <vt:lpwstr>(Draft)</vt:lpwstr>
  </property>
  <property fmtid="{D5CDD505-2E9C-101B-9397-08002B2CF9AE}" pid="5" name="WppReportCurrencySymbol">
    <vt:lpwstr>€</vt:lpwstr>
  </property>
  <property fmtid="{D5CDD505-2E9C-101B-9397-08002B2CF9AE}" pid="6" name="WppReportDashboardTitleText">
    <vt:lpwstr>Dashboard</vt:lpwstr>
  </property>
  <property fmtid="{D5CDD505-2E9C-101B-9397-08002B2CF9AE}" pid="7" name="WppReportShortPageNumberFormat">
    <vt:lpwstr>Page &lt;#&gt;</vt:lpwstr>
  </property>
  <property fmtid="{D5CDD505-2E9C-101B-9397-08002B2CF9AE}" pid="8" name="WppReportLongPageNumberFormat">
    <vt:lpwstr>Page &lt;#&gt; of &lt;PageCount&gt;</vt:lpwstr>
  </property>
  <property fmtid="{D5CDD505-2E9C-101B-9397-08002B2CF9AE}" pid="9" name="WppReportTocTitleText">
    <vt:lpwstr>Table of contents</vt:lpwstr>
  </property>
  <property fmtid="{D5CDD505-2E9C-101B-9397-08002B2CF9AE}" pid="10" name="WppReportIsTocUpdateRecommended">
    <vt:bool>true</vt:bool>
  </property>
  <property fmtid="{D5CDD505-2E9C-101B-9397-08002B2CF9AE}" pid="11" name="WppReportPropertiesLastWrittenToDocument">
    <vt:filetime>2019-03-13T10:45:44Z</vt:filetime>
  </property>
</Properties>
</file>