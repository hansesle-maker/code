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18"/>
  </p:notesMasterIdLst>
  <p:handoutMasterIdLst>
    <p:handoutMasterId r:id="rId19"/>
  </p:handoutMasterIdLst>
  <p:sldIdLst>
    <p:sldId id="427" r:id="rId25"/>
    <p:sldId id="428" r:id="rId26"/>
    <p:sldId id="429" r:id="rId27"/>
    <p:sldId id="430" r:id="rId28"/>
    <p:sldId id="431" r:id="rId29"/>
    <p:sldId id="432" r:id="rId30"/>
    <p:sldId id="433" r:id="rId31"/>
    <p:sldId id="434" r:id="rId32"/>
    <p:sldId id="435" r:id="rId33"/>
    <p:sldId id="436" r:id="rId34"/>
    <p:sldId id="437" r:id="rId35"/>
    <p:sldId id="438" r:id="rId36"/>
    <p:sldId id="439" r:id="rId37"/>
    <p:sldId id="440" r:id="rId38"/>
    <p:sldId id="441" r:id="rId39"/>
    <p:sldId id="442" r:id="rId40"/>
    <p:sldId id="443" r:id="rId41"/>
    <p:sldId id="444" r:id="rId42"/>
    <p:sldId id="445" r:id="rId43"/>
    <p:sldId id="446" r:id="rId44"/>
    <p:sldId id="447" r:id="rId45"/>
    <p:sldId id="448" r:id="rId46"/>
    <p:sldId id="449" r:id="rId47"/>
    <p:sldId id="450" r:id="rId48"/>
    <p:sldId id="451" r:id="rId49"/>
    <p:sldId id="452"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5282A"/>
    <a:srgbClr val="FFFFFF"/>
    <a:srgbClr val="B1B3B3"/>
    <a:srgbClr val="E1E7E9"/>
    <a:srgbClr val="F4F4F4"/>
    <a:srgbClr val="994878"/>
    <a:srgbClr val="E66C73"/>
    <a:srgbClr val="4AA7B7"/>
    <a:srgbClr val="27B093"/>
    <a:srgbClr val="71132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E62243-DB81-4F2B-8BA0-3D780BD629CF}" v="4" dt="2026-02-13T04:43:47.012"/>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86410" autoAdjust="0"/>
  </p:normalViewPr>
  <p:slideViewPr>
    <p:cSldViewPr snapToGrid="0" showGuides="1">
      <p:cViewPr varScale="1">
        <p:scale>
          <a:sx n="101" d="100"/>
          <a:sy n="101" d="100"/>
        </p:scale>
        <p:origin x="1260" y="312"/>
      </p:cViewPr>
      <p:guideLst>
        <p:guide pos="3840"/>
        <p:guide orient="horz" pos="2160"/>
      </p:guideLst>
    </p:cSldViewPr>
  </p:slideViewPr>
  <p:outlineViewPr>
    <p:cViewPr>
      <p:scale>
        <a:sx n="33" d="100"/>
        <a:sy n="33" d="100"/>
      </p:scale>
      <p:origin x="0" y="-132500"/>
    </p:cViewPr>
  </p:outlineViewPr>
  <p:notesTextViewPr>
    <p:cViewPr>
      <p:scale>
        <a:sx n="1" d="1"/>
        <a:sy n="1" d="1"/>
      </p:scale>
      <p:origin x="0" y="0"/>
    </p:cViewPr>
  </p:notesTextViewPr>
  <p:sorterViewPr>
    <p:cViewPr varScale="1">
      <p:scale>
        <a:sx n="1" d="1"/>
        <a:sy n="1" d="1"/>
      </p:scale>
      <p:origin x="0" y="-19376"/>
    </p:cViewPr>
  </p:sorterViewPr>
  <p:notesViewPr>
    <p:cSldViewPr snapToGrid="0" showGuides="1">
      <p:cViewPr varScale="1">
        <p:scale>
          <a:sx n="117" d="100"/>
          <a:sy n="117" d="100"/>
        </p:scale>
        <p:origin x="4184" y="88"/>
      </p:cViewPr>
      <p:guideLst/>
    </p:cSldViewPr>
  </p:notesViewPr>
  <p:gridSpacing cx="72008" cy="72008"/>
</p:viewPr>
</file>

<file path=ppt/_rels/presentation.xml.rels><?xml version="1.0" encoding="utf-8"?><Relationships xmlns="http://schemas.openxmlformats.org/package/2006/relationships"><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2" Type="http://schemas.openxmlformats.org/officeDocument/2006/relationships/customXml" Target="../customXml/item2.xml"/><Relationship Id="rId20" Type="http://schemas.openxmlformats.org/officeDocument/2006/relationships/presProps" Target="presProps.xml"/><Relationship Id="rId1" Type="http://schemas.openxmlformats.org/officeDocument/2006/relationships/customXml" Target="../customXml/item1.xml"/><Relationship Id="rId24" Type="http://schemas.microsoft.com/office/2015/10/relationships/revisionInfo" Target="revisionInfo.xml"/><Relationship Id="rId23" Type="http://schemas.openxmlformats.org/officeDocument/2006/relationships/tableStyles" Target="tableStyles.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22" Type="http://schemas.openxmlformats.org/officeDocument/2006/relationships/theme" Target="theme/theme1.xml"/>  <Relationship Id="rId25" Type="http://schemas.openxmlformats.org/officeDocument/2006/relationships/slide" Target="slides/slide14.xml"/>
  <Relationship Id="rId26" Type="http://schemas.openxmlformats.org/officeDocument/2006/relationships/slide" Target="slides/slide15.xml"/>
  <Relationship Id="rId27" Type="http://schemas.openxmlformats.org/officeDocument/2006/relationships/slide" Target="slides/slide16.xml"/>
  <Relationship Id="rId28" Type="http://schemas.openxmlformats.org/officeDocument/2006/relationships/slide" Target="slides/slide17.xml"/>
  <Relationship Id="rId29" Type="http://schemas.openxmlformats.org/officeDocument/2006/relationships/slide" Target="slides/slide18.xml"/>
  <Relationship Id="rId30" Type="http://schemas.openxmlformats.org/officeDocument/2006/relationships/slide" Target="slides/slide19.xml"/>
  <Relationship Id="rId31" Type="http://schemas.openxmlformats.org/officeDocument/2006/relationships/slide" Target="slides/slide20.xml"/>
  <Relationship Id="rId32" Type="http://schemas.openxmlformats.org/officeDocument/2006/relationships/slide" Target="slides/slide21.xml"/>
  <Relationship Id="rId33" Type="http://schemas.openxmlformats.org/officeDocument/2006/relationships/slide" Target="slides/slide22.xml"/>
  <Relationship Id="rId34" Type="http://schemas.openxmlformats.org/officeDocument/2006/relationships/slide" Target="slides/slide23.xml"/>
  <Relationship Id="rId35" Type="http://schemas.openxmlformats.org/officeDocument/2006/relationships/slide" Target="slides/slide24.xml"/>
  <Relationship Id="rId36" Type="http://schemas.openxmlformats.org/officeDocument/2006/relationships/slide" Target="slides/slide25.xml"/>
  <Relationship Id="rId37" Type="http://schemas.openxmlformats.org/officeDocument/2006/relationships/slide" Target="slides/slide26.xml"/>
  <Relationship Id="rId38" Type="http://schemas.openxmlformats.org/officeDocument/2006/relationships/slide" Target="slides/slide27.xml"/>
  <Relationship Id="rId39" Type="http://schemas.openxmlformats.org/officeDocument/2006/relationships/slide" Target="slides/slide28.xml"/>
  <Relationship Id="rId40" Type="http://schemas.openxmlformats.org/officeDocument/2006/relationships/slide" Target="slides/slide29.xml"/>
  <Relationship Id="rId41" Type="http://schemas.openxmlformats.org/officeDocument/2006/relationships/slide" Target="slides/slide30.xml"/>
  <Relationship Id="rId42" Type="http://schemas.openxmlformats.org/officeDocument/2006/relationships/slide" Target="slides/slide31.xml"/>
  <Relationship Id="rId43" Type="http://schemas.openxmlformats.org/officeDocument/2006/relationships/slide" Target="slides/slide32.xml"/>
  <Relationship Id="rId44" Type="http://schemas.openxmlformats.org/officeDocument/2006/relationships/slide" Target="slides/slide33.xml"/>
  <Relationship Id="rId45" Type="http://schemas.openxmlformats.org/officeDocument/2006/relationships/slide" Target="slides/slide34.xml"/>
  <Relationship Id="rId46" Type="http://schemas.openxmlformats.org/officeDocument/2006/relationships/slide" Target="slides/slide35.xml"/>
  <Relationship Id="rId47" Type="http://schemas.openxmlformats.org/officeDocument/2006/relationships/slide" Target="slides/slide36.xml"/>
  <Relationship Id="rId48" Type="http://schemas.openxmlformats.org/officeDocument/2006/relationships/slide" Target="slides/slide37.xml"/>
  <Relationship Id="rId49" Type="http://schemas.openxmlformats.org/officeDocument/2006/relationships/slide" Target="slides/slide38.xml"/>
  <Relationship Id="rId50" Type="http://schemas.openxmlformats.org/officeDocument/2006/relationships/slide" Target="slides/slide39.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29AAD27-AF1E-3276-F64C-E24DD3C9D69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C106297-72C7-0612-7611-073947367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371FD7E-7453-412A-9D9A-67248BEACEC8}" type="datetimeFigureOut">
              <a:rPr lang="en-GB" smtClean="0"/>
              <a:t>13/02/2026</a:t>
            </a:fld>
            <a:endParaRPr lang="en-GB"/>
          </a:p>
        </p:txBody>
      </p:sp>
      <p:sp>
        <p:nvSpPr>
          <p:cNvPr id="4" name="Footer Placeholder 3">
            <a:extLst>
              <a:ext uri="{FF2B5EF4-FFF2-40B4-BE49-F238E27FC236}">
                <a16:creationId xmlns:a16="http://schemas.microsoft.com/office/drawing/2014/main" id="{657DE446-DCD2-634E-6E7D-2B6CC9FA702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96E7209B-478D-FE16-8BB2-A67423D4E2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D9B360-C774-49CA-835F-5A4EA981ED5F}" type="slidenum">
              <a:rPr lang="en-GB" smtClean="0"/>
              <a:t>‹#›</a:t>
            </a:fld>
            <a:endParaRPr lang="en-GB"/>
          </a:p>
        </p:txBody>
      </p:sp>
    </p:spTree>
    <p:extLst>
      <p:ext uri="{BB962C8B-B14F-4D97-AF65-F5344CB8AC3E}">
        <p14:creationId xmlns:p14="http://schemas.microsoft.com/office/powerpoint/2010/main" val="3705006220"/>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735BF1-9CEA-4069-8947-4F338367F244}" type="datetimeFigureOut">
              <a:rPr lang="en-GB" smtClean="0"/>
              <a:t>13/02/2026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5652C4-8DDB-4486-9682-2F893AB472AD}" type="slidenum">
              <a:rPr lang="en-GB" smtClean="0"/>
              <a:t>‹#›</a:t>
            </a:fld>
            <a:endParaRPr lang="en-GB"/>
          </a:p>
        </p:txBody>
      </p:sp>
    </p:spTree>
    <p:extLst>
      <p:ext uri="{BB962C8B-B14F-4D97-AF65-F5344CB8AC3E}">
        <p14:creationId xmlns:p14="http://schemas.microsoft.com/office/powerpoint/2010/main" val="1592522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7" Type="http://schemas.openxmlformats.org/officeDocument/2006/relationships/image" Target="../media/image1.wmf"/><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1.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2.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B710B25-B2C0-3F46-B52E-75BA79935CD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65792447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true blu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6" name="TextBox 5">
            <a:extLst>
              <a:ext uri="{FF2B5EF4-FFF2-40B4-BE49-F238E27FC236}">
                <a16:creationId xmlns:a16="http://schemas.microsoft.com/office/drawing/2014/main" id="{26222313-E3E8-84C6-CDEF-E7A032ED39D8}"/>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60F69E8D-6EAC-C523-6D4F-3094B23E4F76}"/>
              </a:ext>
            </a:extLst>
          </p:cNvPr>
          <p:cNvGrpSpPr>
            <a:grpSpLocks noChangeAspect="1"/>
          </p:cNvGrpSpPr>
          <p:nvPr userDrawn="1"/>
        </p:nvGrpSpPr>
        <p:grpSpPr>
          <a:xfrm>
            <a:off x="10811963" y="6165234"/>
            <a:ext cx="1080000" cy="453765"/>
            <a:chOff x="1721984" y="2257682"/>
            <a:chExt cx="7247953" cy="3045250"/>
          </a:xfrm>
        </p:grpSpPr>
        <p:sp>
          <p:nvSpPr>
            <p:cNvPr id="5" name="Freihandform: Form 5">
              <a:extLst>
                <a:ext uri="{FF2B5EF4-FFF2-40B4-BE49-F238E27FC236}">
                  <a16:creationId xmlns:a16="http://schemas.microsoft.com/office/drawing/2014/main" id="{D8CCB833-4D26-6E84-CE0F-C6BDD9B360C0}"/>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7" name="Freihandform: Form 7">
              <a:extLst>
                <a:ext uri="{FF2B5EF4-FFF2-40B4-BE49-F238E27FC236}">
                  <a16:creationId xmlns:a16="http://schemas.microsoft.com/office/drawing/2014/main" id="{9D8EF2C9-8044-BF09-7BD5-FC217FC1C36E}"/>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0" name="Freihandform: Form 9">
              <a:extLst>
                <a:ext uri="{FF2B5EF4-FFF2-40B4-BE49-F238E27FC236}">
                  <a16:creationId xmlns:a16="http://schemas.microsoft.com/office/drawing/2014/main" id="{75FFCF2B-36B1-E9E1-6454-DB5E5126A9E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00229647-D500-1E99-3780-98C950CF9967}"/>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DDE1FB26-5287-29DD-E7CC-ABE2C5D8018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42DD437E-E732-01DD-B08A-1341F623BBD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59FA363-CC0C-311C-EA78-2108E0955EE7}"/>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3B195A27-C87C-7EC1-7C14-C3570A80454C}"/>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6BE52C14-7F20-D492-16F6-2D84936494E8}"/>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626B4A82-B6AC-8F7D-83D9-176D53BF040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B8292199-BEAB-8239-63A7-61A652179638}"/>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D53D3ECF-A5D3-63EF-497C-800A752A791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360976100"/>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variant - white backgrou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pic>
        <p:nvPicPr>
          <p:cNvPr id="3" name="Grafik 11">
            <a:extLst>
              <a:ext uri="{FF2B5EF4-FFF2-40B4-BE49-F238E27FC236}">
                <a16:creationId xmlns:a16="http://schemas.microsoft.com/office/drawing/2014/main" id="{DA62EBDD-3F1D-BDF5-7D5C-3E151E11F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76670873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variant - true blue">
    <p:bg>
      <p:bgPr>
        <a:solidFill>
          <a:schemeClr val="tx2"/>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3" name="TextBox 2">
            <a:extLst>
              <a:ext uri="{FF2B5EF4-FFF2-40B4-BE49-F238E27FC236}">
                <a16:creationId xmlns:a16="http://schemas.microsoft.com/office/drawing/2014/main" id="{4924260D-B98A-A7AC-8629-E5E4D4C12FBE}"/>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1AF32F02-02F7-7E2F-5EB2-8AB49F02BAA2}"/>
              </a:ext>
            </a:extLst>
          </p:cNvPr>
          <p:cNvGrpSpPr>
            <a:grpSpLocks noChangeAspect="1"/>
          </p:cNvGrpSpPr>
          <p:nvPr userDrawn="1"/>
        </p:nvGrpSpPr>
        <p:grpSpPr>
          <a:xfrm>
            <a:off x="10811963" y="6165234"/>
            <a:ext cx="1080000" cy="453765"/>
            <a:chOff x="1721984" y="2257682"/>
            <a:chExt cx="7247953" cy="3045250"/>
          </a:xfrm>
        </p:grpSpPr>
        <p:sp>
          <p:nvSpPr>
            <p:cNvPr id="6" name="Freihandform: Form 5">
              <a:extLst>
                <a:ext uri="{FF2B5EF4-FFF2-40B4-BE49-F238E27FC236}">
                  <a16:creationId xmlns:a16="http://schemas.microsoft.com/office/drawing/2014/main" id="{A82DF783-91BE-0B1F-594A-9BDE3AF2DF72}"/>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8" name="Freihandform: Form 7">
              <a:extLst>
                <a:ext uri="{FF2B5EF4-FFF2-40B4-BE49-F238E27FC236}">
                  <a16:creationId xmlns:a16="http://schemas.microsoft.com/office/drawing/2014/main" id="{1AE181C6-DF38-3B6A-29DC-0514335710F2}"/>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1" name="Freihandform: Form 9">
              <a:extLst>
                <a:ext uri="{FF2B5EF4-FFF2-40B4-BE49-F238E27FC236}">
                  <a16:creationId xmlns:a16="http://schemas.microsoft.com/office/drawing/2014/main" id="{E556F98D-CF46-F45C-E725-39D4E969D18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DCF7744F-4013-AE3D-AB78-30AC2E721431}"/>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6A8A9A34-FDAA-EC87-ACBD-70DC545FFE68}"/>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F21FE68C-6E55-1882-29D0-5AD972D282CF}"/>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AF80BBB-B267-E2A9-3663-7BD9FF7A9BAE}"/>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F1986D68-2438-502E-D769-1DE90DD71CE3}"/>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72F092E1-B34B-E0A7-83B2-6614DDCDA1D6}"/>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FE398BD6-EEC5-437E-E55B-C14762FB717A}"/>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31917980-0094-58C0-0C63-F1A3B14E61A7}"/>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03E446E7-776A-D674-727D-F1DC674B357D}"/>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30310002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1 (shape)">
    <p:spTree>
      <p:nvGrpSpPr>
        <p:cNvPr id="1" name=""/>
        <p:cNvGrpSpPr/>
        <p:nvPr/>
      </p:nvGrpSpPr>
      <p:grpSpPr>
        <a:xfrm>
          <a:off x="0" y="0"/>
          <a:ext cx="0" cy="0"/>
          <a:chOff x="0" y="0"/>
          <a:chExt cx="0" cy="0"/>
        </a:xfrm>
      </p:grpSpPr>
      <p:pic>
        <p:nvPicPr>
          <p:cNvPr id="9" name="Picture 8" descr="A city skyline at night&#10;&#10;Description automatically generated">
            <a:extLst>
              <a:ext uri="{FF2B5EF4-FFF2-40B4-BE49-F238E27FC236}">
                <a16:creationId xmlns:a16="http://schemas.microsoft.com/office/drawing/2014/main" id="{8023B119-BF14-0762-F3EF-63C9E5A9C2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3FAD8840-041F-A3D8-1509-F5EADE485C8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BAB0110-FF2C-8EE6-125B-57AD0A5D3266}"/>
              </a:ext>
            </a:extLst>
          </p:cNvPr>
          <p:cNvSpPr/>
          <p:nvPr userDrawn="1"/>
        </p:nvSpPr>
        <p:spPr>
          <a:xfrm>
            <a:off x="25215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6321216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2 (shape)">
    <p:spTree>
      <p:nvGrpSpPr>
        <p:cNvPr id="1" name=""/>
        <p:cNvGrpSpPr/>
        <p:nvPr/>
      </p:nvGrpSpPr>
      <p:grpSpPr>
        <a:xfrm>
          <a:off x="0" y="0"/>
          <a:ext cx="0" cy="0"/>
          <a:chOff x="0" y="0"/>
          <a:chExt cx="0" cy="0"/>
        </a:xfrm>
      </p:grpSpPr>
      <p:pic>
        <p:nvPicPr>
          <p:cNvPr id="9" name="Picture 8" descr="A road with a yellow car on it&#10;&#10;Description automatically generated">
            <a:extLst>
              <a:ext uri="{FF2B5EF4-FFF2-40B4-BE49-F238E27FC236}">
                <a16:creationId xmlns:a16="http://schemas.microsoft.com/office/drawing/2014/main" id="{6DD5C5F7-2A1C-8F92-7E7A-AD378379D6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13235"/>
            <a:ext cx="11581200" cy="3877165"/>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6BDED7B-DD3A-263E-B8E2-C2EEEA63C33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14" name="Supergraphic - shape">
            <a:extLst>
              <a:ext uri="{FF2B5EF4-FFF2-40B4-BE49-F238E27FC236}">
                <a16:creationId xmlns:a16="http://schemas.microsoft.com/office/drawing/2014/main" id="{13D132C5-29D3-C65F-52CB-42679B23D596}"/>
              </a:ext>
            </a:extLst>
          </p:cNvPr>
          <p:cNvSpPr/>
          <p:nvPr userDrawn="1"/>
        </p:nvSpPr>
        <p:spPr>
          <a:xfrm>
            <a:off x="29736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849648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3 (shape)">
    <p:spTree>
      <p:nvGrpSpPr>
        <p:cNvPr id="1" name=""/>
        <p:cNvGrpSpPr/>
        <p:nvPr/>
      </p:nvGrpSpPr>
      <p:grpSpPr>
        <a:xfrm>
          <a:off x="0" y="0"/>
          <a:ext cx="0" cy="0"/>
          <a:chOff x="0" y="0"/>
          <a:chExt cx="0" cy="0"/>
        </a:xfrm>
      </p:grpSpPr>
      <p:pic>
        <p:nvPicPr>
          <p:cNvPr id="12" name="Picture 11" descr="A close up of a building&#10;&#10;Description automatically generated">
            <a:extLst>
              <a:ext uri="{FF2B5EF4-FFF2-40B4-BE49-F238E27FC236}">
                <a16:creationId xmlns:a16="http://schemas.microsoft.com/office/drawing/2014/main" id="{4B64D943-7426-9A0C-37E7-D0300DE75A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2004A3E1-9766-D2A9-53F4-1AEC39F0809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CF91860-6C86-705F-9C02-E037FF5EF9E3}"/>
              </a:ext>
            </a:extLst>
          </p:cNvPr>
          <p:cNvSpPr/>
          <p:nvPr userDrawn="1"/>
        </p:nvSpPr>
        <p:spPr>
          <a:xfrm>
            <a:off x="5941209" y="314369"/>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700267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4 (shape)">
    <p:spTree>
      <p:nvGrpSpPr>
        <p:cNvPr id="1" name=""/>
        <p:cNvGrpSpPr/>
        <p:nvPr/>
      </p:nvGrpSpPr>
      <p:grpSpPr>
        <a:xfrm>
          <a:off x="0" y="0"/>
          <a:ext cx="0" cy="0"/>
          <a:chOff x="0" y="0"/>
          <a:chExt cx="0" cy="0"/>
        </a:xfrm>
      </p:grpSpPr>
      <p:pic>
        <p:nvPicPr>
          <p:cNvPr id="9" name="Picture 8" descr="A person looking up to the sky&#10;&#10;Description automatically generated">
            <a:extLst>
              <a:ext uri="{FF2B5EF4-FFF2-40B4-BE49-F238E27FC236}">
                <a16:creationId xmlns:a16="http://schemas.microsoft.com/office/drawing/2014/main" id="{41C57A33-9F00-B0BB-DC5D-FF8CB1EBE9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5954B60F-7996-FE11-B73E-1414D95F6F8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5" name="Supergraphic - shape">
            <a:extLst>
              <a:ext uri="{FF2B5EF4-FFF2-40B4-BE49-F238E27FC236}">
                <a16:creationId xmlns:a16="http://schemas.microsoft.com/office/drawing/2014/main" id="{C45D0F22-A111-12FA-7F9B-384BF395E0A1}"/>
              </a:ext>
            </a:extLst>
          </p:cNvPr>
          <p:cNvSpPr/>
          <p:nvPr userDrawn="1"/>
        </p:nvSpPr>
        <p:spPr>
          <a:xfrm>
            <a:off x="3360601" y="306000"/>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1614494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5 (image)">
    <p:bg>
      <p:bgPr>
        <a:solidFill>
          <a:schemeClr val="tx2"/>
        </a:solidFill>
        <a:effectLst/>
      </p:bgPr>
    </p:bg>
    <p:spTree>
      <p:nvGrpSpPr>
        <p:cNvPr id="1" name=""/>
        <p:cNvGrpSpPr/>
        <p:nvPr/>
      </p:nvGrpSpPr>
      <p:grpSpPr>
        <a:xfrm>
          <a:off x="0" y="0"/>
          <a:ext cx="0" cy="0"/>
          <a:chOff x="0" y="0"/>
          <a:chExt cx="0" cy="0"/>
        </a:xfrm>
      </p:grpSpPr>
      <p:pic>
        <p:nvPicPr>
          <p:cNvPr id="10" name="Picture 9" descr="A bridge with arches and a body of water&#10;&#10;Description automatically generated">
            <a:extLst>
              <a:ext uri="{FF2B5EF4-FFF2-40B4-BE49-F238E27FC236}">
                <a16:creationId xmlns:a16="http://schemas.microsoft.com/office/drawing/2014/main" id="{9A13D504-A754-8469-21D4-BBB2BAB76E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bg1"/>
                </a:solidFill>
              </a:defRPr>
            </a:lvl1pPr>
          </a:lstStyle>
          <a:p>
            <a:pPr lvl="0"/>
            <a:r>
              <a:rPr lang="en-US" dirty="0"/>
              <a:t>Name, Date, Year</a:t>
            </a:r>
            <a:endParaRPr lang="en-GB" dirty="0"/>
          </a:p>
        </p:txBody>
      </p:sp>
      <p:grpSp>
        <p:nvGrpSpPr>
          <p:cNvPr id="7" name="Gruppieren 4">
            <a:extLst>
              <a:ext uri="{FF2B5EF4-FFF2-40B4-BE49-F238E27FC236}">
                <a16:creationId xmlns:a16="http://schemas.microsoft.com/office/drawing/2014/main" id="{896058C6-59EF-7FF4-FC6F-F9FED024BB3C}"/>
              </a:ext>
            </a:extLst>
          </p:cNvPr>
          <p:cNvGrpSpPr>
            <a:grpSpLocks noChangeAspect="1"/>
          </p:cNvGrpSpPr>
          <p:nvPr userDrawn="1"/>
        </p:nvGrpSpPr>
        <p:grpSpPr>
          <a:xfrm>
            <a:off x="10811963" y="6165234"/>
            <a:ext cx="1080000" cy="453765"/>
            <a:chOff x="1721984" y="2257682"/>
            <a:chExt cx="7247953" cy="3045250"/>
          </a:xfrm>
        </p:grpSpPr>
        <p:sp>
          <p:nvSpPr>
            <p:cNvPr id="8" name="Freihandform: Form 5">
              <a:extLst>
                <a:ext uri="{FF2B5EF4-FFF2-40B4-BE49-F238E27FC236}">
                  <a16:creationId xmlns:a16="http://schemas.microsoft.com/office/drawing/2014/main" id="{F35D3F7C-1E2A-5E1C-BA59-85AFEE7607AB}"/>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9" name="Freihandform: Form 7">
              <a:extLst>
                <a:ext uri="{FF2B5EF4-FFF2-40B4-BE49-F238E27FC236}">
                  <a16:creationId xmlns:a16="http://schemas.microsoft.com/office/drawing/2014/main" id="{602E3AA9-808E-E0E7-18A3-6A189D961178}"/>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2" name="Freihandform: Form 9">
              <a:extLst>
                <a:ext uri="{FF2B5EF4-FFF2-40B4-BE49-F238E27FC236}">
                  <a16:creationId xmlns:a16="http://schemas.microsoft.com/office/drawing/2014/main" id="{C9123806-AB4B-2C2A-0F3E-0E4F98D85578}"/>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3" name="Freihandform: Form 11">
              <a:extLst>
                <a:ext uri="{FF2B5EF4-FFF2-40B4-BE49-F238E27FC236}">
                  <a16:creationId xmlns:a16="http://schemas.microsoft.com/office/drawing/2014/main" id="{41EB2DAB-ACE6-3BBC-F02D-B4945BF49558}"/>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4" name="Freihandform: Form 12">
              <a:extLst>
                <a:ext uri="{FF2B5EF4-FFF2-40B4-BE49-F238E27FC236}">
                  <a16:creationId xmlns:a16="http://schemas.microsoft.com/office/drawing/2014/main" id="{3167F366-62F3-9735-481A-A36AAB4B15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5" name="Freihandform: Form 13">
              <a:extLst>
                <a:ext uri="{FF2B5EF4-FFF2-40B4-BE49-F238E27FC236}">
                  <a16:creationId xmlns:a16="http://schemas.microsoft.com/office/drawing/2014/main" id="{69C920B0-3C6C-3B11-32FC-23FDC2AF68E7}"/>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6" name="Freihandform: Form 14">
              <a:extLst>
                <a:ext uri="{FF2B5EF4-FFF2-40B4-BE49-F238E27FC236}">
                  <a16:creationId xmlns:a16="http://schemas.microsoft.com/office/drawing/2014/main" id="{5B10CF88-A1EA-15AA-8393-69A61075AD9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7" name="Freihandform: Form 15">
              <a:extLst>
                <a:ext uri="{FF2B5EF4-FFF2-40B4-BE49-F238E27FC236}">
                  <a16:creationId xmlns:a16="http://schemas.microsoft.com/office/drawing/2014/main" id="{37DBDD91-7C71-5295-6FBE-4C5334A4C49F}"/>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8" name="Freihandform: Form 16">
              <a:extLst>
                <a:ext uri="{FF2B5EF4-FFF2-40B4-BE49-F238E27FC236}">
                  <a16:creationId xmlns:a16="http://schemas.microsoft.com/office/drawing/2014/main" id="{0C951265-3EB5-5C9C-2173-84E38E5047C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9" name="Freihandform: Form 17">
              <a:extLst>
                <a:ext uri="{FF2B5EF4-FFF2-40B4-BE49-F238E27FC236}">
                  <a16:creationId xmlns:a16="http://schemas.microsoft.com/office/drawing/2014/main" id="{9D70ADE5-F2C3-1B51-8E1C-3F1218919A63}"/>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0" name="Freihandform: Form 18">
              <a:extLst>
                <a:ext uri="{FF2B5EF4-FFF2-40B4-BE49-F238E27FC236}">
                  <a16:creationId xmlns:a16="http://schemas.microsoft.com/office/drawing/2014/main" id="{7C7AB827-C0F9-7C59-1EBB-9EF0B644976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1" name="Freihandform: Form 19">
              <a:extLst>
                <a:ext uri="{FF2B5EF4-FFF2-40B4-BE49-F238E27FC236}">
                  <a16:creationId xmlns:a16="http://schemas.microsoft.com/office/drawing/2014/main" id="{9C59B2AB-0A92-431C-3EBD-0C2A4A6C091E}"/>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4" name="TextBox 3">
            <a:extLst>
              <a:ext uri="{FF2B5EF4-FFF2-40B4-BE49-F238E27FC236}">
                <a16:creationId xmlns:a16="http://schemas.microsoft.com/office/drawing/2014/main" id="{2F23C315-E9D3-E85D-FDA8-A4722F106C10}"/>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6" name="Supergraphic - shape">
            <a:extLst>
              <a:ext uri="{FF2B5EF4-FFF2-40B4-BE49-F238E27FC236}">
                <a16:creationId xmlns:a16="http://schemas.microsoft.com/office/drawing/2014/main" id="{9728FCA0-32CC-388D-0770-807193532C2B}"/>
              </a:ext>
            </a:extLst>
          </p:cNvPr>
          <p:cNvSpPr/>
          <p:nvPr userDrawn="1"/>
        </p:nvSpPr>
        <p:spPr>
          <a:xfrm>
            <a:off x="5770929" y="304800"/>
            <a:ext cx="4138546" cy="3871608"/>
          </a:xfrm>
          <a:prstGeom prst="parallelogram">
            <a:avLst>
              <a:gd name="adj" fmla="val 36136"/>
            </a:avLst>
          </a:prstGeom>
          <a:solidFill>
            <a:schemeClr val="bg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9606491"/>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4361FFC-8E96-EE12-9B5A-F30BC84A0A47}"/>
              </a:ext>
            </a:extLst>
          </p:cNvPr>
          <p:cNvSpPr>
            <a:spLocks noGrp="1"/>
          </p:cNvSpPr>
          <p:nvPr>
            <p:ph type="body" sz="quarter" idx="14"/>
          </p:nvPr>
        </p:nvSpPr>
        <p:spPr>
          <a:xfrm>
            <a:off x="305998" y="1268413"/>
            <a:ext cx="11581199"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419264031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6000" y="306000"/>
            <a:ext cx="56484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6237601" y="305999"/>
            <a:ext cx="5648400" cy="564395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Text Placeholder 6">
            <a:extLst>
              <a:ext uri="{FF2B5EF4-FFF2-40B4-BE49-F238E27FC236}">
                <a16:creationId xmlns:a16="http://schemas.microsoft.com/office/drawing/2014/main" id="{2C271A1C-536E-3E60-3582-8E73B02B9B84}"/>
              </a:ext>
            </a:extLst>
          </p:cNvPr>
          <p:cNvSpPr>
            <a:spLocks noGrp="1"/>
          </p:cNvSpPr>
          <p:nvPr>
            <p:ph type="body" sz="quarter" idx="13"/>
          </p:nvPr>
        </p:nvSpPr>
        <p:spPr>
          <a:xfrm>
            <a:off x="305999" y="1268413"/>
            <a:ext cx="5648400"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70573303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layou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5999" y="306000"/>
            <a:ext cx="115812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dirty="0"/>
              <a:t>Title</a:t>
            </a:r>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D6E4DFDC-8584-AECD-0F9B-87A8C0C63B40}"/>
              </a:ext>
            </a:extLst>
          </p:cNvPr>
          <p:cNvSpPr>
            <a:spLocks noGrp="1"/>
          </p:cNvSpPr>
          <p:nvPr>
            <p:ph type="body" sz="quarter" idx="13"/>
          </p:nvPr>
        </p:nvSpPr>
        <p:spPr>
          <a:xfrm>
            <a:off x="305999" y="3688080"/>
            <a:ext cx="11581200" cy="2261870"/>
          </a:xfrm>
        </p:spPr>
        <p:txBody>
          <a:bodyPr numCol="2" spcCol="288000"/>
          <a:lstStyle>
            <a:lvl1pPr marL="271463" indent="-271463">
              <a:spcAft>
                <a:spcPts val="1200"/>
              </a:spcAft>
              <a:buClr>
                <a:schemeClr val="tx2"/>
              </a:buClr>
              <a:buFont typeface="+mj-lt"/>
              <a:buAutoNum type="arabicPeriod"/>
              <a:defRPr sz="1800"/>
            </a:lvl1pPr>
            <a:lvl2pPr marL="717550" indent="-361950">
              <a:buClr>
                <a:schemeClr val="tx2"/>
              </a:buClr>
              <a:buFont typeface="+mj-lt"/>
              <a:buAutoNum type="arabicPeriod"/>
              <a:defRPr sz="2400"/>
            </a:lvl2pPr>
            <a:lvl3pPr marL="717550" indent="-361950">
              <a:buClr>
                <a:schemeClr val="tx2"/>
              </a:buClr>
              <a:buFont typeface="+mj-lt"/>
              <a:buAutoNum type="arabicPeriod"/>
              <a:defRPr sz="2400"/>
            </a:lvl3pPr>
            <a:lvl4pPr marL="717550" indent="-361950">
              <a:buClr>
                <a:schemeClr val="tx2"/>
              </a:buClr>
              <a:buFont typeface="+mj-lt"/>
              <a:buAutoNum type="arabicPeriod"/>
              <a:defRPr sz="2400"/>
            </a:lvl4pPr>
            <a:lvl5pPr marL="717550" indent="-361950">
              <a:buClr>
                <a:schemeClr val="tx2"/>
              </a:buClr>
              <a:buFont typeface="+mj-lt"/>
              <a:buAutoNum type="arabicPeriod"/>
              <a:defRPr sz="2400"/>
            </a:lvl5pPr>
          </a:lstStyle>
          <a:p>
            <a:pPr lvl="0"/>
            <a:r>
              <a:rPr lang="ko-KR" altLang="en-US"/>
              <a:t>마스터 텍스트 스타일을 편집하려면 클릭</a:t>
            </a:r>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0" y="1260000"/>
            <a:ext cx="12192000" cy="2160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53299068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 supergraphic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Espace réservé pour une image  29">
            <a:extLst>
              <a:ext uri="{FF2B5EF4-FFF2-40B4-BE49-F238E27FC236}">
                <a16:creationId xmlns:a16="http://schemas.microsoft.com/office/drawing/2014/main" id="{1F249D4B-1559-45BB-AF54-7D7EB4A9C65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01931976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86EB2104-720E-E8DA-5ACF-98ECE73EA2D9}"/>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3" name="Espace réservé pour une image  29">
            <a:extLst>
              <a:ext uri="{FF2B5EF4-FFF2-40B4-BE49-F238E27FC236}">
                <a16:creationId xmlns:a16="http://schemas.microsoft.com/office/drawing/2014/main" id="{A2053CF4-0553-4808-5E7B-D60BF81A0C9F}"/>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250534878"/>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944686F2-C507-5C4F-D374-7015F44493E8}"/>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5" name="Espace réservé pour une image  29">
            <a:extLst>
              <a:ext uri="{FF2B5EF4-FFF2-40B4-BE49-F238E27FC236}">
                <a16:creationId xmlns:a16="http://schemas.microsoft.com/office/drawing/2014/main" id="{FA749186-1327-A026-901C-A8DCF556218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370563462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white background">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Tree>
    <p:extLst>
      <p:ext uri="{BB962C8B-B14F-4D97-AF65-F5344CB8AC3E}">
        <p14:creationId xmlns:p14="http://schemas.microsoft.com/office/powerpoint/2010/main" val="21467387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indigo background">
    <p:bg>
      <p:bgPr>
        <a:solidFill>
          <a:schemeClr val="accent3"/>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5D9433A1-C798-63C5-0F11-736B090717E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105653365"/>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true blue background">
    <p:bg>
      <p:bgPr>
        <a:solidFill>
          <a:schemeClr val="tx2"/>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7EEB3325-FA9F-F961-C408-CA2D663ECC82}"/>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30296227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lvl1pPr>
            <a:lvl2pPr>
              <a:defRPr sz="2400"/>
            </a:lvl2pPr>
            <a:lvl3pPr>
              <a:defRPr sz="2400"/>
            </a:lvl3pPr>
            <a:lvl4pPr>
              <a:defRPr sz="2400"/>
            </a:lvl4pPr>
            <a:lvl5pPr>
              <a:defRPr sz="2400"/>
            </a:lvl5pPr>
          </a:lstStyle>
          <a:p>
            <a:pPr lvl="0"/>
            <a:r>
              <a:rPr lang="en-US" dirty="0"/>
              <a:t>Section XX</a:t>
            </a:r>
            <a:endParaRPr lang="en-GB" dirty="0"/>
          </a:p>
        </p:txBody>
      </p:sp>
    </p:spTree>
    <p:extLst>
      <p:ext uri="{BB962C8B-B14F-4D97-AF65-F5344CB8AC3E}">
        <p14:creationId xmlns:p14="http://schemas.microsoft.com/office/powerpoint/2010/main" val="746372785"/>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155FDC82-2799-FF42-DE43-87A47E4814D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4282966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30F88A7D-E20D-9C04-1C87-655FE2CB09F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63230363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3203442184"/>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ternative content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1999"/>
            <a:ext cx="11581200" cy="205836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3930364"/>
            <a:ext cx="12193200" cy="2019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Freeform 15">
            <a:extLst>
              <a:ext uri="{FF2B5EF4-FFF2-40B4-BE49-F238E27FC236}">
                <a16:creationId xmlns:a16="http://schemas.microsoft.com/office/drawing/2014/main" id="{29C4CBDD-B2F4-6DA2-44F3-F538A967B265}"/>
              </a:ext>
            </a:extLst>
          </p:cNvPr>
          <p:cNvSpPr/>
          <p:nvPr userDrawn="1"/>
        </p:nvSpPr>
        <p:spPr>
          <a:xfrm>
            <a:off x="7999036" y="3930364"/>
            <a:ext cx="3019540" cy="2019586"/>
          </a:xfrm>
          <a:custGeom>
            <a:avLst/>
            <a:gdLst>
              <a:gd name="connsiteX0" fmla="*/ 742160 w 3019540"/>
              <a:gd name="connsiteY0" fmla="*/ 0 h 2019586"/>
              <a:gd name="connsiteX1" fmla="*/ 3019540 w 3019540"/>
              <a:gd name="connsiteY1" fmla="*/ 0 h 2019586"/>
              <a:gd name="connsiteX2" fmla="*/ 2277379 w 3019540"/>
              <a:gd name="connsiteY2" fmla="*/ 2019586 h 2019586"/>
              <a:gd name="connsiteX3" fmla="*/ 0 w 3019540"/>
              <a:gd name="connsiteY3" fmla="*/ 2019586 h 2019586"/>
            </a:gdLst>
            <a:ahLst/>
            <a:cxnLst>
              <a:cxn ang="0">
                <a:pos x="connsiteX0" y="connsiteY0"/>
              </a:cxn>
              <a:cxn ang="0">
                <a:pos x="connsiteX1" y="connsiteY1"/>
              </a:cxn>
              <a:cxn ang="0">
                <a:pos x="connsiteX2" y="connsiteY2"/>
              </a:cxn>
              <a:cxn ang="0">
                <a:pos x="connsiteX3" y="connsiteY3"/>
              </a:cxn>
            </a:cxnLst>
            <a:rect l="l" t="t" r="r" b="b"/>
            <a:pathLst>
              <a:path w="3019540" h="2019586">
                <a:moveTo>
                  <a:pt x="742160" y="0"/>
                </a:moveTo>
                <a:lnTo>
                  <a:pt x="3019540" y="0"/>
                </a:lnTo>
                <a:lnTo>
                  <a:pt x="2277379" y="2019586"/>
                </a:lnTo>
                <a:lnTo>
                  <a:pt x="0" y="2019586"/>
                </a:lnTo>
                <a:close/>
              </a:path>
            </a:pathLst>
          </a:custGeom>
          <a:solidFill>
            <a:schemeClr val="bg1">
              <a:alpha val="2451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Tree>
    <p:extLst>
      <p:ext uri="{BB962C8B-B14F-4D97-AF65-F5344CB8AC3E}">
        <p14:creationId xmlns:p14="http://schemas.microsoft.com/office/powerpoint/2010/main" val="82416022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ternative content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61621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4035136"/>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1258888"/>
            <a:ext cx="12193200" cy="216570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396138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1260000"/>
            <a:ext cx="12192000" cy="21690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428355"/>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860355"/>
            <a:ext cx="11581200" cy="137052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38079256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3429000"/>
            <a:ext cx="12192000" cy="2526512"/>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156864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342509005"/>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wo columns - bas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3"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37168096"/>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58888"/>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1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16" name="Text Placeholder 15">
            <a:extLst>
              <a:ext uri="{FF2B5EF4-FFF2-40B4-BE49-F238E27FC236}">
                <a16:creationId xmlns:a16="http://schemas.microsoft.com/office/drawing/2014/main" id="{37F87247-C211-9AF7-A6A0-806395C2060A}"/>
              </a:ext>
            </a:extLst>
          </p:cNvPr>
          <p:cNvSpPr>
            <a:spLocks noGrp="1"/>
          </p:cNvSpPr>
          <p:nvPr>
            <p:ph type="body" sz="quarter" idx="21"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82309636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lumns -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Picture Placeholder 11">
            <a:extLst>
              <a:ext uri="{FF2B5EF4-FFF2-40B4-BE49-F238E27FC236}">
                <a16:creationId xmlns:a16="http://schemas.microsoft.com/office/drawing/2014/main" id="{3C8821C5-A6FB-D49F-DDED-113327453D83}"/>
              </a:ext>
            </a:extLst>
          </p:cNvPr>
          <p:cNvSpPr>
            <a:spLocks noGrp="1"/>
          </p:cNvSpPr>
          <p:nvPr>
            <p:ph type="pic" sz="quarter" idx="18"/>
          </p:nvPr>
        </p:nvSpPr>
        <p:spPr>
          <a:xfrm>
            <a:off x="305999"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4" name="Picture Placeholder 11">
            <a:extLst>
              <a:ext uri="{FF2B5EF4-FFF2-40B4-BE49-F238E27FC236}">
                <a16:creationId xmlns:a16="http://schemas.microsoft.com/office/drawing/2014/main" id="{1137409A-77D2-E7C9-7EDA-FC9F06F8DB9E}"/>
              </a:ext>
            </a:extLst>
          </p:cNvPr>
          <p:cNvSpPr>
            <a:spLocks noGrp="1"/>
          </p:cNvSpPr>
          <p:nvPr>
            <p:ph type="pic" sz="quarter" idx="19"/>
          </p:nvPr>
        </p:nvSpPr>
        <p:spPr>
          <a:xfrm>
            <a:off x="6237601"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24459045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4264781"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8223563"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30645141"/>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57718173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165029375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44000669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our columns with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13019745"/>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291998423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66112710"/>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11584794"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115848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9" name="Content Placeholder 10">
            <a:extLst>
              <a:ext uri="{FF2B5EF4-FFF2-40B4-BE49-F238E27FC236}">
                <a16:creationId xmlns:a16="http://schemas.microsoft.com/office/drawing/2014/main" id="{635868A0-C8FD-A3D7-C412-F83A19CD08B3}"/>
              </a:ext>
            </a:extLst>
          </p:cNvPr>
          <p:cNvSpPr>
            <a:spLocks noGrp="1"/>
          </p:cNvSpPr>
          <p:nvPr>
            <p:ph sz="quarter" idx="15"/>
          </p:nvPr>
        </p:nvSpPr>
        <p:spPr>
          <a:xfrm>
            <a:off x="305999" y="2592000"/>
            <a:ext cx="5648399"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1260000"/>
            <a:ext cx="5648400" cy="46899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29038357"/>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304800"/>
            <a:ext cx="5648400" cy="56451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Tree>
    <p:extLst>
      <p:ext uri="{BB962C8B-B14F-4D97-AF65-F5344CB8AC3E}">
        <p14:creationId xmlns:p14="http://schemas.microsoft.com/office/powerpoint/2010/main" val="342458644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9" name="Espace réservé pour une image  29">
            <a:extLst>
              <a:ext uri="{FF2B5EF4-FFF2-40B4-BE49-F238E27FC236}">
                <a16:creationId xmlns:a16="http://schemas.microsoft.com/office/drawing/2014/main" id="{ED358CFF-706E-64A6-81F1-82F7B43F79A4}"/>
              </a:ext>
            </a:extLst>
          </p:cNvPr>
          <p:cNvSpPr>
            <a:spLocks noGrp="1" noChangeAspect="1"/>
          </p:cNvSpPr>
          <p:nvPr>
            <p:ph type="pic" sz="quarter" idx="21"/>
          </p:nvPr>
        </p:nvSpPr>
        <p:spPr>
          <a:xfrm>
            <a:off x="6387206" y="304800"/>
            <a:ext cx="5498794" cy="5645150"/>
          </a:xfrm>
          <a:prstGeom prst="parallelogram">
            <a:avLst>
              <a:gd name="adj" fmla="val 34601"/>
            </a:avLst>
          </a:prstGeom>
          <a:solidFill>
            <a:schemeClr val="bg1">
              <a:lumMod val="95000"/>
            </a:schemeClr>
          </a:solidFill>
          <a:ln>
            <a:noFill/>
          </a:ln>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336214639"/>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ix block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4221137537"/>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ix block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080330976"/>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09634"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09635"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68416"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68417"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271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27199"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D13B656-6467-C073-C26F-9B2F8CE5D052}"/>
              </a:ext>
            </a:extLst>
          </p:cNvPr>
          <p:cNvSpPr>
            <a:spLocks noGrp="1"/>
          </p:cNvSpPr>
          <p:nvPr>
            <p:ph type="pic" sz="quarter" idx="24"/>
          </p:nvPr>
        </p:nvSpPr>
        <p:spPr>
          <a:xfrm>
            <a:off x="304801" y="19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16" name="Picture Placeholder 14">
            <a:extLst>
              <a:ext uri="{FF2B5EF4-FFF2-40B4-BE49-F238E27FC236}">
                <a16:creationId xmlns:a16="http://schemas.microsoft.com/office/drawing/2014/main" id="{730BD01E-9314-90AA-551D-128BC858C47A}"/>
              </a:ext>
            </a:extLst>
          </p:cNvPr>
          <p:cNvSpPr>
            <a:spLocks noGrp="1"/>
          </p:cNvSpPr>
          <p:nvPr>
            <p:ph type="pic" sz="quarter" idx="25"/>
          </p:nvPr>
        </p:nvSpPr>
        <p:spPr>
          <a:xfrm>
            <a:off x="42635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85CF624A-A380-99FE-C23C-D960C6B51AC7}"/>
              </a:ext>
            </a:extLst>
          </p:cNvPr>
          <p:cNvSpPr>
            <a:spLocks noGrp="1"/>
          </p:cNvSpPr>
          <p:nvPr>
            <p:ph type="pic" sz="quarter" idx="26"/>
          </p:nvPr>
        </p:nvSpPr>
        <p:spPr>
          <a:xfrm>
            <a:off x="822236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4191792385"/>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F0581416-50E1-E82F-8528-2CE457CD0CB0}"/>
              </a:ext>
            </a:extLst>
          </p:cNvPr>
          <p:cNvSpPr>
            <a:spLocks noGrp="1"/>
          </p:cNvSpPr>
          <p:nvPr>
            <p:ph type="pic" sz="quarter" idx="24"/>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8" name="Picture Placeholder 14">
            <a:extLst>
              <a:ext uri="{FF2B5EF4-FFF2-40B4-BE49-F238E27FC236}">
                <a16:creationId xmlns:a16="http://schemas.microsoft.com/office/drawing/2014/main" id="{5E2DCBAF-B731-246B-C848-100C8423D66B}"/>
              </a:ext>
            </a:extLst>
          </p:cNvPr>
          <p:cNvSpPr>
            <a:spLocks noGrp="1"/>
          </p:cNvSpPr>
          <p:nvPr>
            <p:ph type="pic" sz="quarter" idx="25"/>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5" name="Picture Placeholder 14">
            <a:extLst>
              <a:ext uri="{FF2B5EF4-FFF2-40B4-BE49-F238E27FC236}">
                <a16:creationId xmlns:a16="http://schemas.microsoft.com/office/drawing/2014/main" id="{DA4814D1-B27E-08F8-FDF9-168771E12799}"/>
              </a:ext>
            </a:extLst>
          </p:cNvPr>
          <p:cNvSpPr>
            <a:spLocks noGrp="1"/>
          </p:cNvSpPr>
          <p:nvPr>
            <p:ph type="pic" sz="quarter" idx="26"/>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40221564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3831"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3832"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849"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850"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386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386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86439A7-3822-1290-CAC9-BD96F35F8684}"/>
              </a:ext>
            </a:extLst>
          </p:cNvPr>
          <p:cNvSpPr>
            <a:spLocks noGrp="1"/>
          </p:cNvSpPr>
          <p:nvPr>
            <p:ph type="pic" sz="quarter" idx="24"/>
          </p:nvPr>
        </p:nvSpPr>
        <p:spPr>
          <a:xfrm>
            <a:off x="304800"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8881FA82-625B-3A61-C9A7-4B9BB4F3F6E0}"/>
              </a:ext>
            </a:extLst>
          </p:cNvPr>
          <p:cNvSpPr>
            <a:spLocks noGrp="1"/>
          </p:cNvSpPr>
          <p:nvPr>
            <p:ph type="pic" sz="quarter" idx="25"/>
          </p:nvPr>
        </p:nvSpPr>
        <p:spPr>
          <a:xfrm>
            <a:off x="32311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8288754-EC19-10D6-B558-74DB97EA1BE7}"/>
              </a:ext>
            </a:extLst>
          </p:cNvPr>
          <p:cNvSpPr>
            <a:spLocks noGrp="1"/>
          </p:cNvSpPr>
          <p:nvPr>
            <p:ph type="pic" sz="quarter" idx="28"/>
          </p:nvPr>
        </p:nvSpPr>
        <p:spPr>
          <a:xfrm>
            <a:off x="6157886"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D44BD020-479D-FBFB-D346-B67666EB3AEE}"/>
              </a:ext>
            </a:extLst>
          </p:cNvPr>
          <p:cNvSpPr>
            <a:spLocks noGrp="1"/>
          </p:cNvSpPr>
          <p:nvPr>
            <p:ph type="pic" sz="quarter" idx="29"/>
          </p:nvPr>
        </p:nvSpPr>
        <p:spPr>
          <a:xfrm>
            <a:off x="908868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629189387"/>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4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4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12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12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0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0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4799"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48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FA82684E-299D-151D-AC01-7693B8AF2DFC}"/>
              </a:ext>
            </a:extLst>
          </p:cNvPr>
          <p:cNvSpPr>
            <a:spLocks noGrp="1"/>
          </p:cNvSpPr>
          <p:nvPr>
            <p:ph type="pic" sz="quarter" idx="24"/>
          </p:nvPr>
        </p:nvSpPr>
        <p:spPr>
          <a:xfrm>
            <a:off x="304800"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9A680C2D-DE0C-2BE6-C4C1-167AED08BBA8}"/>
              </a:ext>
            </a:extLst>
          </p:cNvPr>
          <p:cNvSpPr>
            <a:spLocks noGrp="1"/>
          </p:cNvSpPr>
          <p:nvPr>
            <p:ph type="pic" sz="quarter" idx="25"/>
          </p:nvPr>
        </p:nvSpPr>
        <p:spPr>
          <a:xfrm>
            <a:off x="32311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9DE299DF-DBF8-3F0A-5C70-620983CABF25}"/>
              </a:ext>
            </a:extLst>
          </p:cNvPr>
          <p:cNvSpPr>
            <a:spLocks noGrp="1"/>
          </p:cNvSpPr>
          <p:nvPr>
            <p:ph type="pic" sz="quarter" idx="28"/>
          </p:nvPr>
        </p:nvSpPr>
        <p:spPr>
          <a:xfrm>
            <a:off x="6157886"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328CB566-8AC7-665C-FAB0-976D393A95D7}"/>
              </a:ext>
            </a:extLst>
          </p:cNvPr>
          <p:cNvSpPr>
            <a:spLocks noGrp="1"/>
          </p:cNvSpPr>
          <p:nvPr>
            <p:ph type="pic" sz="quarter" idx="29"/>
          </p:nvPr>
        </p:nvSpPr>
        <p:spPr>
          <a:xfrm>
            <a:off x="9088687"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226575379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ix block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259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20" name="Picture Placeholder 14">
            <a:extLst>
              <a:ext uri="{FF2B5EF4-FFF2-40B4-BE49-F238E27FC236}">
                <a16:creationId xmlns:a16="http://schemas.microsoft.com/office/drawing/2014/main" id="{9591626B-58F0-DFE6-D291-D1F74A047BE7}"/>
              </a:ext>
            </a:extLst>
          </p:cNvPr>
          <p:cNvSpPr>
            <a:spLocks noGrp="1"/>
          </p:cNvSpPr>
          <p:nvPr>
            <p:ph type="pic" sz="quarter" idx="30"/>
          </p:nvPr>
        </p:nvSpPr>
        <p:spPr>
          <a:xfrm>
            <a:off x="304801" y="1991016"/>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1" name="Picture Placeholder 14">
            <a:extLst>
              <a:ext uri="{FF2B5EF4-FFF2-40B4-BE49-F238E27FC236}">
                <a16:creationId xmlns:a16="http://schemas.microsoft.com/office/drawing/2014/main" id="{419217D5-9389-E4D4-C7C1-076CA234E5B7}"/>
              </a:ext>
            </a:extLst>
          </p:cNvPr>
          <p:cNvSpPr>
            <a:spLocks noGrp="1"/>
          </p:cNvSpPr>
          <p:nvPr>
            <p:ph type="pic" sz="quarter" idx="31"/>
          </p:nvPr>
        </p:nvSpPr>
        <p:spPr>
          <a:xfrm>
            <a:off x="4263584"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ECD36A1E-7B2E-2134-533F-C023B8AFBE3A}"/>
              </a:ext>
            </a:extLst>
          </p:cNvPr>
          <p:cNvSpPr>
            <a:spLocks noGrp="1"/>
          </p:cNvSpPr>
          <p:nvPr>
            <p:ph type="pic" sz="quarter" idx="32"/>
          </p:nvPr>
        </p:nvSpPr>
        <p:spPr>
          <a:xfrm>
            <a:off x="8222367"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3" name="Picture Placeholder 14">
            <a:extLst>
              <a:ext uri="{FF2B5EF4-FFF2-40B4-BE49-F238E27FC236}">
                <a16:creationId xmlns:a16="http://schemas.microsoft.com/office/drawing/2014/main" id="{3AEC8FD1-28A6-3231-B7EC-2C76E3CBF03A}"/>
              </a:ext>
            </a:extLst>
          </p:cNvPr>
          <p:cNvSpPr>
            <a:spLocks noGrp="1"/>
          </p:cNvSpPr>
          <p:nvPr>
            <p:ph type="pic" sz="quarter" idx="33"/>
          </p:nvPr>
        </p:nvSpPr>
        <p:spPr>
          <a:xfrm>
            <a:off x="304801"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A67A67F9-C4E6-257B-32E3-A57F1190942C}"/>
              </a:ext>
            </a:extLst>
          </p:cNvPr>
          <p:cNvSpPr>
            <a:spLocks noGrp="1"/>
          </p:cNvSpPr>
          <p:nvPr>
            <p:ph type="pic" sz="quarter" idx="34"/>
          </p:nvPr>
        </p:nvSpPr>
        <p:spPr>
          <a:xfrm>
            <a:off x="4263584"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5" name="Picture Placeholder 14">
            <a:extLst>
              <a:ext uri="{FF2B5EF4-FFF2-40B4-BE49-F238E27FC236}">
                <a16:creationId xmlns:a16="http://schemas.microsoft.com/office/drawing/2014/main" id="{38AAB764-B8CC-20D4-676B-A928F053992B}"/>
              </a:ext>
            </a:extLst>
          </p:cNvPr>
          <p:cNvSpPr>
            <a:spLocks noGrp="1"/>
          </p:cNvSpPr>
          <p:nvPr>
            <p:ph type="pic" sz="quarter" idx="35"/>
          </p:nvPr>
        </p:nvSpPr>
        <p:spPr>
          <a:xfrm>
            <a:off x="8222367"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743880733"/>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ix block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2BF23F95-2673-FE84-66E7-82097451E463}"/>
              </a:ext>
            </a:extLst>
          </p:cNvPr>
          <p:cNvSpPr>
            <a:spLocks noGrp="1"/>
          </p:cNvSpPr>
          <p:nvPr>
            <p:ph type="pic" sz="quarter" idx="30"/>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0" name="Picture Placeholder 14">
            <a:extLst>
              <a:ext uri="{FF2B5EF4-FFF2-40B4-BE49-F238E27FC236}">
                <a16:creationId xmlns:a16="http://schemas.microsoft.com/office/drawing/2014/main" id="{C7CCFC2C-8E49-1CD8-E77D-05EC46161534}"/>
              </a:ext>
            </a:extLst>
          </p:cNvPr>
          <p:cNvSpPr>
            <a:spLocks noGrp="1"/>
          </p:cNvSpPr>
          <p:nvPr>
            <p:ph type="pic" sz="quarter" idx="31"/>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1" name="Picture Placeholder 14">
            <a:extLst>
              <a:ext uri="{FF2B5EF4-FFF2-40B4-BE49-F238E27FC236}">
                <a16:creationId xmlns:a16="http://schemas.microsoft.com/office/drawing/2014/main" id="{99383212-5E56-5076-CADC-AE74C2E23549}"/>
              </a:ext>
            </a:extLst>
          </p:cNvPr>
          <p:cNvSpPr>
            <a:spLocks noGrp="1"/>
          </p:cNvSpPr>
          <p:nvPr>
            <p:ph type="pic" sz="quarter" idx="32"/>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B23A623D-583C-7275-793F-72445CF17BC5}"/>
              </a:ext>
            </a:extLst>
          </p:cNvPr>
          <p:cNvSpPr>
            <a:spLocks noGrp="1"/>
          </p:cNvSpPr>
          <p:nvPr>
            <p:ph type="pic" sz="quarter" idx="33"/>
          </p:nvPr>
        </p:nvSpPr>
        <p:spPr>
          <a:xfrm>
            <a:off x="304801" y="3502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3" name="Picture Placeholder 14">
            <a:extLst>
              <a:ext uri="{FF2B5EF4-FFF2-40B4-BE49-F238E27FC236}">
                <a16:creationId xmlns:a16="http://schemas.microsoft.com/office/drawing/2014/main" id="{85ECF528-F4CD-11DE-C52B-74C6A0536CB6}"/>
              </a:ext>
            </a:extLst>
          </p:cNvPr>
          <p:cNvSpPr>
            <a:spLocks noGrp="1"/>
          </p:cNvSpPr>
          <p:nvPr>
            <p:ph type="pic" sz="quarter" idx="34"/>
          </p:nvPr>
        </p:nvSpPr>
        <p:spPr>
          <a:xfrm>
            <a:off x="4263584"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770DC091-DD84-E985-38FC-1D5ACA0845A1}"/>
              </a:ext>
            </a:extLst>
          </p:cNvPr>
          <p:cNvSpPr>
            <a:spLocks noGrp="1"/>
          </p:cNvSpPr>
          <p:nvPr>
            <p:ph type="pic" sz="quarter" idx="35"/>
          </p:nvPr>
        </p:nvSpPr>
        <p:spPr>
          <a:xfrm>
            <a:off x="8222367"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325756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AD6B1-3EFA-DC15-FA38-C5DFFE8BD92E}"/>
              </a:ext>
            </a:extLst>
          </p:cNvPr>
          <p:cNvSpPr>
            <a:spLocks noGrp="1"/>
          </p:cNvSpPr>
          <p:nvPr>
            <p:ph type="title"/>
          </p:nvPr>
        </p:nvSpPr>
        <p:spPr>
          <a:xfrm>
            <a:off x="306000" y="2422800"/>
            <a:ext cx="11581200" cy="360000"/>
          </a:xfrm>
        </p:spPr>
        <p:txBody>
          <a:bodyPr anchor="t"/>
          <a:lstStyle/>
          <a:p>
            <a:r>
              <a:rPr lang="ko-KR" altLang="en-US"/>
              <a:t>마스터 제목 스타일 편집</a:t>
            </a:r>
            <a:endParaRPr lang="en-GB" dirty="0"/>
          </a:p>
        </p:txBody>
      </p:sp>
      <p:sp>
        <p:nvSpPr>
          <p:cNvPr id="3" name="Date Placeholder 2">
            <a:extLst>
              <a:ext uri="{FF2B5EF4-FFF2-40B4-BE49-F238E27FC236}">
                <a16:creationId xmlns:a16="http://schemas.microsoft.com/office/drawing/2014/main" id="{84823C6B-F584-EFF0-D4B2-F50D4DEE6D6D}"/>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0E8608B-C9BE-0115-D98A-80D843DB3C2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C8BE60D8-D1AB-0B88-66B3-B28585C5AA28}"/>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A9594359-489A-D8EC-A63B-358473973D9E}"/>
              </a:ext>
            </a:extLst>
          </p:cNvPr>
          <p:cNvSpPr>
            <a:spLocks noGrp="1"/>
          </p:cNvSpPr>
          <p:nvPr>
            <p:ph type="body" sz="quarter" idx="13"/>
          </p:nvPr>
        </p:nvSpPr>
        <p:spPr>
          <a:xfrm>
            <a:off x="304800" y="2869248"/>
            <a:ext cx="11581200" cy="1590675"/>
          </a:xfrm>
        </p:spPr>
        <p:txBody>
          <a:bodyPr anchor="t"/>
          <a:lstStyle>
            <a:lvl1pPr marL="0" indent="0">
              <a:buNone/>
              <a:defRPr sz="3600" b="1"/>
            </a:lvl1pPr>
            <a:lvl2pPr marL="176213" indent="0">
              <a:buNone/>
              <a:defRPr sz="3600" b="1"/>
            </a:lvl2pPr>
            <a:lvl3pPr marL="357188" indent="0">
              <a:buNone/>
              <a:defRPr sz="3600" b="1"/>
            </a:lvl3pPr>
            <a:lvl4pPr marL="534988" indent="0">
              <a:buNone/>
              <a:defRPr sz="3600" b="1"/>
            </a:lvl4pPr>
            <a:lvl5pPr marL="715963" indent="0">
              <a:buNone/>
              <a:defRPr sz="3600" b="1"/>
            </a:lvl5pPr>
          </a:lstStyle>
          <a:p>
            <a:pPr lvl="0"/>
            <a:r>
              <a:rPr lang="ko-KR" altLang="en-US"/>
              <a:t>마스터 텍스트 스타일을 편집하려면 클릭</a:t>
            </a:r>
          </a:p>
        </p:txBody>
      </p:sp>
    </p:spTree>
    <p:extLst>
      <p:ext uri="{BB962C8B-B14F-4D97-AF65-F5344CB8AC3E}">
        <p14:creationId xmlns:p14="http://schemas.microsoft.com/office/powerpoint/2010/main" val="2124327087"/>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7">
            <a:extLst>
              <a:ext uri="{FF2B5EF4-FFF2-40B4-BE49-F238E27FC236}">
                <a16:creationId xmlns:a16="http://schemas.microsoft.com/office/drawing/2014/main" id="{7AC093CF-9094-42B3-E644-4B1D722C8086}"/>
              </a:ext>
            </a:extLst>
          </p:cNvPr>
          <p:cNvSpPr>
            <a:spLocks noGrp="1"/>
          </p:cNvSpPr>
          <p:nvPr>
            <p:ph type="pic" sz="quarter" idx="14"/>
          </p:nvPr>
        </p:nvSpPr>
        <p:spPr>
          <a:xfrm>
            <a:off x="306000" y="1258889"/>
            <a:ext cx="5648400" cy="4691062"/>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p:nvPr>
        </p:nvSpPr>
        <p:spPr>
          <a:xfrm>
            <a:off x="6243563" y="1258888"/>
            <a:ext cx="5648400" cy="4240212"/>
          </a:xfrm>
        </p:spPr>
        <p:txBody>
          <a:bodyPr anchor="t"/>
          <a:lstStyle>
            <a:lvl1pPr marL="157163" indent="-157163">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8" name="Text Placeholder 12">
            <a:extLst>
              <a:ext uri="{FF2B5EF4-FFF2-40B4-BE49-F238E27FC236}">
                <a16:creationId xmlns:a16="http://schemas.microsoft.com/office/drawing/2014/main" id="{DD79567B-BA61-21E3-EB1B-6B95C8E88DE1}"/>
              </a:ext>
            </a:extLst>
          </p:cNvPr>
          <p:cNvSpPr>
            <a:spLocks noGrp="1"/>
          </p:cNvSpPr>
          <p:nvPr>
            <p:ph type="body" sz="quarter" idx="19" hasCustomPrompt="1"/>
          </p:nvPr>
        </p:nvSpPr>
        <p:spPr>
          <a:xfrm>
            <a:off x="6237602" y="5499100"/>
            <a:ext cx="5648398"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40916460"/>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lternative_Quote layout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44ABC-A943-3ED6-C41B-5AFF1F1E01A8}"/>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hasCustomPrompt="1"/>
          </p:nvPr>
        </p:nvSpPr>
        <p:spPr>
          <a:xfrm>
            <a:off x="7997735" y="1260000"/>
            <a:ext cx="3748720" cy="4239100"/>
          </a:xfrm>
        </p:spPr>
        <p:txBody>
          <a:bodyPr/>
          <a:lstStyle>
            <a:lvl1pPr marL="120650" indent="-120650">
              <a:buNone/>
              <a:defRPr sz="2400" b="0"/>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en-US" dirty="0"/>
              <a:t>“Click to edit Master text styles</a:t>
            </a:r>
          </a:p>
        </p:txBody>
      </p:sp>
      <p:sp>
        <p:nvSpPr>
          <p:cNvPr id="8" name="Text Placeholder 8">
            <a:extLst>
              <a:ext uri="{FF2B5EF4-FFF2-40B4-BE49-F238E27FC236}">
                <a16:creationId xmlns:a16="http://schemas.microsoft.com/office/drawing/2014/main" id="{F8DBE469-FA96-A611-CE98-0F2F91BDD651}"/>
              </a:ext>
            </a:extLst>
          </p:cNvPr>
          <p:cNvSpPr>
            <a:spLocks noGrp="1"/>
          </p:cNvSpPr>
          <p:nvPr>
            <p:ph type="body" sz="quarter" idx="14" hasCustomPrompt="1"/>
          </p:nvPr>
        </p:nvSpPr>
        <p:spPr>
          <a:xfrm>
            <a:off x="305997" y="1260000"/>
            <a:ext cx="72000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F390D26B-A5B3-53AF-787D-CA185DA722E3}"/>
              </a:ext>
            </a:extLst>
          </p:cNvPr>
          <p:cNvSpPr>
            <a:spLocks noGrp="1"/>
          </p:cNvSpPr>
          <p:nvPr>
            <p:ph sz="quarter" idx="18"/>
          </p:nvPr>
        </p:nvSpPr>
        <p:spPr>
          <a:xfrm>
            <a:off x="305998" y="1692000"/>
            <a:ext cx="720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pic>
        <p:nvPicPr>
          <p:cNvPr id="10" name="Picture 9" descr="Blue letters on a black background&#10;&#10;Description automatically generated">
            <a:extLst>
              <a:ext uri="{FF2B5EF4-FFF2-40B4-BE49-F238E27FC236}">
                <a16:creationId xmlns:a16="http://schemas.microsoft.com/office/drawing/2014/main" id="{A695A264-93AA-CE06-BF63-CD04C406C7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2" name="Text Placeholder 12">
            <a:extLst>
              <a:ext uri="{FF2B5EF4-FFF2-40B4-BE49-F238E27FC236}">
                <a16:creationId xmlns:a16="http://schemas.microsoft.com/office/drawing/2014/main" id="{29C61118-65C4-E1C5-E036-604CF0B059E8}"/>
              </a:ext>
            </a:extLst>
          </p:cNvPr>
          <p:cNvSpPr>
            <a:spLocks noGrp="1"/>
          </p:cNvSpPr>
          <p:nvPr>
            <p:ph type="body" sz="quarter" idx="19" hasCustomPrompt="1"/>
          </p:nvPr>
        </p:nvSpPr>
        <p:spPr>
          <a:xfrm>
            <a:off x="7997735" y="5499100"/>
            <a:ext cx="3748720"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51509866"/>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lumns with right highligh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9F930D-35CB-01D0-4761-E9A6692624F6}"/>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2FAA43-049E-0EDB-73E3-7ED4429EAC2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BB65ECB-6708-A610-4029-A91BD50C7BF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E33E1FAB-C451-E465-8500-00AEE22D82F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EB4D2BA-FFC1-18C8-F9F3-DBECD87DE18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5F5A8C2-A4E5-0B25-09CD-E49B8737675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pic>
        <p:nvPicPr>
          <p:cNvPr id="8" name="Picture 7" descr="Blue letters on a black background&#10;&#10;Description automatically generated">
            <a:extLst>
              <a:ext uri="{FF2B5EF4-FFF2-40B4-BE49-F238E27FC236}">
                <a16:creationId xmlns:a16="http://schemas.microsoft.com/office/drawing/2014/main" id="{C31CD433-4D6D-8EAB-439A-3F97BE7866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1" name="Content Placeholder 9">
            <a:extLst>
              <a:ext uri="{FF2B5EF4-FFF2-40B4-BE49-F238E27FC236}">
                <a16:creationId xmlns:a16="http://schemas.microsoft.com/office/drawing/2014/main" id="{92E247C2-C9E4-83C5-F04A-E5EA50CF0DAD}"/>
              </a:ext>
            </a:extLst>
          </p:cNvPr>
          <p:cNvSpPr>
            <a:spLocks noGrp="1"/>
          </p:cNvSpPr>
          <p:nvPr>
            <p:ph sz="quarter" idx="15"/>
          </p:nvPr>
        </p:nvSpPr>
        <p:spPr>
          <a:xfrm>
            <a:off x="7876131" y="1258888"/>
            <a:ext cx="4011069" cy="4691062"/>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4" name="Text Placeholder 8">
            <a:extLst>
              <a:ext uri="{FF2B5EF4-FFF2-40B4-BE49-F238E27FC236}">
                <a16:creationId xmlns:a16="http://schemas.microsoft.com/office/drawing/2014/main" id="{DFC463AB-4BD2-49D5-767F-54FC8EA65B16}"/>
              </a:ext>
            </a:extLst>
          </p:cNvPr>
          <p:cNvSpPr>
            <a:spLocks noGrp="1"/>
          </p:cNvSpPr>
          <p:nvPr>
            <p:ph type="body" sz="quarter" idx="14" hasCustomPrompt="1"/>
          </p:nvPr>
        </p:nvSpPr>
        <p:spPr>
          <a:xfrm>
            <a:off x="305997" y="1260000"/>
            <a:ext cx="695840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271815FF-0161-8C49-AB75-C04614AA1BB6}"/>
              </a:ext>
            </a:extLst>
          </p:cNvPr>
          <p:cNvSpPr>
            <a:spLocks noGrp="1"/>
          </p:cNvSpPr>
          <p:nvPr>
            <p:ph sz="quarter" idx="18"/>
          </p:nvPr>
        </p:nvSpPr>
        <p:spPr>
          <a:xfrm>
            <a:off x="305998" y="1692000"/>
            <a:ext cx="6958402"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700108508"/>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6774D-425F-4BC0-2A89-D4FFAD2D27AF}"/>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ECD2A33-8FED-378E-7CD7-17B365A7EE5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4581165-1F65-1CE8-67D1-821449075D5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BEC5859-8CFE-67C8-1FC8-66D5E71B983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D3BA3C3-C7E2-5DDF-A5DF-F098DEE555F9}"/>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1330838445"/>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15" name="Text Placeholder 14">
            <a:extLst>
              <a:ext uri="{FF2B5EF4-FFF2-40B4-BE49-F238E27FC236}">
                <a16:creationId xmlns:a16="http://schemas.microsoft.com/office/drawing/2014/main" id="{672A2661-F0D3-EA1A-1204-1F0DD202305C}"/>
              </a:ext>
            </a:extLst>
          </p:cNvPr>
          <p:cNvSpPr>
            <a:spLocks noGrp="1"/>
          </p:cNvSpPr>
          <p:nvPr>
            <p:ph type="body" sz="quarter" idx="14" hasCustomPrompt="1"/>
          </p:nvPr>
        </p:nvSpPr>
        <p:spPr>
          <a:xfrm>
            <a:off x="306000" y="1260000"/>
            <a:ext cx="3276128" cy="360000"/>
          </a:xfrm>
        </p:spPr>
        <p:txBody>
          <a:bodyPr anchor="t"/>
          <a:lstStyle>
            <a:lvl1pPr marL="0" indent="0">
              <a:buNone/>
              <a:defRPr/>
            </a:lvl1pPr>
          </a:lstStyle>
          <a:p>
            <a:pPr lvl="0"/>
            <a:r>
              <a:rPr lang="en-US" dirty="0"/>
              <a:t>Our team</a:t>
            </a:r>
            <a:endParaRPr lang="en-GB" dirty="0"/>
          </a:p>
        </p:txBody>
      </p:sp>
      <p:sp>
        <p:nvSpPr>
          <p:cNvPr id="17" name="Text Placeholder 16">
            <a:extLst>
              <a:ext uri="{FF2B5EF4-FFF2-40B4-BE49-F238E27FC236}">
                <a16:creationId xmlns:a16="http://schemas.microsoft.com/office/drawing/2014/main" id="{06AAF7BD-B690-19AE-85DD-D64C07178B94}"/>
              </a:ext>
            </a:extLst>
          </p:cNvPr>
          <p:cNvSpPr>
            <a:spLocks noGrp="1"/>
          </p:cNvSpPr>
          <p:nvPr>
            <p:ph type="body" sz="quarter" idx="15"/>
          </p:nvPr>
        </p:nvSpPr>
        <p:spPr>
          <a:xfrm>
            <a:off x="304800" y="1692000"/>
            <a:ext cx="3277200" cy="1501775"/>
          </a:xfrm>
        </p:spPr>
        <p:txBody>
          <a:bodyPr anchor="t"/>
          <a:lstStyle>
            <a:lvl1pPr marL="0" indent="0">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20" name="Picture Placeholder 19">
            <a:extLst>
              <a:ext uri="{FF2B5EF4-FFF2-40B4-BE49-F238E27FC236}">
                <a16:creationId xmlns:a16="http://schemas.microsoft.com/office/drawing/2014/main" id="{8D23521A-6BFC-0413-2BE0-68637565C490}"/>
              </a:ext>
            </a:extLst>
          </p:cNvPr>
          <p:cNvSpPr>
            <a:spLocks noGrp="1"/>
          </p:cNvSpPr>
          <p:nvPr>
            <p:ph type="pic" sz="quarter" idx="16"/>
          </p:nvPr>
        </p:nvSpPr>
        <p:spPr>
          <a:xfrm>
            <a:off x="3821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1" name="Picture Placeholder 19">
            <a:extLst>
              <a:ext uri="{FF2B5EF4-FFF2-40B4-BE49-F238E27FC236}">
                <a16:creationId xmlns:a16="http://schemas.microsoft.com/office/drawing/2014/main" id="{777DA299-DF9F-AA0B-EBD9-B89A2B27B94D}"/>
              </a:ext>
            </a:extLst>
          </p:cNvPr>
          <p:cNvSpPr>
            <a:spLocks noGrp="1"/>
          </p:cNvSpPr>
          <p:nvPr>
            <p:ph type="pic" sz="quarter" idx="17"/>
          </p:nvPr>
        </p:nvSpPr>
        <p:spPr>
          <a:xfrm>
            <a:off x="7973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Picture Placeholder 19">
            <a:extLst>
              <a:ext uri="{FF2B5EF4-FFF2-40B4-BE49-F238E27FC236}">
                <a16:creationId xmlns:a16="http://schemas.microsoft.com/office/drawing/2014/main" id="{9EDEE6B0-32AE-5C3F-B6C7-53332D9C70E4}"/>
              </a:ext>
            </a:extLst>
          </p:cNvPr>
          <p:cNvSpPr>
            <a:spLocks noGrp="1"/>
          </p:cNvSpPr>
          <p:nvPr>
            <p:ph type="pic" sz="quarter" idx="18"/>
          </p:nvPr>
        </p:nvSpPr>
        <p:spPr>
          <a:xfrm>
            <a:off x="3821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3" name="Picture Placeholder 19">
            <a:extLst>
              <a:ext uri="{FF2B5EF4-FFF2-40B4-BE49-F238E27FC236}">
                <a16:creationId xmlns:a16="http://schemas.microsoft.com/office/drawing/2014/main" id="{62F9F762-D9F9-DA71-29D1-C79016D1A8D0}"/>
              </a:ext>
            </a:extLst>
          </p:cNvPr>
          <p:cNvSpPr>
            <a:spLocks noGrp="1"/>
          </p:cNvSpPr>
          <p:nvPr>
            <p:ph type="pic" sz="quarter" idx="19"/>
          </p:nvPr>
        </p:nvSpPr>
        <p:spPr>
          <a:xfrm>
            <a:off x="7973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24">
            <a:extLst>
              <a:ext uri="{FF2B5EF4-FFF2-40B4-BE49-F238E27FC236}">
                <a16:creationId xmlns:a16="http://schemas.microsoft.com/office/drawing/2014/main" id="{E33872C5-04BF-F8E7-4D24-9D0D57B1BB24}"/>
              </a:ext>
            </a:extLst>
          </p:cNvPr>
          <p:cNvSpPr>
            <a:spLocks noGrp="1"/>
          </p:cNvSpPr>
          <p:nvPr>
            <p:ph type="body" sz="quarter" idx="20" hasCustomPrompt="1"/>
          </p:nvPr>
        </p:nvSpPr>
        <p:spPr>
          <a:xfrm>
            <a:off x="5706949" y="2117664"/>
            <a:ext cx="2027051" cy="360000"/>
          </a:xfrm>
        </p:spPr>
        <p:txBody>
          <a:bodyPr/>
          <a:lstStyle>
            <a:lvl1pPr marL="0" indent="0">
              <a:buNone/>
              <a:defRPr b="1"/>
            </a:lvl1pPr>
          </a:lstStyle>
          <a:p>
            <a:pPr lvl="0"/>
            <a:r>
              <a:rPr lang="en-US" dirty="0"/>
              <a:t>Name surname</a:t>
            </a:r>
            <a:endParaRPr lang="en-GB" dirty="0"/>
          </a:p>
        </p:txBody>
      </p:sp>
      <p:sp>
        <p:nvSpPr>
          <p:cNvPr id="26" name="Text Placeholder 24">
            <a:extLst>
              <a:ext uri="{FF2B5EF4-FFF2-40B4-BE49-F238E27FC236}">
                <a16:creationId xmlns:a16="http://schemas.microsoft.com/office/drawing/2014/main" id="{FBD4C676-D3A0-7C78-8E0C-1156D9E4EFC2}"/>
              </a:ext>
            </a:extLst>
          </p:cNvPr>
          <p:cNvSpPr>
            <a:spLocks noGrp="1"/>
          </p:cNvSpPr>
          <p:nvPr>
            <p:ph type="body" sz="quarter" idx="21" hasCustomPrompt="1"/>
          </p:nvPr>
        </p:nvSpPr>
        <p:spPr>
          <a:xfrm>
            <a:off x="5706949" y="2538000"/>
            <a:ext cx="2027051" cy="360000"/>
          </a:xfrm>
        </p:spPr>
        <p:txBody>
          <a:bodyPr/>
          <a:lstStyle>
            <a:lvl1pPr marL="0" indent="0">
              <a:buNone/>
              <a:defRPr b="0"/>
            </a:lvl1pPr>
          </a:lstStyle>
          <a:p>
            <a:pPr lvl="0"/>
            <a:r>
              <a:rPr lang="en-US" dirty="0"/>
              <a:t>Job title</a:t>
            </a:r>
            <a:endParaRPr lang="en-GB" dirty="0"/>
          </a:p>
        </p:txBody>
      </p:sp>
      <p:sp>
        <p:nvSpPr>
          <p:cNvPr id="27" name="Text Placeholder 24">
            <a:extLst>
              <a:ext uri="{FF2B5EF4-FFF2-40B4-BE49-F238E27FC236}">
                <a16:creationId xmlns:a16="http://schemas.microsoft.com/office/drawing/2014/main" id="{5A2D47DF-6C80-9D62-8F40-BED8626C265A}"/>
              </a:ext>
            </a:extLst>
          </p:cNvPr>
          <p:cNvSpPr>
            <a:spLocks noGrp="1"/>
          </p:cNvSpPr>
          <p:nvPr>
            <p:ph type="body" sz="quarter" idx="22" hasCustomPrompt="1"/>
          </p:nvPr>
        </p:nvSpPr>
        <p:spPr>
          <a:xfrm>
            <a:off x="9858949" y="2117664"/>
            <a:ext cx="2027051" cy="360000"/>
          </a:xfrm>
        </p:spPr>
        <p:txBody>
          <a:bodyPr/>
          <a:lstStyle>
            <a:lvl1pPr marL="0" indent="0">
              <a:buNone/>
              <a:defRPr b="1"/>
            </a:lvl1pPr>
          </a:lstStyle>
          <a:p>
            <a:pPr lvl="0"/>
            <a:r>
              <a:rPr lang="en-US" dirty="0"/>
              <a:t>Name surname</a:t>
            </a:r>
            <a:endParaRPr lang="en-GB" dirty="0"/>
          </a:p>
        </p:txBody>
      </p:sp>
      <p:sp>
        <p:nvSpPr>
          <p:cNvPr id="28" name="Text Placeholder 24">
            <a:extLst>
              <a:ext uri="{FF2B5EF4-FFF2-40B4-BE49-F238E27FC236}">
                <a16:creationId xmlns:a16="http://schemas.microsoft.com/office/drawing/2014/main" id="{124E0AA2-5A10-C4F8-7FF7-3331E936DA95}"/>
              </a:ext>
            </a:extLst>
          </p:cNvPr>
          <p:cNvSpPr>
            <a:spLocks noGrp="1"/>
          </p:cNvSpPr>
          <p:nvPr>
            <p:ph type="body" sz="quarter" idx="23" hasCustomPrompt="1"/>
          </p:nvPr>
        </p:nvSpPr>
        <p:spPr>
          <a:xfrm>
            <a:off x="9858949" y="2538000"/>
            <a:ext cx="2027051" cy="360000"/>
          </a:xfrm>
        </p:spPr>
        <p:txBody>
          <a:bodyPr/>
          <a:lstStyle>
            <a:lvl1pPr marL="0" indent="0">
              <a:buNone/>
              <a:defRPr b="0"/>
            </a:lvl1pPr>
          </a:lstStyle>
          <a:p>
            <a:pPr lvl="0"/>
            <a:r>
              <a:rPr lang="en-US" dirty="0"/>
              <a:t>Job title</a:t>
            </a:r>
            <a:endParaRPr lang="en-GB" dirty="0"/>
          </a:p>
        </p:txBody>
      </p:sp>
      <p:sp>
        <p:nvSpPr>
          <p:cNvPr id="29" name="Text Placeholder 24">
            <a:extLst>
              <a:ext uri="{FF2B5EF4-FFF2-40B4-BE49-F238E27FC236}">
                <a16:creationId xmlns:a16="http://schemas.microsoft.com/office/drawing/2014/main" id="{8BDB34A3-36A9-DFDC-3C94-2120F1A7EB46}"/>
              </a:ext>
            </a:extLst>
          </p:cNvPr>
          <p:cNvSpPr>
            <a:spLocks noGrp="1"/>
          </p:cNvSpPr>
          <p:nvPr>
            <p:ph type="body" sz="quarter" idx="24" hasCustomPrompt="1"/>
          </p:nvPr>
        </p:nvSpPr>
        <p:spPr>
          <a:xfrm>
            <a:off x="5706949" y="4510188"/>
            <a:ext cx="2027051" cy="360000"/>
          </a:xfrm>
        </p:spPr>
        <p:txBody>
          <a:bodyPr/>
          <a:lstStyle>
            <a:lvl1pPr marL="0" indent="0">
              <a:buNone/>
              <a:defRPr b="1"/>
            </a:lvl1pPr>
          </a:lstStyle>
          <a:p>
            <a:pPr lvl="0"/>
            <a:r>
              <a:rPr lang="en-US" dirty="0"/>
              <a:t>Name surname</a:t>
            </a:r>
            <a:endParaRPr lang="en-GB" dirty="0"/>
          </a:p>
        </p:txBody>
      </p:sp>
      <p:sp>
        <p:nvSpPr>
          <p:cNvPr id="30" name="Text Placeholder 24">
            <a:extLst>
              <a:ext uri="{FF2B5EF4-FFF2-40B4-BE49-F238E27FC236}">
                <a16:creationId xmlns:a16="http://schemas.microsoft.com/office/drawing/2014/main" id="{A3717ED6-BDEA-E997-D0EF-C7FC7E6B0A2F}"/>
              </a:ext>
            </a:extLst>
          </p:cNvPr>
          <p:cNvSpPr>
            <a:spLocks noGrp="1"/>
          </p:cNvSpPr>
          <p:nvPr>
            <p:ph type="body" sz="quarter" idx="25" hasCustomPrompt="1"/>
          </p:nvPr>
        </p:nvSpPr>
        <p:spPr>
          <a:xfrm>
            <a:off x="5706949" y="4930524"/>
            <a:ext cx="2027051" cy="360000"/>
          </a:xfrm>
        </p:spPr>
        <p:txBody>
          <a:bodyPr/>
          <a:lstStyle>
            <a:lvl1pPr marL="0" indent="0">
              <a:buNone/>
              <a:defRPr b="0"/>
            </a:lvl1pPr>
          </a:lstStyle>
          <a:p>
            <a:pPr lvl="0"/>
            <a:r>
              <a:rPr lang="en-US" dirty="0"/>
              <a:t>Job title</a:t>
            </a:r>
            <a:endParaRPr lang="en-GB" dirty="0"/>
          </a:p>
        </p:txBody>
      </p:sp>
      <p:sp>
        <p:nvSpPr>
          <p:cNvPr id="31" name="Text Placeholder 24">
            <a:extLst>
              <a:ext uri="{FF2B5EF4-FFF2-40B4-BE49-F238E27FC236}">
                <a16:creationId xmlns:a16="http://schemas.microsoft.com/office/drawing/2014/main" id="{46608C4E-A3D0-8547-0277-9E3C281776B0}"/>
              </a:ext>
            </a:extLst>
          </p:cNvPr>
          <p:cNvSpPr>
            <a:spLocks noGrp="1"/>
          </p:cNvSpPr>
          <p:nvPr>
            <p:ph type="body" sz="quarter" idx="26" hasCustomPrompt="1"/>
          </p:nvPr>
        </p:nvSpPr>
        <p:spPr>
          <a:xfrm>
            <a:off x="9858949" y="4510188"/>
            <a:ext cx="2027051" cy="360000"/>
          </a:xfrm>
        </p:spPr>
        <p:txBody>
          <a:bodyPr/>
          <a:lstStyle>
            <a:lvl1pPr marL="0" indent="0">
              <a:buNone/>
              <a:defRPr b="1"/>
            </a:lvl1pPr>
          </a:lstStyle>
          <a:p>
            <a:pPr lvl="0"/>
            <a:r>
              <a:rPr lang="en-US" dirty="0"/>
              <a:t>Name surname</a:t>
            </a:r>
            <a:endParaRPr lang="en-GB" dirty="0"/>
          </a:p>
        </p:txBody>
      </p:sp>
      <p:sp>
        <p:nvSpPr>
          <p:cNvPr id="32" name="Text Placeholder 24">
            <a:extLst>
              <a:ext uri="{FF2B5EF4-FFF2-40B4-BE49-F238E27FC236}">
                <a16:creationId xmlns:a16="http://schemas.microsoft.com/office/drawing/2014/main" id="{2F90C55D-5300-4742-EBF6-164AB6B4FC38}"/>
              </a:ext>
            </a:extLst>
          </p:cNvPr>
          <p:cNvSpPr>
            <a:spLocks noGrp="1"/>
          </p:cNvSpPr>
          <p:nvPr>
            <p:ph type="body" sz="quarter" idx="27" hasCustomPrompt="1"/>
          </p:nvPr>
        </p:nvSpPr>
        <p:spPr>
          <a:xfrm>
            <a:off x="9858949" y="4930524"/>
            <a:ext cx="2027051" cy="360000"/>
          </a:xfrm>
        </p:spPr>
        <p:txBody>
          <a:bodyPr/>
          <a:lstStyle>
            <a:lvl1pPr marL="0" indent="0">
              <a:buNone/>
              <a:defRPr b="0"/>
            </a:lvl1pPr>
          </a:lstStyle>
          <a:p>
            <a:pPr lvl="0"/>
            <a:r>
              <a:rPr lang="en-US" dirty="0"/>
              <a:t>Job title</a:t>
            </a:r>
            <a:endParaRPr lang="en-GB" dirty="0"/>
          </a:p>
        </p:txBody>
      </p:sp>
    </p:spTree>
    <p:extLst>
      <p:ext uri="{BB962C8B-B14F-4D97-AF65-F5344CB8AC3E}">
        <p14:creationId xmlns:p14="http://schemas.microsoft.com/office/powerpoint/2010/main" val="257740249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eam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610393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715010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7150100" y="2355729"/>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610393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715010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715010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610393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715010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715010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705978506"/>
      </p:ext>
    </p:extLst>
  </p:cSld>
  <p:clrMapOvr>
    <a:masterClrMapping/>
  </p:clrMapOvr>
  <p:transition>
    <p:fade/>
  </p:transition>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eam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4153694"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5199856"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5199856"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4153694"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5199856"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5199856"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4153694"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5199856"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5199856"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6" name="Picture Placeholder 10">
            <a:extLst>
              <a:ext uri="{FF2B5EF4-FFF2-40B4-BE49-F238E27FC236}">
                <a16:creationId xmlns:a16="http://schemas.microsoft.com/office/drawing/2014/main" id="{D00DC641-42E9-0B66-3D72-9F709D811A21}"/>
              </a:ext>
            </a:extLst>
          </p:cNvPr>
          <p:cNvSpPr>
            <a:spLocks noGrp="1"/>
          </p:cNvSpPr>
          <p:nvPr>
            <p:ph type="pic" sz="quarter" idx="42"/>
          </p:nvPr>
        </p:nvSpPr>
        <p:spPr>
          <a:xfrm>
            <a:off x="8001001"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7" name="Text Placeholder 12">
            <a:extLst>
              <a:ext uri="{FF2B5EF4-FFF2-40B4-BE49-F238E27FC236}">
                <a16:creationId xmlns:a16="http://schemas.microsoft.com/office/drawing/2014/main" id="{4A1F38BA-66D9-41A9-F343-8B2F5D9A9AC4}"/>
              </a:ext>
            </a:extLst>
          </p:cNvPr>
          <p:cNvSpPr>
            <a:spLocks noGrp="1"/>
          </p:cNvSpPr>
          <p:nvPr>
            <p:ph type="body" sz="quarter" idx="43" hasCustomPrompt="1"/>
          </p:nvPr>
        </p:nvSpPr>
        <p:spPr>
          <a:xfrm>
            <a:off x="9047163"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0" name="Text Placeholder 12">
            <a:extLst>
              <a:ext uri="{FF2B5EF4-FFF2-40B4-BE49-F238E27FC236}">
                <a16:creationId xmlns:a16="http://schemas.microsoft.com/office/drawing/2014/main" id="{6AEB60AC-335C-9000-1BA5-FDB62E7A9EE0}"/>
              </a:ext>
            </a:extLst>
          </p:cNvPr>
          <p:cNvSpPr>
            <a:spLocks noGrp="1"/>
          </p:cNvSpPr>
          <p:nvPr>
            <p:ph type="body" sz="quarter" idx="44" hasCustomPrompt="1"/>
          </p:nvPr>
        </p:nvSpPr>
        <p:spPr>
          <a:xfrm>
            <a:off x="9047163"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2" name="Picture Placeholder 10">
            <a:extLst>
              <a:ext uri="{FF2B5EF4-FFF2-40B4-BE49-F238E27FC236}">
                <a16:creationId xmlns:a16="http://schemas.microsoft.com/office/drawing/2014/main" id="{E6F84F8C-66B2-BD9D-43C9-974D44F94EC1}"/>
              </a:ext>
            </a:extLst>
          </p:cNvPr>
          <p:cNvSpPr>
            <a:spLocks noGrp="1"/>
          </p:cNvSpPr>
          <p:nvPr>
            <p:ph type="pic" sz="quarter" idx="45"/>
          </p:nvPr>
        </p:nvSpPr>
        <p:spPr>
          <a:xfrm>
            <a:off x="8001001"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0" name="Text Placeholder 12">
            <a:extLst>
              <a:ext uri="{FF2B5EF4-FFF2-40B4-BE49-F238E27FC236}">
                <a16:creationId xmlns:a16="http://schemas.microsoft.com/office/drawing/2014/main" id="{0114D6F8-B9A3-ED71-9813-52BAF652A7B8}"/>
              </a:ext>
            </a:extLst>
          </p:cNvPr>
          <p:cNvSpPr>
            <a:spLocks noGrp="1"/>
          </p:cNvSpPr>
          <p:nvPr>
            <p:ph type="body" sz="quarter" idx="46" hasCustomPrompt="1"/>
          </p:nvPr>
        </p:nvSpPr>
        <p:spPr>
          <a:xfrm>
            <a:off x="9047163"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1" name="Text Placeholder 12">
            <a:extLst>
              <a:ext uri="{FF2B5EF4-FFF2-40B4-BE49-F238E27FC236}">
                <a16:creationId xmlns:a16="http://schemas.microsoft.com/office/drawing/2014/main" id="{39C04260-C8BE-71ED-EA47-703038E90683}"/>
              </a:ext>
            </a:extLst>
          </p:cNvPr>
          <p:cNvSpPr>
            <a:spLocks noGrp="1"/>
          </p:cNvSpPr>
          <p:nvPr>
            <p:ph type="body" sz="quarter" idx="47" hasCustomPrompt="1"/>
          </p:nvPr>
        </p:nvSpPr>
        <p:spPr>
          <a:xfrm>
            <a:off x="9047163"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32" name="Picture Placeholder 10">
            <a:extLst>
              <a:ext uri="{FF2B5EF4-FFF2-40B4-BE49-F238E27FC236}">
                <a16:creationId xmlns:a16="http://schemas.microsoft.com/office/drawing/2014/main" id="{944BF7B4-5DAC-1321-A9A6-C9816D8B397D}"/>
              </a:ext>
            </a:extLst>
          </p:cNvPr>
          <p:cNvSpPr>
            <a:spLocks noGrp="1"/>
          </p:cNvSpPr>
          <p:nvPr>
            <p:ph type="pic" sz="quarter" idx="48"/>
          </p:nvPr>
        </p:nvSpPr>
        <p:spPr>
          <a:xfrm>
            <a:off x="8001001"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3" name="Text Placeholder 12">
            <a:extLst>
              <a:ext uri="{FF2B5EF4-FFF2-40B4-BE49-F238E27FC236}">
                <a16:creationId xmlns:a16="http://schemas.microsoft.com/office/drawing/2014/main" id="{11F34BF6-57E4-2668-8C65-E480F3A59139}"/>
              </a:ext>
            </a:extLst>
          </p:cNvPr>
          <p:cNvSpPr>
            <a:spLocks noGrp="1"/>
          </p:cNvSpPr>
          <p:nvPr>
            <p:ph type="body" sz="quarter" idx="49" hasCustomPrompt="1"/>
          </p:nvPr>
        </p:nvSpPr>
        <p:spPr>
          <a:xfrm>
            <a:off x="9047163"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4" name="Text Placeholder 12">
            <a:extLst>
              <a:ext uri="{FF2B5EF4-FFF2-40B4-BE49-F238E27FC236}">
                <a16:creationId xmlns:a16="http://schemas.microsoft.com/office/drawing/2014/main" id="{8623A0F5-2495-FFA9-60F0-C91A0FF02736}"/>
              </a:ext>
            </a:extLst>
          </p:cNvPr>
          <p:cNvSpPr>
            <a:spLocks noGrp="1"/>
          </p:cNvSpPr>
          <p:nvPr>
            <p:ph type="body" sz="quarter" idx="50" hasCustomPrompt="1"/>
          </p:nvPr>
        </p:nvSpPr>
        <p:spPr>
          <a:xfrm>
            <a:off x="9047163"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3531968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iograph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744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25" name="Text Placeholder 24">
            <a:extLst>
              <a:ext uri="{FF2B5EF4-FFF2-40B4-BE49-F238E27FC236}">
                <a16:creationId xmlns:a16="http://schemas.microsoft.com/office/drawing/2014/main" id="{3DCBBC23-DAC0-91A1-1B44-DF768098FB37}"/>
              </a:ext>
            </a:extLst>
          </p:cNvPr>
          <p:cNvSpPr>
            <a:spLocks noGrp="1"/>
          </p:cNvSpPr>
          <p:nvPr>
            <p:ph type="body" sz="quarter" idx="29"/>
          </p:nvPr>
        </p:nvSpPr>
        <p:spPr>
          <a:xfrm>
            <a:off x="1352550" y="2052982"/>
            <a:ext cx="10533063" cy="389696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53692523"/>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Two biography entri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fr-FR" dirty="0" err="1"/>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680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17" name="Picture Placeholder 10">
            <a:extLst>
              <a:ext uri="{FF2B5EF4-FFF2-40B4-BE49-F238E27FC236}">
                <a16:creationId xmlns:a16="http://schemas.microsoft.com/office/drawing/2014/main" id="{60516244-1DBC-D2C0-E79A-2036911E6A1C}"/>
              </a:ext>
            </a:extLst>
          </p:cNvPr>
          <p:cNvSpPr>
            <a:spLocks noGrp="1"/>
          </p:cNvSpPr>
          <p:nvPr>
            <p:ph type="pic" sz="quarter" idx="30"/>
          </p:nvPr>
        </p:nvSpPr>
        <p:spPr>
          <a:xfrm>
            <a:off x="306388" y="3429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8" name="Straight Connector 17">
            <a:extLst>
              <a:ext uri="{FF2B5EF4-FFF2-40B4-BE49-F238E27FC236}">
                <a16:creationId xmlns:a16="http://schemas.microsoft.com/office/drawing/2014/main" id="{AB1D6DF6-094C-A16E-2F7A-A1C6CB8F41F2}"/>
              </a:ext>
            </a:extLst>
          </p:cNvPr>
          <p:cNvCxnSpPr>
            <a:cxnSpLocks/>
          </p:cNvCxnSpPr>
          <p:nvPr userDrawn="1"/>
        </p:nvCxnSpPr>
        <p:spPr>
          <a:xfrm>
            <a:off x="1352550" y="409361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 Placeholder 12">
            <a:extLst>
              <a:ext uri="{FF2B5EF4-FFF2-40B4-BE49-F238E27FC236}">
                <a16:creationId xmlns:a16="http://schemas.microsoft.com/office/drawing/2014/main" id="{CB2B9431-F5DF-5DA9-8F28-87EA404B4558}"/>
              </a:ext>
            </a:extLst>
          </p:cNvPr>
          <p:cNvSpPr>
            <a:spLocks noGrp="1"/>
          </p:cNvSpPr>
          <p:nvPr>
            <p:ph type="body" sz="quarter" idx="31" hasCustomPrompt="1"/>
          </p:nvPr>
        </p:nvSpPr>
        <p:spPr>
          <a:xfrm>
            <a:off x="1352550" y="3429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53D504FF-41D7-B6F6-EFCE-1116741BC39E}"/>
              </a:ext>
            </a:extLst>
          </p:cNvPr>
          <p:cNvSpPr>
            <a:spLocks noGrp="1"/>
          </p:cNvSpPr>
          <p:nvPr>
            <p:ph type="body" sz="quarter" idx="32" hasCustomPrompt="1"/>
          </p:nvPr>
        </p:nvSpPr>
        <p:spPr>
          <a:xfrm>
            <a:off x="1352550"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Text Placeholder 12">
            <a:extLst>
              <a:ext uri="{FF2B5EF4-FFF2-40B4-BE49-F238E27FC236}">
                <a16:creationId xmlns:a16="http://schemas.microsoft.com/office/drawing/2014/main" id="{766077F0-210D-1948-4394-89AFAA99C635}"/>
              </a:ext>
            </a:extLst>
          </p:cNvPr>
          <p:cNvSpPr>
            <a:spLocks noGrp="1"/>
          </p:cNvSpPr>
          <p:nvPr>
            <p:ph type="body" sz="quarter" idx="33" hasCustomPrompt="1"/>
          </p:nvPr>
        </p:nvSpPr>
        <p:spPr>
          <a:xfrm>
            <a:off x="6238184" y="3429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22" name="Text Placeholder 12">
            <a:extLst>
              <a:ext uri="{FF2B5EF4-FFF2-40B4-BE49-F238E27FC236}">
                <a16:creationId xmlns:a16="http://schemas.microsoft.com/office/drawing/2014/main" id="{04BC109F-D899-2BA8-FAF6-5B3365784465}"/>
              </a:ext>
            </a:extLst>
          </p:cNvPr>
          <p:cNvSpPr>
            <a:spLocks noGrp="1"/>
          </p:cNvSpPr>
          <p:nvPr>
            <p:ph type="body" sz="quarter" idx="34" hasCustomPrompt="1"/>
          </p:nvPr>
        </p:nvSpPr>
        <p:spPr>
          <a:xfrm>
            <a:off x="6238184"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8" name="Text Placeholder 24">
            <a:extLst>
              <a:ext uri="{FF2B5EF4-FFF2-40B4-BE49-F238E27FC236}">
                <a16:creationId xmlns:a16="http://schemas.microsoft.com/office/drawing/2014/main" id="{60BBA0CC-565F-00AD-0199-A9F5D1822FD4}"/>
              </a:ext>
            </a:extLst>
          </p:cNvPr>
          <p:cNvSpPr>
            <a:spLocks noGrp="1"/>
          </p:cNvSpPr>
          <p:nvPr>
            <p:ph type="body" sz="quarter" idx="29"/>
          </p:nvPr>
        </p:nvSpPr>
        <p:spPr>
          <a:xfrm>
            <a:off x="1352550" y="2051999"/>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9" name="Text Placeholder 24">
            <a:extLst>
              <a:ext uri="{FF2B5EF4-FFF2-40B4-BE49-F238E27FC236}">
                <a16:creationId xmlns:a16="http://schemas.microsoft.com/office/drawing/2014/main" id="{66EC383C-ED58-904B-F5C3-4F1400A59B4B}"/>
              </a:ext>
            </a:extLst>
          </p:cNvPr>
          <p:cNvSpPr>
            <a:spLocks noGrp="1"/>
          </p:cNvSpPr>
          <p:nvPr>
            <p:ph type="body" sz="quarter" idx="35"/>
          </p:nvPr>
        </p:nvSpPr>
        <p:spPr>
          <a:xfrm>
            <a:off x="1352550" y="4217985"/>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1555525920"/>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437667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4646675"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8446962"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8716962"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4646675"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8716962"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Box 6">
            <a:extLst>
              <a:ext uri="{FF2B5EF4-FFF2-40B4-BE49-F238E27FC236}">
                <a16:creationId xmlns:a16="http://schemas.microsoft.com/office/drawing/2014/main" id="{1248B4AF-A790-625F-68C9-574E05D20574}"/>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136763679"/>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335849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3628495"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6404957"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6674957"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3628495"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6680727"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9462960"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9732960"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9732960"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06A6C2DE-B1DA-6ED2-65F3-D7B4F2F7B08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1783271154"/>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728600"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998600"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5155139"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5425139"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998600"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5420937"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7569073"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7839073"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7843274"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9995612"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10265612"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10265612"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Box 22">
            <a:extLst>
              <a:ext uri="{FF2B5EF4-FFF2-40B4-BE49-F238E27FC236}">
                <a16:creationId xmlns:a16="http://schemas.microsoft.com/office/drawing/2014/main" id="{B4398626-6D16-799D-FDFC-F0CE622468F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801630789"/>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317403"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58740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4328418"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459841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58740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459854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6333584"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6603584"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660968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8356797"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8626797"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862082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 Placeholder 7">
            <a:extLst>
              <a:ext uri="{FF2B5EF4-FFF2-40B4-BE49-F238E27FC236}">
                <a16:creationId xmlns:a16="http://schemas.microsoft.com/office/drawing/2014/main" id="{3C673BB7-7B43-2C1F-84B3-272213CC2420}"/>
              </a:ext>
            </a:extLst>
          </p:cNvPr>
          <p:cNvSpPr>
            <a:spLocks noGrp="1"/>
          </p:cNvSpPr>
          <p:nvPr>
            <p:ph type="body" sz="quarter" idx="33" hasCustomPrompt="1"/>
          </p:nvPr>
        </p:nvSpPr>
        <p:spPr>
          <a:xfrm>
            <a:off x="10361963" y="2012973"/>
            <a:ext cx="540000" cy="540000"/>
          </a:xfrm>
        </p:spPr>
        <p:txBody>
          <a:bodyPr/>
          <a:lstStyle>
            <a:lvl1pPr marL="0" indent="0" algn="ctr">
              <a:buNone/>
              <a:defRPr sz="3600" b="1">
                <a:solidFill>
                  <a:schemeClr val="bg1">
                    <a:lumMod val="85000"/>
                  </a:schemeClr>
                </a:solidFill>
              </a:defRPr>
            </a:lvl1pPr>
          </a:lstStyle>
          <a:p>
            <a:pPr lvl="0"/>
            <a:r>
              <a:rPr lang="en-GB" dirty="0"/>
              <a:t>6</a:t>
            </a:r>
          </a:p>
        </p:txBody>
      </p:sp>
      <p:sp>
        <p:nvSpPr>
          <p:cNvPr id="24" name="Text Placeholder 9">
            <a:extLst>
              <a:ext uri="{FF2B5EF4-FFF2-40B4-BE49-F238E27FC236}">
                <a16:creationId xmlns:a16="http://schemas.microsoft.com/office/drawing/2014/main" id="{755F8E3E-B001-1EC8-73CC-A173445AAA38}"/>
              </a:ext>
            </a:extLst>
          </p:cNvPr>
          <p:cNvSpPr>
            <a:spLocks noGrp="1"/>
          </p:cNvSpPr>
          <p:nvPr>
            <p:ph type="body" sz="quarter" idx="34"/>
          </p:nvPr>
        </p:nvSpPr>
        <p:spPr>
          <a:xfrm>
            <a:off x="1063196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5" name="Text Placeholder 19">
            <a:extLst>
              <a:ext uri="{FF2B5EF4-FFF2-40B4-BE49-F238E27FC236}">
                <a16:creationId xmlns:a16="http://schemas.microsoft.com/office/drawing/2014/main" id="{EBF24D4C-088E-4310-4B09-349A011906D2}"/>
              </a:ext>
            </a:extLst>
          </p:cNvPr>
          <p:cNvSpPr>
            <a:spLocks noGrp="1"/>
          </p:cNvSpPr>
          <p:nvPr>
            <p:ph type="body" sz="quarter" idx="35"/>
          </p:nvPr>
        </p:nvSpPr>
        <p:spPr>
          <a:xfrm>
            <a:off x="106319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6" name="TextBox 25">
            <a:extLst>
              <a:ext uri="{FF2B5EF4-FFF2-40B4-BE49-F238E27FC236}">
                <a16:creationId xmlns:a16="http://schemas.microsoft.com/office/drawing/2014/main" id="{D99E6584-10DA-3C23-5CE2-E401678B8E96}"/>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68706476"/>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Un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582739"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4653026"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8723313"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582614"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4653026"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8723313"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Box 13">
            <a:extLst>
              <a:ext uri="{FF2B5EF4-FFF2-40B4-BE49-F238E27FC236}">
                <a16:creationId xmlns:a16="http://schemas.microsoft.com/office/drawing/2014/main" id="{7E51F6D0-3D4A-F281-6203-F010C801ADF5}"/>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98952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Un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92207"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3452126"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6412045"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9208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345204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641200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9371963"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9371963"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1EA0B512-6ED9-5922-BA60-BD3002855A9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834806024"/>
      </p:ext>
    </p:extLst>
  </p:cSld>
  <p:clrMapOvr>
    <a:masterClrMapping/>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Un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980122"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841171"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5196220"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841171"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5197662"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7550092"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7554153"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9903963" y="2282973"/>
            <a:ext cx="1987999"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9910646"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Box 17">
            <a:extLst>
              <a:ext uri="{FF2B5EF4-FFF2-40B4-BE49-F238E27FC236}">
                <a16:creationId xmlns:a16="http://schemas.microsoft.com/office/drawing/2014/main" id="{8C726E93-42D8-60A3-0F72-43200D611A10}"/>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481483874"/>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Un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441729"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4397458"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44306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440013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6353187"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635719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8308916"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831426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 Placeholder 9">
            <a:extLst>
              <a:ext uri="{FF2B5EF4-FFF2-40B4-BE49-F238E27FC236}">
                <a16:creationId xmlns:a16="http://schemas.microsoft.com/office/drawing/2014/main" id="{D6BACB2F-0DB8-DD63-EA6C-7C37EC4B4A7F}"/>
              </a:ext>
            </a:extLst>
          </p:cNvPr>
          <p:cNvSpPr>
            <a:spLocks noGrp="1"/>
          </p:cNvSpPr>
          <p:nvPr>
            <p:ph type="body" sz="quarter" idx="31"/>
          </p:nvPr>
        </p:nvSpPr>
        <p:spPr>
          <a:xfrm>
            <a:off x="10264643"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383AED7B-9104-4F4D-98AE-4DBE12D1BBDD}"/>
              </a:ext>
            </a:extLst>
          </p:cNvPr>
          <p:cNvSpPr>
            <a:spLocks noGrp="1"/>
          </p:cNvSpPr>
          <p:nvPr>
            <p:ph type="body" sz="quarter" idx="32"/>
          </p:nvPr>
        </p:nvSpPr>
        <p:spPr>
          <a:xfrm>
            <a:off x="10271326"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0" name="TextBox 19">
            <a:extLst>
              <a:ext uri="{FF2B5EF4-FFF2-40B4-BE49-F238E27FC236}">
                <a16:creationId xmlns:a16="http://schemas.microsoft.com/office/drawing/2014/main" id="{398B30BC-5605-4035-E48B-463C18BEDEB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2994551115"/>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melin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3527875"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4195349" y="2282973"/>
            <a:ext cx="3527874"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8085898" y="2282973"/>
            <a:ext cx="3528126"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4195349"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8086024"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388891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2" name="Straight Connector 21">
            <a:extLst>
              <a:ext uri="{FF2B5EF4-FFF2-40B4-BE49-F238E27FC236}">
                <a16:creationId xmlns:a16="http://schemas.microsoft.com/office/drawing/2014/main" id="{D71FEB51-AFE7-8D09-2DDF-EA55F7B457BE}"/>
              </a:ext>
            </a:extLst>
          </p:cNvPr>
          <p:cNvCxnSpPr>
            <a:cxnSpLocks/>
          </p:cNvCxnSpPr>
          <p:nvPr userDrawn="1"/>
        </p:nvCxnSpPr>
        <p:spPr>
          <a:xfrm>
            <a:off x="4196397"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3" name="Arrow: Chevron 22">
            <a:extLst>
              <a:ext uri="{FF2B5EF4-FFF2-40B4-BE49-F238E27FC236}">
                <a16:creationId xmlns:a16="http://schemas.microsoft.com/office/drawing/2014/main" id="{62FBB4E5-5680-7A1E-A0CE-9B5E67EA5EBD}"/>
              </a:ext>
            </a:extLst>
          </p:cNvPr>
          <p:cNvSpPr/>
          <p:nvPr userDrawn="1"/>
        </p:nvSpPr>
        <p:spPr>
          <a:xfrm>
            <a:off x="778063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4" name="Straight Connector 23">
            <a:extLst>
              <a:ext uri="{FF2B5EF4-FFF2-40B4-BE49-F238E27FC236}">
                <a16:creationId xmlns:a16="http://schemas.microsoft.com/office/drawing/2014/main" id="{A4F97134-2CAF-FE5A-4E3B-79DD92C4E68E}"/>
              </a:ext>
            </a:extLst>
          </p:cNvPr>
          <p:cNvCxnSpPr>
            <a:cxnSpLocks/>
          </p:cNvCxnSpPr>
          <p:nvPr userDrawn="1"/>
        </p:nvCxnSpPr>
        <p:spPr>
          <a:xfrm>
            <a:off x="8088119"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1CF0A13A-31A4-FF89-6DE7-027605D20B96}"/>
              </a:ext>
            </a:extLst>
          </p:cNvPr>
          <p:cNvSpPr/>
          <p:nvPr userDrawn="1"/>
        </p:nvSpPr>
        <p:spPr>
          <a:xfrm>
            <a:off x="1167235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428350825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melin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3211156"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611763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3211156"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6117637"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91691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902411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9024119"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0" name="Straight Connector 29">
            <a:extLst>
              <a:ext uri="{FF2B5EF4-FFF2-40B4-BE49-F238E27FC236}">
                <a16:creationId xmlns:a16="http://schemas.microsoft.com/office/drawing/2014/main" id="{393B61CA-A7BE-8A3E-D9AC-F654B9B38698}"/>
              </a:ext>
            </a:extLst>
          </p:cNvPr>
          <p:cNvCxnSpPr>
            <a:cxnSpLocks/>
          </p:cNvCxnSpPr>
          <p:nvPr userDrawn="1"/>
        </p:nvCxnSpPr>
        <p:spPr>
          <a:xfrm>
            <a:off x="322156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1" name="Arrow: Chevron 30">
            <a:extLst>
              <a:ext uri="{FF2B5EF4-FFF2-40B4-BE49-F238E27FC236}">
                <a16:creationId xmlns:a16="http://schemas.microsoft.com/office/drawing/2014/main" id="{A8B2014E-675C-8EB9-B5B5-BD95FAFE19E6}"/>
              </a:ext>
            </a:extLst>
          </p:cNvPr>
          <p:cNvSpPr/>
          <p:nvPr userDrawn="1"/>
        </p:nvSpPr>
        <p:spPr>
          <a:xfrm>
            <a:off x="583380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2" name="Straight Connector 31">
            <a:extLst>
              <a:ext uri="{FF2B5EF4-FFF2-40B4-BE49-F238E27FC236}">
                <a16:creationId xmlns:a16="http://schemas.microsoft.com/office/drawing/2014/main" id="{FA0D4E54-4CD3-D526-DEED-81769F41304D}"/>
              </a:ext>
            </a:extLst>
          </p:cNvPr>
          <p:cNvCxnSpPr>
            <a:cxnSpLocks/>
          </p:cNvCxnSpPr>
          <p:nvPr userDrawn="1"/>
        </p:nvCxnSpPr>
        <p:spPr>
          <a:xfrm>
            <a:off x="6117513"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3" name="Arrow: Chevron 32">
            <a:extLst>
              <a:ext uri="{FF2B5EF4-FFF2-40B4-BE49-F238E27FC236}">
                <a16:creationId xmlns:a16="http://schemas.microsoft.com/office/drawing/2014/main" id="{8E6AA380-E662-A92F-D609-F474C925FADA}"/>
              </a:ext>
            </a:extLst>
          </p:cNvPr>
          <p:cNvSpPr/>
          <p:nvPr userDrawn="1"/>
        </p:nvSpPr>
        <p:spPr>
          <a:xfrm>
            <a:off x="872974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4" name="Straight Connector 33">
            <a:extLst>
              <a:ext uri="{FF2B5EF4-FFF2-40B4-BE49-F238E27FC236}">
                <a16:creationId xmlns:a16="http://schemas.microsoft.com/office/drawing/2014/main" id="{D5163727-FD74-E51F-D285-A4FDEAB2E16E}"/>
              </a:ext>
            </a:extLst>
          </p:cNvPr>
          <p:cNvCxnSpPr>
            <a:cxnSpLocks/>
          </p:cNvCxnSpPr>
          <p:nvPr userDrawn="1"/>
        </p:nvCxnSpPr>
        <p:spPr>
          <a:xfrm>
            <a:off x="9024117"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ACA7782-B627-5E5D-977C-78713F8554CD}"/>
              </a:ext>
            </a:extLst>
          </p:cNvPr>
          <p:cNvSpPr/>
          <p:nvPr userDrawn="1"/>
        </p:nvSpPr>
        <p:spPr>
          <a:xfrm>
            <a:off x="1163635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800117037"/>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melin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628628"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952457"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62853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95239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800"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34811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7276286"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727625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9600115"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9600117"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24" name="Straight Connector 23">
            <a:extLst>
              <a:ext uri="{FF2B5EF4-FFF2-40B4-BE49-F238E27FC236}">
                <a16:creationId xmlns:a16="http://schemas.microsoft.com/office/drawing/2014/main" id="{84AD16E6-DFB2-3260-E7C2-D0F51629D8A7}"/>
              </a:ext>
            </a:extLst>
          </p:cNvPr>
          <p:cNvCxnSpPr>
            <a:cxnSpLocks/>
          </p:cNvCxnSpPr>
          <p:nvPr userDrawn="1"/>
        </p:nvCxnSpPr>
        <p:spPr>
          <a:xfrm>
            <a:off x="2628629"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3DACABFD-232F-18BC-919F-CAD8A133DCDE}"/>
              </a:ext>
            </a:extLst>
          </p:cNvPr>
          <p:cNvSpPr/>
          <p:nvPr userDrawn="1"/>
        </p:nvSpPr>
        <p:spPr>
          <a:xfrm>
            <a:off x="4671947"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6" name="Straight Connector 25">
            <a:extLst>
              <a:ext uri="{FF2B5EF4-FFF2-40B4-BE49-F238E27FC236}">
                <a16:creationId xmlns:a16="http://schemas.microsoft.com/office/drawing/2014/main" id="{FFEA3E50-1AFA-3BF7-A87F-151906E60032}"/>
              </a:ext>
            </a:extLst>
          </p:cNvPr>
          <p:cNvCxnSpPr>
            <a:cxnSpLocks/>
          </p:cNvCxnSpPr>
          <p:nvPr userDrawn="1"/>
        </p:nvCxnSpPr>
        <p:spPr>
          <a:xfrm>
            <a:off x="4952395"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7" name="Arrow: Chevron 26">
            <a:extLst>
              <a:ext uri="{FF2B5EF4-FFF2-40B4-BE49-F238E27FC236}">
                <a16:creationId xmlns:a16="http://schemas.microsoft.com/office/drawing/2014/main" id="{95E84197-6880-09C2-1E08-4B7A842980F1}"/>
              </a:ext>
            </a:extLst>
          </p:cNvPr>
          <p:cNvSpPr/>
          <p:nvPr userDrawn="1"/>
        </p:nvSpPr>
        <p:spPr>
          <a:xfrm>
            <a:off x="6995713"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8" name="Straight Connector 27">
            <a:extLst>
              <a:ext uri="{FF2B5EF4-FFF2-40B4-BE49-F238E27FC236}">
                <a16:creationId xmlns:a16="http://schemas.microsoft.com/office/drawing/2014/main" id="{DBA4F882-E214-37A5-1366-A11A8B3C2119}"/>
              </a:ext>
            </a:extLst>
          </p:cNvPr>
          <p:cNvCxnSpPr>
            <a:cxnSpLocks/>
          </p:cNvCxnSpPr>
          <p:nvPr userDrawn="1"/>
        </p:nvCxnSpPr>
        <p:spPr>
          <a:xfrm>
            <a:off x="7276161"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9" name="Arrow: Chevron 28">
            <a:extLst>
              <a:ext uri="{FF2B5EF4-FFF2-40B4-BE49-F238E27FC236}">
                <a16:creationId xmlns:a16="http://schemas.microsoft.com/office/drawing/2014/main" id="{7A04A431-73CA-32DE-D035-406F2582A75A}"/>
              </a:ext>
            </a:extLst>
          </p:cNvPr>
          <p:cNvSpPr/>
          <p:nvPr userDrawn="1"/>
        </p:nvSpPr>
        <p:spPr>
          <a:xfrm>
            <a:off x="931947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6" name="Straight Connector 35">
            <a:extLst>
              <a:ext uri="{FF2B5EF4-FFF2-40B4-BE49-F238E27FC236}">
                <a16:creationId xmlns:a16="http://schemas.microsoft.com/office/drawing/2014/main" id="{AE570E91-ABB2-A812-B684-C45EB139B97D}"/>
              </a:ext>
            </a:extLst>
          </p:cNvPr>
          <p:cNvCxnSpPr>
            <a:cxnSpLocks/>
          </p:cNvCxnSpPr>
          <p:nvPr userDrawn="1"/>
        </p:nvCxnSpPr>
        <p:spPr>
          <a:xfrm>
            <a:off x="9599927"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7" name="Arrow: Chevron 36">
            <a:extLst>
              <a:ext uri="{FF2B5EF4-FFF2-40B4-BE49-F238E27FC236}">
                <a16:creationId xmlns:a16="http://schemas.microsoft.com/office/drawing/2014/main" id="{1AF30669-A2A4-2FDE-F80A-35E06EF01380}"/>
              </a:ext>
            </a:extLst>
          </p:cNvPr>
          <p:cNvSpPr/>
          <p:nvPr userDrawn="1"/>
        </p:nvSpPr>
        <p:spPr>
          <a:xfrm>
            <a:off x="11643245"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474044538"/>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melin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237266" y="2282973"/>
            <a:ext cx="1620000" cy="270000"/>
          </a:xfrm>
        </p:spPr>
        <p:txBody>
          <a:bodyPr vert="horz" lIns="0" tIns="0" rIns="0" bIns="0" rtlCol="0">
            <a:noAutofit/>
          </a:bodyPr>
          <a:lstStyle>
            <a:lvl1pPr>
              <a:defRPr lang="en-US" sz="1200" b="1" i="0" dirty="0"/>
            </a:lvl1pPr>
          </a:lstStyle>
          <a:p>
            <a:pPr marL="0" lvl="0" indent="0">
              <a:buNone/>
            </a:pPr>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169733"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237167"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169659"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198078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6102200"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6102151"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8034667"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8034643"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31" name="Text Placeholder 9">
            <a:extLst>
              <a:ext uri="{FF2B5EF4-FFF2-40B4-BE49-F238E27FC236}">
                <a16:creationId xmlns:a16="http://schemas.microsoft.com/office/drawing/2014/main" id="{7F5921D6-64BE-2161-A143-2DD17980F619}"/>
              </a:ext>
            </a:extLst>
          </p:cNvPr>
          <p:cNvSpPr>
            <a:spLocks noGrp="1"/>
          </p:cNvSpPr>
          <p:nvPr>
            <p:ph type="body" sz="quarter" idx="32"/>
          </p:nvPr>
        </p:nvSpPr>
        <p:spPr>
          <a:xfrm>
            <a:off x="9967132"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32" name="Text Placeholder 19">
            <a:extLst>
              <a:ext uri="{FF2B5EF4-FFF2-40B4-BE49-F238E27FC236}">
                <a16:creationId xmlns:a16="http://schemas.microsoft.com/office/drawing/2014/main" id="{24C0D168-202E-E51B-E59E-8C97350E1781}"/>
              </a:ext>
            </a:extLst>
          </p:cNvPr>
          <p:cNvSpPr>
            <a:spLocks noGrp="1"/>
          </p:cNvSpPr>
          <p:nvPr>
            <p:ph type="body" sz="quarter" idx="33"/>
          </p:nvPr>
        </p:nvSpPr>
        <p:spPr>
          <a:xfrm>
            <a:off x="9967134"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4" name="Straight Connector 33">
            <a:extLst>
              <a:ext uri="{FF2B5EF4-FFF2-40B4-BE49-F238E27FC236}">
                <a16:creationId xmlns:a16="http://schemas.microsoft.com/office/drawing/2014/main" id="{C37B2904-10A6-C3A5-8D83-683C63BB01AF}"/>
              </a:ext>
            </a:extLst>
          </p:cNvPr>
          <p:cNvCxnSpPr>
            <a:cxnSpLocks/>
          </p:cNvCxnSpPr>
          <p:nvPr userDrawn="1"/>
        </p:nvCxnSpPr>
        <p:spPr>
          <a:xfrm>
            <a:off x="2240911"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47832D4-502D-A508-2B20-B5B27FE51634}"/>
              </a:ext>
            </a:extLst>
          </p:cNvPr>
          <p:cNvSpPr/>
          <p:nvPr userDrawn="1"/>
        </p:nvSpPr>
        <p:spPr>
          <a:xfrm>
            <a:off x="391702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8" name="Straight Connector 37">
            <a:extLst>
              <a:ext uri="{FF2B5EF4-FFF2-40B4-BE49-F238E27FC236}">
                <a16:creationId xmlns:a16="http://schemas.microsoft.com/office/drawing/2014/main" id="{7BD95FB1-1C25-533D-3CF4-8A51280DDBD0}"/>
              </a:ext>
            </a:extLst>
          </p:cNvPr>
          <p:cNvCxnSpPr>
            <a:cxnSpLocks/>
          </p:cNvCxnSpPr>
          <p:nvPr userDrawn="1"/>
        </p:nvCxnSpPr>
        <p:spPr>
          <a:xfrm>
            <a:off x="4169659"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9" name="Arrow: Chevron 38">
            <a:extLst>
              <a:ext uri="{FF2B5EF4-FFF2-40B4-BE49-F238E27FC236}">
                <a16:creationId xmlns:a16="http://schemas.microsoft.com/office/drawing/2014/main" id="{9D606AD1-4414-16B1-1215-97D7AFA56C9F}"/>
              </a:ext>
            </a:extLst>
          </p:cNvPr>
          <p:cNvSpPr/>
          <p:nvPr userDrawn="1"/>
        </p:nvSpPr>
        <p:spPr>
          <a:xfrm>
            <a:off x="584577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0" name="Straight Connector 39">
            <a:extLst>
              <a:ext uri="{FF2B5EF4-FFF2-40B4-BE49-F238E27FC236}">
                <a16:creationId xmlns:a16="http://schemas.microsoft.com/office/drawing/2014/main" id="{E5863BC1-2263-E713-9FF3-2640450DEF28}"/>
              </a:ext>
            </a:extLst>
          </p:cNvPr>
          <p:cNvCxnSpPr>
            <a:cxnSpLocks/>
          </p:cNvCxnSpPr>
          <p:nvPr userDrawn="1"/>
        </p:nvCxnSpPr>
        <p:spPr>
          <a:xfrm>
            <a:off x="6110598"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1" name="Arrow: Chevron 40">
            <a:extLst>
              <a:ext uri="{FF2B5EF4-FFF2-40B4-BE49-F238E27FC236}">
                <a16:creationId xmlns:a16="http://schemas.microsoft.com/office/drawing/2014/main" id="{6379909B-399A-153E-493D-37296869A7F0}"/>
              </a:ext>
            </a:extLst>
          </p:cNvPr>
          <p:cNvSpPr/>
          <p:nvPr userDrawn="1"/>
        </p:nvSpPr>
        <p:spPr>
          <a:xfrm>
            <a:off x="778670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2" name="Straight Connector 41">
            <a:extLst>
              <a:ext uri="{FF2B5EF4-FFF2-40B4-BE49-F238E27FC236}">
                <a16:creationId xmlns:a16="http://schemas.microsoft.com/office/drawing/2014/main" id="{EF6449C8-F3AF-7E2E-BAA8-72A82AE89478}"/>
              </a:ext>
            </a:extLst>
          </p:cNvPr>
          <p:cNvCxnSpPr>
            <a:cxnSpLocks/>
          </p:cNvCxnSpPr>
          <p:nvPr userDrawn="1"/>
        </p:nvCxnSpPr>
        <p:spPr>
          <a:xfrm>
            <a:off x="803464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3" name="Arrow: Chevron 42">
            <a:extLst>
              <a:ext uri="{FF2B5EF4-FFF2-40B4-BE49-F238E27FC236}">
                <a16:creationId xmlns:a16="http://schemas.microsoft.com/office/drawing/2014/main" id="{87196DB2-5D1E-4430-FA42-A39FC745E121}"/>
              </a:ext>
            </a:extLst>
          </p:cNvPr>
          <p:cNvSpPr/>
          <p:nvPr userDrawn="1"/>
        </p:nvSpPr>
        <p:spPr>
          <a:xfrm>
            <a:off x="971075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4" name="Straight Connector 43">
            <a:extLst>
              <a:ext uri="{FF2B5EF4-FFF2-40B4-BE49-F238E27FC236}">
                <a16:creationId xmlns:a16="http://schemas.microsoft.com/office/drawing/2014/main" id="{24E529B4-EB17-A0EB-9305-743BF2013A0A}"/>
              </a:ext>
            </a:extLst>
          </p:cNvPr>
          <p:cNvCxnSpPr>
            <a:cxnSpLocks/>
          </p:cNvCxnSpPr>
          <p:nvPr userDrawn="1"/>
        </p:nvCxnSpPr>
        <p:spPr>
          <a:xfrm>
            <a:off x="997167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5" name="Arrow: Chevron 44">
            <a:extLst>
              <a:ext uri="{FF2B5EF4-FFF2-40B4-BE49-F238E27FC236}">
                <a16:creationId xmlns:a16="http://schemas.microsoft.com/office/drawing/2014/main" id="{A892BA53-DD7A-BDD3-32D9-49FC10D5A1CE}"/>
              </a:ext>
            </a:extLst>
          </p:cNvPr>
          <p:cNvSpPr/>
          <p:nvPr userDrawn="1"/>
        </p:nvSpPr>
        <p:spPr>
          <a:xfrm>
            <a:off x="1164778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312662453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1_Outro -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11" name="TextBox 10">
            <a:extLst>
              <a:ext uri="{FF2B5EF4-FFF2-40B4-BE49-F238E27FC236}">
                <a16:creationId xmlns:a16="http://schemas.microsoft.com/office/drawing/2014/main" id="{1E5C39CC-12F0-243C-E79C-57F054AE9789}"/>
              </a:ext>
            </a:extLst>
          </p:cNvPr>
          <p:cNvSpPr txBox="1"/>
          <p:nvPr userDrawn="1"/>
        </p:nvSpPr>
        <p:spPr>
          <a:xfrm>
            <a:off x="304799" y="4536000"/>
            <a:ext cx="7558158"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effectLst/>
                <a:latin typeface="+mj-lt"/>
                <a:ea typeface="Aptos" panose="020B0004020202020204" pitchFamily="34" charset="0"/>
                <a:cs typeface="Times New Roman" panose="02020603050405020304" pitchFamily="18" charset="0"/>
              </a:rPr>
              <a:t>Forvis</a:t>
            </a:r>
            <a:r>
              <a:rPr lang="en-GB" sz="1000" kern="100" spc="-10" baseline="0" dirty="0">
                <a:effectLst/>
                <a:latin typeface="+mj-lt"/>
                <a:ea typeface="Aptos" panose="020B0004020202020204" pitchFamily="34" charset="0"/>
                <a:cs typeface="Times New Roman" panose="02020603050405020304" pitchFamily="18" charset="0"/>
              </a:rPr>
              <a:t> Mazars xxx : adapt for legal entity].</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799" y="1258888"/>
            <a:ext cx="3268869" cy="369332"/>
          </a:xfrm>
          <a:prstGeom prst="rect">
            <a:avLst/>
          </a:prstGeom>
          <a:noFill/>
        </p:spPr>
        <p:txBody>
          <a:bodyPr wrap="square" lIns="0" rIns="0" rtlCol="0">
            <a:spAutoFit/>
          </a:bodyPr>
          <a:lstStyle/>
          <a:p>
            <a:r>
              <a:rPr lang="en-GB" b="1" dirty="0" err="1"/>
              <a:t>Forvis</a:t>
            </a:r>
            <a:r>
              <a:rPr lang="en-GB" b="1" dirty="0"/>
              <a:t> Mazars</a:t>
            </a:r>
          </a:p>
        </p:txBody>
      </p:sp>
      <p:sp>
        <p:nvSpPr>
          <p:cNvPr id="5" name="TextBox 4">
            <a:extLst>
              <a:ext uri="{FF2B5EF4-FFF2-40B4-BE49-F238E27FC236}">
                <a16:creationId xmlns:a16="http://schemas.microsoft.com/office/drawing/2014/main" id="{7D67CEAA-8DDD-841F-D884-3A662B0ADE62}"/>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sp>
        <p:nvSpPr>
          <p:cNvPr id="3" name="Footer Placeholder 4">
            <a:extLst>
              <a:ext uri="{FF2B5EF4-FFF2-40B4-BE49-F238E27FC236}">
                <a16:creationId xmlns:a16="http://schemas.microsoft.com/office/drawing/2014/main" id="{66085AAD-F041-418D-E93F-40C28A0BF92D}"/>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6" name="TextBox 5">
            <a:extLst>
              <a:ext uri="{FF2B5EF4-FFF2-40B4-BE49-F238E27FC236}">
                <a16:creationId xmlns:a16="http://schemas.microsoft.com/office/drawing/2014/main" id="{E01D5AA6-5D4D-16BA-3C98-BE0A3B18F8B9}"/>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t>LinkedIn</a:t>
            </a:r>
          </a:p>
          <a:p>
            <a:pPr rtl="0"/>
            <a:r>
              <a:rPr lang="en-GB" sz="1200" dirty="0" err="1">
                <a:hlinkClick r:id="rId2" tooltip="https://www.linkedin.com/company/forvis-mazars-group/"/>
              </a:rPr>
              <a:t>Forvis</a:t>
            </a:r>
            <a:r>
              <a:rPr lang="en-GB" sz="1200" dirty="0">
                <a:hlinkClick r:id="rId2" tooltip="https://www.linkedin.com/company/forvis-mazars-group/"/>
              </a:rPr>
              <a:t> Mazars Group</a:t>
            </a:r>
            <a:endParaRPr lang="en-GB" sz="1200" dirty="0"/>
          </a:p>
          <a:p>
            <a:pPr rtl="0"/>
            <a:endParaRPr lang="en-GB" sz="1200" dirty="0"/>
          </a:p>
          <a:p>
            <a:pPr rtl="0"/>
            <a:r>
              <a:rPr lang="en-GB" sz="1200" b="1" dirty="0"/>
              <a:t>X</a:t>
            </a:r>
          </a:p>
          <a:p>
            <a:pPr rtl="0"/>
            <a:r>
              <a:rPr lang="en-GB" sz="1200" dirty="0">
                <a:hlinkClick r:id="rId3" tooltip="https://twitter.com/forvismazarsgrp"/>
              </a:rPr>
              <a:t>@ForvisMazarsGrp</a:t>
            </a:r>
            <a:endParaRPr lang="en-GB" sz="1200" dirty="0"/>
          </a:p>
          <a:p>
            <a:pPr rtl="0"/>
            <a:endParaRPr lang="en-GB" sz="1200" dirty="0"/>
          </a:p>
          <a:p>
            <a:pPr rtl="0"/>
            <a:r>
              <a:rPr lang="en-GB" sz="1200" b="1" dirty="0"/>
              <a:t>Instagram</a:t>
            </a:r>
          </a:p>
          <a:p>
            <a:pPr rtl="0"/>
            <a:r>
              <a:rPr lang="en-GB" sz="1200" dirty="0">
                <a:hlinkClick r:id="rId4" tooltip="https://www.instagram.com/forvismazarsgroup/"/>
              </a:rPr>
              <a:t>@forvismazarsgroup</a:t>
            </a:r>
            <a:endParaRPr lang="en-GB" sz="1200" dirty="0"/>
          </a:p>
          <a:p>
            <a:pPr rtl="0"/>
            <a:endParaRPr lang="en-GB" sz="1200" dirty="0"/>
          </a:p>
          <a:p>
            <a:pPr rtl="0"/>
            <a:r>
              <a:rPr lang="en-GB" sz="1200" b="1" dirty="0"/>
              <a:t>Facebook</a:t>
            </a:r>
          </a:p>
          <a:p>
            <a:pPr rtl="0"/>
            <a:r>
              <a:rPr lang="en-GB" sz="1200" dirty="0" err="1">
                <a:hlinkClick r:id="rId5" tooltip="https://www.facebook.com/forvismazarsgroup/"/>
              </a:rPr>
              <a:t>Forvis</a:t>
            </a:r>
            <a:r>
              <a:rPr lang="en-GB" sz="1200" dirty="0">
                <a:hlinkClick r:id="rId5" tooltip="https://www.facebook.com/forvismazarsgroup/"/>
              </a:rPr>
              <a:t> Mazars Group</a:t>
            </a:r>
            <a:endParaRPr lang="en-GB" sz="1200" dirty="0"/>
          </a:p>
          <a:p>
            <a:pPr rtl="0"/>
            <a:endParaRPr lang="en-GB" sz="1200" dirty="0"/>
          </a:p>
          <a:p>
            <a:pPr rtl="0"/>
            <a:r>
              <a:rPr lang="en-GB" sz="1200" b="1" dirty="0"/>
              <a:t>YouTube</a:t>
            </a:r>
          </a:p>
          <a:p>
            <a:pPr rtl="0"/>
            <a:r>
              <a:rPr lang="en-GB" sz="1200" dirty="0">
                <a:effectLst/>
                <a:hlinkClick r:id="rId6" tooltip="https://www.youtube.com/@forvismazarsgroup"/>
              </a:rPr>
              <a:t>@ForvisMazarsGroup</a:t>
            </a:r>
            <a:endParaRPr lang="en-GB" sz="1200" dirty="0"/>
          </a:p>
        </p:txBody>
      </p:sp>
      <p:pic>
        <p:nvPicPr>
          <p:cNvPr id="7" name="Grafik 11">
            <a:extLst>
              <a:ext uri="{FF2B5EF4-FFF2-40B4-BE49-F238E27FC236}">
                <a16:creationId xmlns:a16="http://schemas.microsoft.com/office/drawing/2014/main" id="{62F6E443-5C86-C36B-0E1C-979A22C8B618}"/>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7865344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Outro -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4" name="TextBox 3">
            <a:extLst>
              <a:ext uri="{FF2B5EF4-FFF2-40B4-BE49-F238E27FC236}">
                <a16:creationId xmlns:a16="http://schemas.microsoft.com/office/drawing/2014/main" id="{33A6B847-F006-2430-42BA-AE0EB44FAF6F}"/>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275B74B9-4873-9050-8CCB-54EB5DFBF042}"/>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8" name="Footer Placeholder 4">
            <a:extLst>
              <a:ext uri="{FF2B5EF4-FFF2-40B4-BE49-F238E27FC236}">
                <a16:creationId xmlns:a16="http://schemas.microsoft.com/office/drawing/2014/main" id="{88B71A06-C5AC-A61B-B714-5E5146BBED9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10" name="TextBox 9">
            <a:extLst>
              <a:ext uri="{FF2B5EF4-FFF2-40B4-BE49-F238E27FC236}">
                <a16:creationId xmlns:a16="http://schemas.microsoft.com/office/drawing/2014/main" id="{78D1770E-09D8-5EDC-812A-CDF8B11F6A14}"/>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
        <p:nvSpPr>
          <p:cNvPr id="5" name="TextBox 4">
            <a:extLst>
              <a:ext uri="{FF2B5EF4-FFF2-40B4-BE49-F238E27FC236}">
                <a16:creationId xmlns:a16="http://schemas.microsoft.com/office/drawing/2014/main" id="{1A6681F3-DF5C-9A79-C796-030CD88ED76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9" name="Gruppieren 4">
            <a:extLst>
              <a:ext uri="{FF2B5EF4-FFF2-40B4-BE49-F238E27FC236}">
                <a16:creationId xmlns:a16="http://schemas.microsoft.com/office/drawing/2014/main" id="{16D7B7D0-CAA1-33E1-AC7F-493B661B6699}"/>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0539D95-EAC1-D112-501B-3C51BC30F6F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F9706EFB-E78A-458A-0FEE-96565A86EA35}"/>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34010E6E-22C6-BEF9-6EA3-87B4AE7D989F}"/>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C70C816D-E76D-EE5F-241F-10705C3D5FA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6933F0A-6333-CAB5-C05B-694D2354C4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D8A7E05E-2624-3141-586F-6F47645A53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2AB227D-AD87-0D4E-7CEC-D0941E4CDF1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0A1391-2DA3-17F9-FE0D-78C16DFB2E1D}"/>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BCC3DA37-6B18-A1DB-B978-EE6DAAEC5E34}"/>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673CABE2-3A8F-C76B-E245-E39DAE08378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9CDF7043-E228-8C40-B2E2-14438E610B8F}"/>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B778131F-3CF5-7B6C-BEF5-CD6A7EB4FA7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74785441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1_Outro -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3" name="TextBox 2">
            <a:extLst>
              <a:ext uri="{FF2B5EF4-FFF2-40B4-BE49-F238E27FC236}">
                <a16:creationId xmlns:a16="http://schemas.microsoft.com/office/drawing/2014/main" id="{F6A8A48E-3DB5-8F57-1922-EFA1E893A99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8" name="TextBox 7">
            <a:extLst>
              <a:ext uri="{FF2B5EF4-FFF2-40B4-BE49-F238E27FC236}">
                <a16:creationId xmlns:a16="http://schemas.microsoft.com/office/drawing/2014/main" id="{A555D323-AE36-3785-6FE9-60DAF69452E6}"/>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9" name="Footer Placeholder 4">
            <a:extLst>
              <a:ext uri="{FF2B5EF4-FFF2-40B4-BE49-F238E27FC236}">
                <a16:creationId xmlns:a16="http://schemas.microsoft.com/office/drawing/2014/main" id="{30646158-6A81-A2DD-C44D-921AE4DD9EC2}"/>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Box 3">
            <a:extLst>
              <a:ext uri="{FF2B5EF4-FFF2-40B4-BE49-F238E27FC236}">
                <a16:creationId xmlns:a16="http://schemas.microsoft.com/office/drawing/2014/main" id="{C07C486E-864B-EC69-F73D-2BCE06D2B883}"/>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7" name="Gruppieren 4">
            <a:extLst>
              <a:ext uri="{FF2B5EF4-FFF2-40B4-BE49-F238E27FC236}">
                <a16:creationId xmlns:a16="http://schemas.microsoft.com/office/drawing/2014/main" id="{091816A5-BD37-489B-D2B6-2E931BB6109A}"/>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8F632344-56D7-0FE9-7CC7-A953410D503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67DB1019-32A2-B27F-B69E-A59F6EC4E8C1}"/>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EC75B3C7-C0BF-C06A-7259-073AADCB63F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F539D7D3-F9E3-3C64-A2B8-68BC730C5E9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A4BC7DA0-2356-A666-C7B1-04A021761BD4}"/>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BCAC0528-D774-2869-78E8-D5992464700B}"/>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14E3DF9-4D81-0920-12B3-F98AE476EFE6}"/>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35F50D-0BA8-7023-F046-3376CE69D7B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311D18AC-7BA1-0080-8301-3BA2AA0B5E05}"/>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7FBF8150-2700-0D05-A05E-98BF121A5E10}"/>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13CA858-01DD-D948-1929-16FDA2F8CF2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878BB63-0766-B99F-A211-9CBDD1748824}"/>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5" name="TextBox 4">
            <a:extLst>
              <a:ext uri="{FF2B5EF4-FFF2-40B4-BE49-F238E27FC236}">
                <a16:creationId xmlns:a16="http://schemas.microsoft.com/office/drawing/2014/main" id="{6A07E05C-45AB-BB39-AE34-591CC2E3A7A5}"/>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Tree>
    <p:extLst>
      <p:ext uri="{BB962C8B-B14F-4D97-AF65-F5344CB8AC3E}">
        <p14:creationId xmlns:p14="http://schemas.microsoft.com/office/powerpoint/2010/main" val="394115623"/>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Outro - editable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t>Forvis</a:t>
            </a:r>
            <a:r>
              <a:rPr lang="en-US" b="1" noProof="0" dirty="0"/>
              <a:t> Mazars</a:t>
            </a:r>
          </a:p>
        </p:txBody>
      </p:sp>
      <p:sp>
        <p:nvSpPr>
          <p:cNvPr id="6" name="Footer Placeholder 4">
            <a:extLst>
              <a:ext uri="{FF2B5EF4-FFF2-40B4-BE49-F238E27FC236}">
                <a16:creationId xmlns:a16="http://schemas.microsoft.com/office/drawing/2014/main" id="{5DCD00FD-34AE-282D-C880-195BA8A87E3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5" name="Text Placeholder 35">
            <a:extLst>
              <a:ext uri="{FF2B5EF4-FFF2-40B4-BE49-F238E27FC236}">
                <a16:creationId xmlns:a16="http://schemas.microsoft.com/office/drawing/2014/main" id="{9C6042AF-CA98-5D4F-3D53-833BF69333E5}"/>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tx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7" name="Text Placeholder 8">
            <a:extLst>
              <a:ext uri="{FF2B5EF4-FFF2-40B4-BE49-F238E27FC236}">
                <a16:creationId xmlns:a16="http://schemas.microsoft.com/office/drawing/2014/main" id="{77FEB549-0F87-A538-F4B9-811388A1BED0}"/>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tx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3" name="TextBox 2">
            <a:extLst>
              <a:ext uri="{FF2B5EF4-FFF2-40B4-BE49-F238E27FC236}">
                <a16:creationId xmlns:a16="http://schemas.microsoft.com/office/drawing/2014/main" id="{6171E355-0B80-FC55-839B-E1D00403BB83}"/>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pic>
        <p:nvPicPr>
          <p:cNvPr id="8" name="Grafik 11">
            <a:extLst>
              <a:ext uri="{FF2B5EF4-FFF2-40B4-BE49-F238E27FC236}">
                <a16:creationId xmlns:a16="http://schemas.microsoft.com/office/drawing/2014/main" id="{40D8D18D-A576-7317-B790-8565F1D3C2A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42539973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1_Outro - editable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9" name="Footer Placeholder 4">
            <a:extLst>
              <a:ext uri="{FF2B5EF4-FFF2-40B4-BE49-F238E27FC236}">
                <a16:creationId xmlns:a16="http://schemas.microsoft.com/office/drawing/2014/main" id="{35C88522-8DF1-4607-A4E2-5B0EF73CC98B}"/>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 Placeholder 35">
            <a:extLst>
              <a:ext uri="{FF2B5EF4-FFF2-40B4-BE49-F238E27FC236}">
                <a16:creationId xmlns:a16="http://schemas.microsoft.com/office/drawing/2014/main" id="{77766A40-38EE-605E-12B8-98AD84EC9B30}"/>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5" name="Text Placeholder 8">
            <a:extLst>
              <a:ext uri="{FF2B5EF4-FFF2-40B4-BE49-F238E27FC236}">
                <a16:creationId xmlns:a16="http://schemas.microsoft.com/office/drawing/2014/main" id="{F7842F13-7A60-C31D-02FB-801B693F4123}"/>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7" name="TextBox 6">
            <a:extLst>
              <a:ext uri="{FF2B5EF4-FFF2-40B4-BE49-F238E27FC236}">
                <a16:creationId xmlns:a16="http://schemas.microsoft.com/office/drawing/2014/main" id="{3C528E0C-2539-CDDA-14D5-AA97D085503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F4045705-66B2-0DDE-4848-EEA835B279B1}"/>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444DCA7-76AE-14E4-AF09-3364A3F6CFA2}"/>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9D8ED99-1B8A-6735-55C2-A2E01099915D}"/>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86CF0E44-319A-A96A-8F98-F9330823D206}"/>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1D128114-D3B9-CED8-2772-5305726980D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2C085591-FBE0-3310-9EA1-8CC0F8BDC0B6}"/>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FD9891E-D3E1-39A4-3C13-6AF8943A0C9A}"/>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07FD17DD-F205-786D-9BDD-2D2B5EEF8F1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BFC3790-5B7F-850F-4D0E-38003DA8849A}"/>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9F8B4662-4C4C-5441-631A-2B748DD246E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FA9E71A6-99D3-2CFF-B1B1-2DE2FE197219}"/>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FF276700-0687-3895-59A6-B37CED253D2D}"/>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2FF2C670-6F23-F064-6229-E6522A83EE6B}"/>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63A41A46-F49E-4D5E-0193-A951BA1C431A}"/>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844715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Outro - editable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8" name="Footer Placeholder 4">
            <a:extLst>
              <a:ext uri="{FF2B5EF4-FFF2-40B4-BE49-F238E27FC236}">
                <a16:creationId xmlns:a16="http://schemas.microsoft.com/office/drawing/2014/main" id="{BC07936C-48E7-A507-69B6-73F81D1F42D9}"/>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5" name="Text Placeholder 35">
            <a:extLst>
              <a:ext uri="{FF2B5EF4-FFF2-40B4-BE49-F238E27FC236}">
                <a16:creationId xmlns:a16="http://schemas.microsoft.com/office/drawing/2014/main" id="{A8A47AE8-EFAE-D657-385A-BF9D41DD4186}"/>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9" name="Text Placeholder 8">
            <a:extLst>
              <a:ext uri="{FF2B5EF4-FFF2-40B4-BE49-F238E27FC236}">
                <a16:creationId xmlns:a16="http://schemas.microsoft.com/office/drawing/2014/main" id="{B3C2BE14-477C-CB4E-A14A-DB75AA774A42}"/>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p>
        </p:txBody>
      </p:sp>
      <p:sp>
        <p:nvSpPr>
          <p:cNvPr id="4" name="TextBox 3">
            <a:extLst>
              <a:ext uri="{FF2B5EF4-FFF2-40B4-BE49-F238E27FC236}">
                <a16:creationId xmlns:a16="http://schemas.microsoft.com/office/drawing/2014/main" id="{D850E025-404D-9536-6D0C-2042221ADC94}"/>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DB5F9192-CCBE-5DB9-4308-24B0D5F5F9EA}"/>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600858C-044E-D467-95FF-4D8702D7C8FD}"/>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237FBE9F-E7E5-89E1-10BE-42983AEE81BF}"/>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70A2A876-9809-F9A0-5ADE-28D9E0D28834}"/>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7F50DE31-FF8B-006A-E904-FA745BF901F5}"/>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B9DA3AA6-8787-DF83-A9CD-2F9339325CDF}"/>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9D5B26A0-988D-ADD7-264F-4F69CAA40C47}"/>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9087F793-6FDA-9216-562F-CAFC24DC20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CA1A4E37-00E5-A4AB-295B-0F1B1CABAA38}"/>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671143A7-E075-AF6C-DC5D-F6F0B9323E48}"/>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1701761A-D466-6836-3FE0-86BEBC1A08D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3D5720FA-7265-0A9E-2775-EAA29B79B711}"/>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BDE3CED-D985-A5AF-3BB8-5EA739C8381A}"/>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949835D-3EFE-A7B4-098A-0AC2790E7CD3}"/>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485276200"/>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제목만">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AF8A-8016-BCC9-12B5-1D618C6DBF9E}"/>
              </a:ext>
            </a:extLst>
          </p:cNvPr>
          <p:cNvSpPr>
            <a:spLocks noGrp="1"/>
          </p:cNvSpPr>
          <p:nvPr>
            <p:ph type="title" hasCustomPrompt="1"/>
          </p:nvPr>
        </p:nvSpPr>
        <p:spPr>
          <a:xfrm>
            <a:off x="306000" y="306000"/>
            <a:ext cx="5648400" cy="360000"/>
          </a:xfrm>
        </p:spPr>
        <p:txBody>
          <a:bodyPr anchor="ctr"/>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E557783F-3B5D-FBBC-3B86-107F7D8E6E2B}"/>
              </a:ext>
            </a:extLst>
          </p:cNvPr>
          <p:cNvSpPr>
            <a:spLocks noGrp="1"/>
          </p:cNvSpPr>
          <p:nvPr>
            <p:ph type="dt" sz="half" idx="10"/>
          </p:nvPr>
        </p:nvSpPr>
        <p:spPr>
          <a:xfrm>
            <a:off x="6387315" y="6465600"/>
            <a:ext cx="2743200" cy="270000"/>
          </a:xfrm>
        </p:spPr>
        <p:txBody>
          <a:bodyPr lIns="0" tIns="0" rIns="0" bIns="0"/>
          <a:lstStyle/>
          <a:p>
            <a:r>
              <a:rPr lang="en-US"/>
              <a:t>Date</a:t>
            </a:r>
            <a:endParaRPr lang="en-GB" dirty="0"/>
          </a:p>
        </p:txBody>
      </p:sp>
      <p:sp>
        <p:nvSpPr>
          <p:cNvPr id="4" name="Footer Placeholder 3">
            <a:extLst>
              <a:ext uri="{FF2B5EF4-FFF2-40B4-BE49-F238E27FC236}">
                <a16:creationId xmlns:a16="http://schemas.microsoft.com/office/drawing/2014/main" id="{6DFEF2F1-42E8-46F7-31D5-40F93D392414}"/>
              </a:ext>
            </a:extLst>
          </p:cNvPr>
          <p:cNvSpPr>
            <a:spLocks noGrp="1"/>
          </p:cNvSpPr>
          <p:nvPr>
            <p:ph type="ftr" sz="quarter" idx="11"/>
          </p:nvPr>
        </p:nvSpPr>
        <p:spPr>
          <a:xfrm>
            <a:off x="2261472" y="6465600"/>
            <a:ext cx="4114800" cy="270000"/>
          </a:xfrm>
        </p:spPr>
        <p:txBody>
          <a:bodyPr lIns="0" tIns="0" rIns="0" bIns="0"/>
          <a:lstStyle/>
          <a:p>
            <a:r>
              <a:rPr lang="en-GB"/>
              <a:t>Title</a:t>
            </a:r>
            <a:endParaRPr lang="en-GB" dirty="0"/>
          </a:p>
        </p:txBody>
      </p:sp>
      <p:sp>
        <p:nvSpPr>
          <p:cNvPr id="5" name="Slide Number Placeholder 4">
            <a:extLst>
              <a:ext uri="{FF2B5EF4-FFF2-40B4-BE49-F238E27FC236}">
                <a16:creationId xmlns:a16="http://schemas.microsoft.com/office/drawing/2014/main" id="{8FE9ECC4-62F2-CD50-B09C-2AA803749042}"/>
              </a:ext>
            </a:extLst>
          </p:cNvPr>
          <p:cNvSpPr>
            <a:spLocks noGrp="1"/>
          </p:cNvSpPr>
          <p:nvPr>
            <p:ph type="sldNum" sz="quarter" idx="12"/>
          </p:nvPr>
        </p:nvSpPr>
        <p:spPr>
          <a:xfrm>
            <a:off x="304800" y="6465600"/>
            <a:ext cx="1945629" cy="270000"/>
          </a:xfrm>
        </p:spPr>
        <p:txBody>
          <a:bodyPr lIns="0" tIns="0" rIns="0" bIns="0"/>
          <a:lstStyle>
            <a:lvl1pPr algn="l">
              <a:defRPr/>
            </a:lvl1p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4C624DD-685D-7847-6014-2018E3CA64BF}"/>
              </a:ext>
            </a:extLst>
          </p:cNvPr>
          <p:cNvSpPr>
            <a:spLocks noGrp="1"/>
          </p:cNvSpPr>
          <p:nvPr>
            <p:ph type="body" sz="quarter" idx="13" hasCustomPrompt="1"/>
          </p:nvPr>
        </p:nvSpPr>
        <p:spPr>
          <a:xfrm>
            <a:off x="306000" y="673200"/>
            <a:ext cx="5648400" cy="360000"/>
          </a:xfrm>
        </p:spPr>
        <p:txBody>
          <a:bodyPr anchor="ctr"/>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259774514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image" Target="../media/image1.wmf"/><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E9FD2-6995-74C6-059B-87A19EAFB965}"/>
              </a:ext>
            </a:extLst>
          </p:cNvPr>
          <p:cNvSpPr>
            <a:spLocks noGrp="1"/>
          </p:cNvSpPr>
          <p:nvPr>
            <p:ph type="title"/>
          </p:nvPr>
        </p:nvSpPr>
        <p:spPr>
          <a:xfrm>
            <a:off x="306000" y="306000"/>
            <a:ext cx="11581200" cy="360000"/>
          </a:xfrm>
          <a:prstGeom prst="rect">
            <a:avLst/>
          </a:prstGeom>
        </p:spPr>
        <p:txBody>
          <a:bodyPr vert="horz" lIns="0" tIns="0" rIns="0" bIns="0" rtlCol="0" anchor="t">
            <a:noAutofit/>
          </a:bodyPr>
          <a:lstStyle/>
          <a:p>
            <a:r>
              <a:rPr lang="ko-KR" altLang="en-US"/>
              <a:t>마스터 제목 스타일 편집</a:t>
            </a:r>
            <a:endParaRPr lang="en-GB" dirty="0"/>
          </a:p>
        </p:txBody>
      </p:sp>
      <p:sp>
        <p:nvSpPr>
          <p:cNvPr id="3" name="Text Placeholder 2">
            <a:extLst>
              <a:ext uri="{FF2B5EF4-FFF2-40B4-BE49-F238E27FC236}">
                <a16:creationId xmlns:a16="http://schemas.microsoft.com/office/drawing/2014/main" id="{B1BC34D3-7536-C818-EFDA-AFF20251F0DA}"/>
              </a:ext>
            </a:extLst>
          </p:cNvPr>
          <p:cNvSpPr>
            <a:spLocks noGrp="1"/>
          </p:cNvSpPr>
          <p:nvPr>
            <p:ph type="body" idx="1"/>
          </p:nvPr>
        </p:nvSpPr>
        <p:spPr>
          <a:xfrm>
            <a:off x="306000" y="1620000"/>
            <a:ext cx="11581200" cy="4320000"/>
          </a:xfrm>
          <a:prstGeom prst="rect">
            <a:avLst/>
          </a:prstGeom>
        </p:spPr>
        <p:txBody>
          <a:bodyPr vert="horz" lIns="0" tIns="0" rIns="0" bIns="0" rtlCol="0">
            <a:no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4" name="Date Placeholder 3">
            <a:extLst>
              <a:ext uri="{FF2B5EF4-FFF2-40B4-BE49-F238E27FC236}">
                <a16:creationId xmlns:a16="http://schemas.microsoft.com/office/drawing/2014/main" id="{37022941-1361-6E63-B12A-06C77F5C0FBB}"/>
              </a:ext>
            </a:extLst>
          </p:cNvPr>
          <p:cNvSpPr>
            <a:spLocks noGrp="1"/>
          </p:cNvSpPr>
          <p:nvPr>
            <p:ph type="dt" sz="half" idx="2"/>
          </p:nvPr>
        </p:nvSpPr>
        <p:spPr>
          <a:xfrm>
            <a:off x="8560582" y="6417000"/>
            <a:ext cx="1260000" cy="270000"/>
          </a:xfrm>
          <a:prstGeom prst="rect">
            <a:avLst/>
          </a:prstGeom>
        </p:spPr>
        <p:txBody>
          <a:bodyPr vert="horz" lIns="0" tIns="45720" rIns="0" bIns="45720" rtlCol="0" anchor="ctr"/>
          <a:lstStyle>
            <a:lvl1pPr algn="r">
              <a:defRPr sz="1000">
                <a:solidFill>
                  <a:schemeClr val="tx1"/>
                </a:solidFill>
              </a:defRPr>
            </a:lvl1pPr>
          </a:lstStyle>
          <a:p>
            <a:r>
              <a:rPr lang="en-US"/>
              <a:t>Date</a:t>
            </a:r>
            <a:endParaRPr lang="en-GB" dirty="0"/>
          </a:p>
        </p:txBody>
      </p:sp>
      <p:sp>
        <p:nvSpPr>
          <p:cNvPr id="5" name="Footer Placeholder 4">
            <a:extLst>
              <a:ext uri="{FF2B5EF4-FFF2-40B4-BE49-F238E27FC236}">
                <a16:creationId xmlns:a16="http://schemas.microsoft.com/office/drawing/2014/main" id="{D5C9E4D8-93A5-6C78-B5B9-150B83256C33}"/>
              </a:ext>
            </a:extLst>
          </p:cNvPr>
          <p:cNvSpPr>
            <a:spLocks noGrp="1"/>
          </p:cNvSpPr>
          <p:nvPr>
            <p:ph type="ftr" sz="quarter" idx="3"/>
          </p:nvPr>
        </p:nvSpPr>
        <p:spPr>
          <a:xfrm>
            <a:off x="1200036" y="6417000"/>
            <a:ext cx="6069127" cy="270000"/>
          </a:xfrm>
          <a:prstGeom prst="rect">
            <a:avLst/>
          </a:prstGeom>
        </p:spPr>
        <p:txBody>
          <a:bodyPr vert="horz" lIns="0" tIns="45720" rIns="0" bIns="45720" rtlCol="0" anchor="ctr"/>
          <a:lstStyle>
            <a:lvl1pPr algn="ctr">
              <a:defRPr sz="1000">
                <a:solidFill>
                  <a:schemeClr val="tx1"/>
                </a:solidFill>
              </a:defRPr>
            </a:lvl1pPr>
          </a:lstStyle>
          <a:p>
            <a:r>
              <a:rPr lang="en-GB"/>
              <a:t>Title</a:t>
            </a:r>
            <a:endParaRPr lang="en-GB" dirty="0"/>
          </a:p>
        </p:txBody>
      </p:sp>
      <p:sp>
        <p:nvSpPr>
          <p:cNvPr id="6" name="Slide Number Placeholder 5">
            <a:extLst>
              <a:ext uri="{FF2B5EF4-FFF2-40B4-BE49-F238E27FC236}">
                <a16:creationId xmlns:a16="http://schemas.microsoft.com/office/drawing/2014/main" id="{15B14A89-CC20-0ECB-B7C5-296A21ECF522}"/>
              </a:ext>
            </a:extLst>
          </p:cNvPr>
          <p:cNvSpPr>
            <a:spLocks noGrp="1"/>
          </p:cNvSpPr>
          <p:nvPr>
            <p:ph type="sldNum" sz="quarter" idx="4"/>
          </p:nvPr>
        </p:nvSpPr>
        <p:spPr>
          <a:xfrm>
            <a:off x="300037" y="6417000"/>
            <a:ext cx="900000" cy="270000"/>
          </a:xfrm>
          <a:prstGeom prst="rect">
            <a:avLst/>
          </a:prstGeom>
        </p:spPr>
        <p:txBody>
          <a:bodyPr vert="horz" lIns="0" tIns="45720" rIns="0" bIns="45720" rtlCol="0" anchor="ctr"/>
          <a:lstStyle>
            <a:lvl1pPr algn="l">
              <a:defRPr sz="1000">
                <a:solidFill>
                  <a:schemeClr val="tx1"/>
                </a:solidFill>
              </a:defRPr>
            </a:lvl1pPr>
          </a:lstStyle>
          <a:p>
            <a:fld id="{721C06D9-4617-44B0-8711-1EF1C439A609}" type="slidenum">
              <a:rPr lang="en-GB" smtClean="0"/>
              <a:pPr/>
              <a:t>‹#›</a:t>
            </a:fld>
            <a:endParaRPr lang="en-GB" dirty="0"/>
          </a:p>
        </p:txBody>
      </p:sp>
      <p:sp>
        <p:nvSpPr>
          <p:cNvPr id="9" name="TextBox 8">
            <a:extLst>
              <a:ext uri="{FF2B5EF4-FFF2-40B4-BE49-F238E27FC236}">
                <a16:creationId xmlns:a16="http://schemas.microsoft.com/office/drawing/2014/main" id="{CE590955-4EF9-42DC-2545-2A78687F80FE}"/>
              </a:ext>
            </a:extLst>
          </p:cNvPr>
          <p:cNvSpPr txBox="1"/>
          <p:nvPr userDrawn="1"/>
        </p:nvSpPr>
        <p:spPr>
          <a:xfrm>
            <a:off x="-763351" y="378278"/>
            <a:ext cx="763351" cy="215444"/>
          </a:xfrm>
          <a:prstGeom prst="rect">
            <a:avLst/>
          </a:prstGeom>
          <a:noFill/>
        </p:spPr>
        <p:txBody>
          <a:bodyPr wrap="none" rtlCol="0">
            <a:spAutoFit/>
          </a:bodyPr>
          <a:lstStyle/>
          <a:p>
            <a:pPr algn="r"/>
            <a:r>
              <a:rPr lang="en-GB" sz="800" dirty="0">
                <a:solidFill>
                  <a:schemeClr val="tx1"/>
                </a:solidFill>
              </a:rPr>
              <a:t>Title position</a:t>
            </a:r>
          </a:p>
        </p:txBody>
      </p:sp>
      <p:sp>
        <p:nvSpPr>
          <p:cNvPr id="10" name="TextBox 9">
            <a:extLst>
              <a:ext uri="{FF2B5EF4-FFF2-40B4-BE49-F238E27FC236}">
                <a16:creationId xmlns:a16="http://schemas.microsoft.com/office/drawing/2014/main" id="{3ECA7508-55FC-E080-04D3-FAB46B4F6DCE}"/>
              </a:ext>
            </a:extLst>
          </p:cNvPr>
          <p:cNvSpPr txBox="1"/>
          <p:nvPr userDrawn="1"/>
        </p:nvSpPr>
        <p:spPr>
          <a:xfrm>
            <a:off x="-1885453" y="1041381"/>
            <a:ext cx="1885453" cy="215444"/>
          </a:xfrm>
          <a:prstGeom prst="rect">
            <a:avLst/>
          </a:prstGeom>
          <a:noFill/>
        </p:spPr>
        <p:txBody>
          <a:bodyPr wrap="none" rtlCol="0">
            <a:spAutoFit/>
          </a:bodyPr>
          <a:lstStyle/>
          <a:p>
            <a:pPr algn="r"/>
            <a:r>
              <a:rPr lang="en-GB" sz="800" dirty="0">
                <a:solidFill>
                  <a:schemeClr val="tx1"/>
                </a:solidFill>
              </a:rPr>
              <a:t>Maximum vertical position for content</a:t>
            </a:r>
          </a:p>
        </p:txBody>
      </p:sp>
      <p:sp>
        <p:nvSpPr>
          <p:cNvPr id="11" name="TextBox 10">
            <a:extLst>
              <a:ext uri="{FF2B5EF4-FFF2-40B4-BE49-F238E27FC236}">
                <a16:creationId xmlns:a16="http://schemas.microsoft.com/office/drawing/2014/main" id="{504E1C66-75FC-0179-2386-75B484CB4966}"/>
              </a:ext>
            </a:extLst>
          </p:cNvPr>
          <p:cNvSpPr txBox="1"/>
          <p:nvPr userDrawn="1"/>
        </p:nvSpPr>
        <p:spPr>
          <a:xfrm>
            <a:off x="-1856598" y="5734506"/>
            <a:ext cx="1856598" cy="215444"/>
          </a:xfrm>
          <a:prstGeom prst="rect">
            <a:avLst/>
          </a:prstGeom>
          <a:noFill/>
        </p:spPr>
        <p:txBody>
          <a:bodyPr wrap="none" rtlCol="0">
            <a:spAutoFit/>
          </a:bodyPr>
          <a:lstStyle/>
          <a:p>
            <a:pPr algn="r"/>
            <a:r>
              <a:rPr lang="en-GB" sz="800" dirty="0">
                <a:solidFill>
                  <a:schemeClr val="tx1"/>
                </a:solidFill>
              </a:rPr>
              <a:t>Minimum vertical position for content</a:t>
            </a:r>
          </a:p>
        </p:txBody>
      </p:sp>
      <p:sp>
        <p:nvSpPr>
          <p:cNvPr id="13" name="TextBox 12">
            <a:extLst>
              <a:ext uri="{FF2B5EF4-FFF2-40B4-BE49-F238E27FC236}">
                <a16:creationId xmlns:a16="http://schemas.microsoft.com/office/drawing/2014/main" id="{6F4C75A6-3E07-FB50-DCC7-0EA23683196A}"/>
              </a:ext>
            </a:extLst>
          </p:cNvPr>
          <p:cNvSpPr txBox="1"/>
          <p:nvPr userDrawn="1"/>
        </p:nvSpPr>
        <p:spPr>
          <a:xfrm>
            <a:off x="-914033" y="727528"/>
            <a:ext cx="914033" cy="215444"/>
          </a:xfrm>
          <a:prstGeom prst="rect">
            <a:avLst/>
          </a:prstGeom>
          <a:noFill/>
        </p:spPr>
        <p:txBody>
          <a:bodyPr wrap="none" rtlCol="0">
            <a:spAutoFit/>
          </a:bodyPr>
          <a:lstStyle/>
          <a:p>
            <a:pPr algn="r"/>
            <a:r>
              <a:rPr lang="en-GB" sz="800" dirty="0">
                <a:solidFill>
                  <a:schemeClr val="tx1"/>
                </a:solidFill>
              </a:rPr>
              <a:t>Subtitle position</a:t>
            </a:r>
          </a:p>
        </p:txBody>
      </p:sp>
      <p:pic>
        <p:nvPicPr>
          <p:cNvPr id="8" name="Grafik 11">
            <a:extLst>
              <a:ext uri="{FF2B5EF4-FFF2-40B4-BE49-F238E27FC236}">
                <a16:creationId xmlns:a16="http://schemas.microsoft.com/office/drawing/2014/main" id="{5469F5F3-C99F-2E93-A1EB-1758A92F8191}"/>
              </a:ext>
            </a:extLst>
          </p:cNvPr>
          <p:cNvPicPr>
            <a:picLocks noChangeAspect="1"/>
          </p:cNvPicPr>
          <p:nvPr userDrawn="1"/>
        </p:nvPicPr>
        <p:blipFill>
          <a:blip r:embed="rId78"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439936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09" r:id="rId3"/>
    <p:sldLayoutId id="2147483710" r:id="rId4"/>
    <p:sldLayoutId id="2147483735" r:id="rId5"/>
    <p:sldLayoutId id="2147483736" r:id="rId6"/>
    <p:sldLayoutId id="2147483737" r:id="rId7"/>
    <p:sldLayoutId id="2147483738" r:id="rId8"/>
    <p:sldLayoutId id="2147483739" r:id="rId9"/>
    <p:sldLayoutId id="2147483651" r:id="rId10"/>
    <p:sldLayoutId id="2147483652" r:id="rId11"/>
    <p:sldLayoutId id="2147483653" r:id="rId12"/>
    <p:sldLayoutId id="2147483740" r:id="rId13"/>
    <p:sldLayoutId id="2147483741" r:id="rId14"/>
    <p:sldLayoutId id="2147483742" r:id="rId15"/>
    <p:sldLayoutId id="2147483657" r:id="rId16"/>
    <p:sldLayoutId id="2147483658" r:id="rId17"/>
    <p:sldLayoutId id="2147483659" r:id="rId18"/>
    <p:sldLayoutId id="2147483660" r:id="rId19"/>
    <p:sldLayoutId id="2147483661" r:id="rId20"/>
    <p:sldLayoutId id="2147483662" r:id="rId21"/>
    <p:sldLayoutId id="2147483663" r:id="rId22"/>
    <p:sldLayoutId id="2147483664" r:id="rId23"/>
    <p:sldLayoutId id="2147483665" r:id="rId24"/>
    <p:sldLayoutId id="2147483666" r:id="rId25"/>
    <p:sldLayoutId id="2147483731" r:id="rId26"/>
    <p:sldLayoutId id="2147483667" r:id="rId27"/>
    <p:sldLayoutId id="2147483669" r:id="rId28"/>
    <p:sldLayoutId id="2147483668" r:id="rId29"/>
    <p:sldLayoutId id="2147483670" r:id="rId30"/>
    <p:sldLayoutId id="2147483672" r:id="rId31"/>
    <p:sldLayoutId id="2147483673" r:id="rId32"/>
    <p:sldLayoutId id="2147483674"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720" r:id="rId42"/>
    <p:sldLayoutId id="2147483721" r:id="rId43"/>
    <p:sldLayoutId id="2147483722" r:id="rId44"/>
    <p:sldLayoutId id="2147483723" r:id="rId45"/>
    <p:sldLayoutId id="2147483718" r:id="rId46"/>
    <p:sldLayoutId id="2147483719" r:id="rId47"/>
    <p:sldLayoutId id="2147483688" r:id="rId48"/>
    <p:sldLayoutId id="2147483689" r:id="rId49"/>
    <p:sldLayoutId id="2147483690" r:id="rId50"/>
    <p:sldLayoutId id="2147483713" r:id="rId51"/>
    <p:sldLayoutId id="2147483712" r:id="rId52"/>
    <p:sldLayoutId id="2147483691" r:id="rId53"/>
    <p:sldLayoutId id="2147483707" r:id="rId54"/>
    <p:sldLayoutId id="2147483708" r:id="rId55"/>
    <p:sldLayoutId id="2147483714" r:id="rId56"/>
    <p:sldLayoutId id="2147483715" r:id="rId57"/>
    <p:sldLayoutId id="2147483695" r:id="rId58"/>
    <p:sldLayoutId id="2147483696" r:id="rId59"/>
    <p:sldLayoutId id="2147483697" r:id="rId60"/>
    <p:sldLayoutId id="2147483698" r:id="rId61"/>
    <p:sldLayoutId id="2147483699" r:id="rId62"/>
    <p:sldLayoutId id="2147483700" r:id="rId63"/>
    <p:sldLayoutId id="2147483701" r:id="rId64"/>
    <p:sldLayoutId id="2147483702" r:id="rId65"/>
    <p:sldLayoutId id="2147483703" r:id="rId66"/>
    <p:sldLayoutId id="2147483704" r:id="rId67"/>
    <p:sldLayoutId id="2147483705" r:id="rId68"/>
    <p:sldLayoutId id="2147483706" r:id="rId69"/>
    <p:sldLayoutId id="2147483743" r:id="rId70"/>
    <p:sldLayoutId id="2147483744" r:id="rId71"/>
    <p:sldLayoutId id="2147483745" r:id="rId72"/>
    <p:sldLayoutId id="2147483746" r:id="rId73"/>
    <p:sldLayoutId id="2147483747" r:id="rId74"/>
    <p:sldLayoutId id="2147483748" r:id="rId75"/>
    <p:sldLayoutId id="2147483711" r:id="rId76"/>
  </p:sldLayoutIdLst>
  <p:transition>
    <p:fade/>
  </p:transition>
  <p:hf hdr="0"/>
  <p:txStyles>
    <p:titleStyle>
      <a:lvl1pPr algn="l" defTabSz="914400" rtl="0" eaLnBrk="1" latinLnBrk="1" hangingPunct="1">
        <a:lnSpc>
          <a:spcPct val="90000"/>
        </a:lnSpc>
        <a:spcBef>
          <a:spcPct val="0"/>
        </a:spcBef>
        <a:buNone/>
        <a:defRPr sz="2400" kern="1200">
          <a:solidFill>
            <a:schemeClr val="tx1"/>
          </a:solidFill>
          <a:latin typeface="+mj-lt"/>
          <a:ea typeface="+mj-ea"/>
          <a:cs typeface="+mj-cs"/>
        </a:defRPr>
      </a:lvl1pPr>
    </p:titleStyle>
    <p:bodyStyle>
      <a:lvl1pPr marL="180975" indent="-180975" algn="l" defTabSz="914400" rtl="0" eaLnBrk="1" latinLnBrk="1" hangingPunct="1">
        <a:lnSpc>
          <a:spcPct val="105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1pPr>
      <a:lvl2pPr marL="357188" indent="-180975" algn="l" defTabSz="914400" rtl="0" eaLnBrk="1" latinLnBrk="1" hangingPunct="1">
        <a:lnSpc>
          <a:spcPct val="105000"/>
        </a:lnSpc>
        <a:spcBef>
          <a:spcPts val="0"/>
        </a:spcBef>
        <a:spcAft>
          <a:spcPts val="600"/>
        </a:spcAft>
        <a:buSzPct val="85000"/>
        <a:buFont typeface="Arial" panose="020B0604020202020204" pitchFamily="34" charset="0"/>
        <a:buChar char="•"/>
        <a:defRPr sz="1400" kern="1200">
          <a:solidFill>
            <a:schemeClr val="tx1"/>
          </a:solidFill>
          <a:latin typeface="+mn-lt"/>
          <a:ea typeface="+mn-ea"/>
          <a:cs typeface="+mn-cs"/>
        </a:defRPr>
      </a:lvl2pPr>
      <a:lvl3pPr marL="5381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3pPr>
      <a:lvl4pPr marL="7159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4pPr>
      <a:lvl5pPr marL="896938"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192" userDrawn="1">
          <p15:clr>
            <a:srgbClr val="F26B43"/>
          </p15:clr>
        </p15:guide>
        <p15:guide id="5" orient="horz" pos="420" userDrawn="1">
          <p15:clr>
            <a:srgbClr val="F26B43"/>
          </p15:clr>
        </p15:guide>
        <p15:guide id="7" orient="horz" pos="3748" userDrawn="1">
          <p15:clr>
            <a:srgbClr val="F26B43"/>
          </p15:clr>
        </p15:guide>
        <p15:guide id="9" pos="7491" userDrawn="1">
          <p15:clr>
            <a:srgbClr val="F26B43"/>
          </p15:clr>
        </p15:guide>
        <p15:guide id="10" orient="horz" pos="650" userDrawn="1">
          <p15:clr>
            <a:srgbClr val="F26B43"/>
          </p15:clr>
        </p15:guide>
        <p15:guide id="12" pos="192" userDrawn="1">
          <p15:clr>
            <a:srgbClr val="F26B43"/>
          </p15:clr>
        </p15:guide>
        <p15:guide id="13" orient="horz" pos="793" userDrawn="1">
          <p15:clr>
            <a:srgbClr val="F26B43"/>
          </p15:clr>
        </p15:guide>
      </p15:sldGuideLst>
    </p:ext>
  </p:extLst>
</p:sldMaster>
</file>

<file path=ppt/slides/_rels/slide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4CE10-79AD-26BA-41DC-8049F38D70F1}"/>
              </a:ext>
            </a:extLst>
          </p:cNvPr>
          <p:cNvSpPr>
            <a:spLocks noGrp="1"/>
          </p:cNvSpPr>
          <p:nvPr>
            <p:ph type="ctrTitle"/>
          </p:nvPr>
        </p:nvSpPr>
        <p:spPr/>
        <p:txBody>
          <a:bodyPr/>
          <a:lstStyle/>
          <a:p>
            <a:r>
              <a:rPr lang="en-US" altLang="en-US" dirty="0">
                <a:ea typeface="맑은 고딕" panose="020B0503020000020004" pitchFamily="50" charset="-127"/>
              </a:rPr>
              <a:t>Sanofi Aventis Korea</a:t>
            </a:r>
          </a:p>
        </p:txBody>
      </p:sp>
      <p:sp>
        <p:nvSpPr>
          <p:cNvPr id="3" name="Subtitle 2">
            <a:extLst>
              <a:ext uri="{FF2B5EF4-FFF2-40B4-BE49-F238E27FC236}">
                <a16:creationId xmlns:a16="http://schemas.microsoft.com/office/drawing/2014/main" id="{76F68C1A-150F-D860-04D8-67EBFC0925E7}"/>
              </a:ext>
            </a:extLst>
          </p:cNvPr>
          <p:cNvSpPr>
            <a:spLocks noGrp="1"/>
          </p:cNvSpPr>
          <p:nvPr>
            <p:ph type="subTitle" idx="1"/>
          </p:nvPr>
        </p:nvSpPr>
        <p:spPr/>
        <p:txBody>
          <a:bodyPr/>
          <a:lstStyle/>
          <a:p>
            <a:r>
              <a:rPr lang="en-US" altLang="en-US" dirty="0">
                <a:ea typeface="맑은 고딕" panose="020B0503020000020004" pitchFamily="50" charset="-127"/>
              </a:rPr>
              <a:t>FY2026 – Interim Audit Closing</a:t>
            </a:r>
          </a:p>
        </p:txBody>
      </p:sp>
      <p:pic>
        <p:nvPicPr>
          <p:cNvPr id="7" name="그림 개체 틀 6">
            <a:extLst>
              <a:ext uri="{FF2B5EF4-FFF2-40B4-BE49-F238E27FC236}">
                <a16:creationId xmlns:a16="http://schemas.microsoft.com/office/drawing/2014/main" id="{D41D58CD-77CE-7E65-2172-521287701E1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2" b="40436"/>
          <a:stretch>
            <a:fillRect/>
          </a:stretch>
        </p:blipFill>
        <p:spPr>
          <a:xfrm>
            <a:off x="305400" y="304800"/>
            <a:ext cx="11581200" cy="3880800"/>
          </a:xfrm>
          <a:prstGeom prst="rect">
            <a:avLst/>
          </a:prstGeom>
          <a:solidFill>
            <a:srgbClr val="FFFFFF">
              <a:lumMod val="95000"/>
            </a:srgbClr>
          </a:solidFill>
        </p:spPr>
      </p:pic>
      <p:sp>
        <p:nvSpPr>
          <p:cNvPr id="4" name="Text Placeholder 3">
            <a:extLst>
              <a:ext uri="{FF2B5EF4-FFF2-40B4-BE49-F238E27FC236}">
                <a16:creationId xmlns:a16="http://schemas.microsoft.com/office/drawing/2014/main" id="{1A097BCA-DBD1-222E-9951-4B522670D864}"/>
              </a:ext>
            </a:extLst>
          </p:cNvPr>
          <p:cNvSpPr>
            <a:spLocks noGrp="1"/>
          </p:cNvSpPr>
          <p:nvPr>
            <p:ph type="body" sz="quarter" idx="11"/>
          </p:nvPr>
        </p:nvSpPr>
        <p:spPr/>
        <p:txBody>
          <a:bodyPr/>
          <a:lstStyle/>
          <a:p>
            <a:r>
              <a:rPr lang="en-US" altLang="en-US" dirty="0">
                <a:ea typeface="맑은 고딕" panose="020B0503020000020004" pitchFamily="50" charset="-127"/>
              </a:rPr>
              <a:t>October 23, 2026</a:t>
            </a:r>
          </a:p>
        </p:txBody>
      </p:sp>
    </p:spTree>
    <p:extLst>
      <p:ext uri="{BB962C8B-B14F-4D97-AF65-F5344CB8AC3E}">
        <p14:creationId xmlns:p14="http://schemas.microsoft.com/office/powerpoint/2010/main" val="3355258635"/>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C76F8E-415A-FAB6-D611-26F88E3E40ED}"/>
              </a:ext>
            </a:extLst>
          </p:cNvPr>
          <p:cNvSpPr>
            <a:spLocks noGrp="1"/>
          </p:cNvSpPr>
          <p:nvPr>
            <p:ph type="title"/>
          </p:nvPr>
        </p:nvSpPr>
        <p:spPr>
          <a:xfrm>
            <a:off x="306000" y="306000"/>
            <a:ext cx="5648400" cy="360000"/>
          </a:xfrm>
        </p:spPr>
        <p:txBody>
          <a:bodyPr/>
          <a:lstStyle/>
          <a:p>
            <a:r>
              <a:rPr lang="en-US" altLang="en-US" dirty="0">
                <a:ea typeface="맑은 고딕" panose="020B0503020000020004" pitchFamily="50" charset="-127"/>
              </a:rPr>
              <a:t>Agenda</a:t>
            </a:r>
          </a:p>
        </p:txBody>
      </p:sp>
      <p:sp>
        <p:nvSpPr>
          <p:cNvPr id="10" name="Slide Number Placeholder 9">
            <a:extLst>
              <a:ext uri="{FF2B5EF4-FFF2-40B4-BE49-F238E27FC236}">
                <a16:creationId xmlns:a16="http://schemas.microsoft.com/office/drawing/2014/main" id="{4ECEA13A-71B7-C5DE-BF90-4B7FA22FA80A}"/>
              </a:ext>
            </a:extLst>
          </p:cNvPr>
          <p:cNvSpPr>
            <a:spLocks noGrp="1"/>
          </p:cNvSpPr>
          <p:nvPr>
            <p:ph type="sldNum" sz="quarter" idx="12"/>
          </p:nvPr>
        </p:nvSpPr>
        <p:spPr>
          <a:xfrm>
            <a:off x="300037" y="6417000"/>
            <a:ext cx="900000" cy="270000"/>
          </a:xfrm>
        </p:spPr>
        <p:txBody>
          <a:bodyPr/>
          <a:lstStyle/>
          <a:p>
            <a:fld id="{721C06D9-4617-44B0-8711-1EF1C439A609}" type="slidenum">
              <a:rPr lang="en-GB" smtClean="0"/>
              <a:pPr/>
              <a:t>2</a:t>
            </a:fld>
            <a:endParaRPr lang="en-GB" dirty="0"/>
          </a:p>
        </p:txBody>
      </p:sp>
      <p:pic>
        <p:nvPicPr>
          <p:cNvPr id="7" name="Espace réservé pour une image  8">
            <a:extLst>
              <a:ext uri="{FF2B5EF4-FFF2-40B4-BE49-F238E27FC236}">
                <a16:creationId xmlns:a16="http://schemas.microsoft.com/office/drawing/2014/main" id="{356BE567-A5C8-9F66-5D36-0C0B86B71D0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1853" r="21853"/>
          <a:stretch/>
        </p:blipFill>
        <p:spPr>
          <a:xfrm>
            <a:off x="6237601" y="305999"/>
            <a:ext cx="5648400" cy="5643951"/>
          </a:xfrm>
        </p:spPr>
      </p:pic>
      <p:sp>
        <p:nvSpPr>
          <p:cNvPr id="5" name="Text Placeholder 4">
            <a:extLst>
              <a:ext uri="{FF2B5EF4-FFF2-40B4-BE49-F238E27FC236}">
                <a16:creationId xmlns:a16="http://schemas.microsoft.com/office/drawing/2014/main" id="{286A64C6-FD9B-6620-ACC1-98F12B3352A4}"/>
              </a:ext>
            </a:extLst>
          </p:cNvPr>
          <p:cNvSpPr>
            <a:spLocks noGrp="1"/>
          </p:cNvSpPr>
          <p:nvPr>
            <p:ph type="body" sz="quarter" idx="13"/>
          </p:nvPr>
        </p:nvSpPr>
        <p:spPr>
          <a:xfrm>
            <a:off x="306388" y="1268413"/>
            <a:ext cx="5648325" cy="4681537"/>
          </a:xfrm>
        </p:spPr>
        <p:txBody>
          <a:bodyPr/>
          <a:lstStyle/>
          <a:p>
            <a:r>
              <a:rPr lang="en-US" altLang="en-US" dirty="0">
                <a:ea typeface="맑은 고딕" panose="020B0503020000020004" pitchFamily="50" charset="-127"/>
              </a:rPr>
              <a:t>Audit Schedule</a:t>
            </a:r>
          </a:p>
          <a:p>
            <a:r>
              <a:rPr lang="en-US" altLang="en-US" dirty="0">
                <a:ea typeface="맑은 고딕" panose="020B0503020000020004" pitchFamily="50" charset="-127"/>
              </a:rPr>
              <a:t>Results of Walkthrough Tests and Tests of Controls</a:t>
            </a:r>
          </a:p>
          <a:p>
            <a:r>
              <a:rPr lang="en-US" altLang="en-US" dirty="0">
                <a:ea typeface="맑은 고딕" panose="020B0503020000020004" pitchFamily="50" charset="-127"/>
              </a:rPr>
              <a:t>Follow-up of Prior Year-end Audit Findings</a:t>
            </a:r>
          </a:p>
          <a:p>
            <a:r>
              <a:rPr lang="en-US" altLang="en-US" dirty="0">
                <a:ea typeface="맑은 고딕" panose="020B0503020000020004" pitchFamily="50" charset="-127"/>
              </a:rPr>
              <a:t>Interim Audit Findings</a:t>
            </a:r>
          </a:p>
          <a:p>
            <a:r>
              <a:rPr lang="en-US" altLang="en-US" dirty="0">
                <a:ea typeface="맑은 고딕" panose="020B0503020000020004" pitchFamily="50" charset="-127"/>
              </a:rPr>
              <a:t>Pending Items &amp; Year-end Audit Preparation</a:t>
            </a:r>
          </a:p>
        </p:txBody>
      </p:sp>
    </p:spTree>
    <p:extLst>
      <p:ext uri="{BB962C8B-B14F-4D97-AF65-F5344CB8AC3E}">
        <p14:creationId xmlns:p14="http://schemas.microsoft.com/office/powerpoint/2010/main" val="2031370532"/>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altLang="en-US" dirty="0">
                <a:ea typeface="맑은 고딕" panose="020B0503020000020004" pitchFamily="50" charset="-127"/>
              </a:rPr>
              <a:t>Audit Schedule</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en-US" altLang="en-US" dirty="0">
                <a:ea typeface="맑은 고딕" panose="020B0503020000020004" pitchFamily="50" charset="-127"/>
              </a:rPr>
              <a:t>01</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제목 14">
            <a:extLst>
              <a:ext uri="{FF2B5EF4-FFF2-40B4-BE49-F238E27FC236}">
                <a16:creationId xmlns:a16="http://schemas.microsoft.com/office/drawing/2014/main" id="{30FF76B2-23BB-F23D-5A03-1AB5147D2B83}"/>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16" name="텍스트 개체 틀 15">
            <a:extLst>
              <a:ext uri="{FF2B5EF4-FFF2-40B4-BE49-F238E27FC236}">
                <a16:creationId xmlns:a16="http://schemas.microsoft.com/office/drawing/2014/main" id="{578F4448-CE93-81F2-77BC-2E76CBA5C5B3}"/>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Audit Schedule</a:t>
            </a:r>
          </a:p>
        </p:txBody>
      </p:sp>
      <p:sp>
        <p:nvSpPr>
          <p:cNvPr id="17" name="텍스트 개체 틀 16">
            <a:extLst>
              <a:ext uri="{FF2B5EF4-FFF2-40B4-BE49-F238E27FC236}">
                <a16:creationId xmlns:a16="http://schemas.microsoft.com/office/drawing/2014/main" id="{76C6D597-8D20-5D51-9532-4BD1D7F7C529}"/>
              </a:ext>
            </a:extLst>
          </p:cNvPr>
          <p:cNvSpPr>
            <a:spLocks noGrp="1"/>
          </p:cNvSpPr>
          <p:nvPr>
            <p:ph type="body" sz="quarter" idx="14"/>
          </p:nvPr>
        </p:nvSpPr>
        <p:spPr/>
        <p:txBody>
          <a:bodyPr/>
          <a:lstStyle/>
          <a:p>
            <a:r>
              <a:rPr lang="en-US" altLang="en-US" dirty="0">
                <a:ea typeface="맑은 고딕" panose="020B0503020000020004" pitchFamily="50" charset="-127"/>
              </a:rPr>
              <a:t>Interim Audit</a:t>
            </a:r>
          </a:p>
        </p:txBody>
      </p:sp>
      <p:sp>
        <p:nvSpPr>
          <p:cNvPr id="18" name="내용 개체 틀 17">
            <a:extLst>
              <a:ext uri="{FF2B5EF4-FFF2-40B4-BE49-F238E27FC236}">
                <a16:creationId xmlns:a16="http://schemas.microsoft.com/office/drawing/2014/main" id="{F9497090-6619-6BCF-D6F5-AAC98A6DDE24}"/>
              </a:ext>
            </a:extLst>
          </p:cNvPr>
          <p:cNvSpPr>
            <a:spLocks noGrp="1"/>
          </p:cNvSpPr>
          <p:nvPr>
            <p:ph sz="quarter" idx="15"/>
          </p:nvPr>
        </p:nvSpPr>
        <p:spPr/>
        <p:txBody>
          <a:bodyPr/>
          <a:lstStyle/>
          <a:p>
            <a:r>
              <a:rPr lang="en-US" altLang="en-US" sz="1200" b="1" dirty="0">
                <a:ea typeface="맑은 고딕" panose="020B0503020000020004" pitchFamily="50" charset="-127"/>
              </a:rPr>
              <a:t>SAK Head Office</a:t>
            </a:r>
          </a:p>
          <a:p>
            <a:r>
              <a:rPr lang="en-US" altLang="en-US" sz="1200" b="1" dirty="0">
                <a:ea typeface="맑은 고딕" panose="020B0503020000020004" pitchFamily="50" charset="-127"/>
              </a:rPr>
              <a:t>October 19–23, 2026 (5 days) [TBC]</a:t>
            </a:r>
          </a:p>
          <a:p>
            <a:r>
              <a:rPr lang="en-US" altLang="en-US" sz="1200" b="1" dirty="0">
                <a:ea typeface="맑은 고딕" panose="020B0503020000020004" pitchFamily="50" charset="-127"/>
              </a:rPr>
              <a:t>Description of Work</a:t>
            </a:r>
          </a:p>
          <a:p>
            <a:pPr lvl="1"/>
            <a:r>
              <a:rPr lang="en-US" altLang="en-US" sz="1150" dirty="0">
                <a:ea typeface="맑은 고딕" panose="020B0503020000020004" pitchFamily="50" charset="-127"/>
              </a:rPr>
              <a:t>Understanding processes and internal controls (walkthrough tests)</a:t>
            </a:r>
          </a:p>
          <a:p>
            <a:pPr lvl="1"/>
            <a:r>
              <a:rPr lang="en-US" altLang="en-US" sz="1150" dirty="0">
                <a:ea typeface="맑은 고딕" panose="020B0503020000020004" pitchFamily="50" charset="-127"/>
              </a:rPr>
              <a:t>Testing the operating effectiveness of selected key controls</a:t>
            </a:r>
          </a:p>
          <a:p>
            <a:pPr lvl="1"/>
            <a:r>
              <a:rPr lang="en-US" altLang="en-US" sz="1150" dirty="0">
                <a:ea typeface="맑은 고딕" panose="020B0503020000020004" pitchFamily="50" charset="-127"/>
              </a:rPr>
              <a:t>Review of the September 2026 interim financial statements and statutory (K-GAAP) adjustments</a:t>
            </a:r>
          </a:p>
          <a:p>
            <a:pPr lvl="1"/>
            <a:r>
              <a:rPr lang="en-US" altLang="en-US" sz="1150" dirty="0">
                <a:ea typeface="맑은 고딕" panose="020B0503020000020004" pitchFamily="50" charset="-127"/>
              </a:rPr>
              <a:t>Analysis of significant transactions (Taxotere divestment, restructuring, leases)</a:t>
            </a:r>
          </a:p>
          <a:p>
            <a:pPr lvl="1"/>
            <a:r>
              <a:rPr lang="en-US" altLang="en-US" sz="1150" dirty="0">
                <a:ea typeface="맑은 고딕" panose="020B0503020000020004" pitchFamily="50" charset="-127"/>
              </a:rPr>
              <a:t>Risk assessment and planning of year-end procedures</a:t>
            </a:r>
          </a:p>
        </p:txBody>
      </p:sp>
      <p:sp>
        <p:nvSpPr>
          <p:cNvPr id="19" name="텍스트 개체 틀 18">
            <a:extLst>
              <a:ext uri="{FF2B5EF4-FFF2-40B4-BE49-F238E27FC236}">
                <a16:creationId xmlns:a16="http://schemas.microsoft.com/office/drawing/2014/main" id="{8788F2E1-0703-8FE7-AD3B-7777CB634C62}"/>
              </a:ext>
            </a:extLst>
          </p:cNvPr>
          <p:cNvSpPr>
            <a:spLocks noGrp="1"/>
          </p:cNvSpPr>
          <p:nvPr>
            <p:ph type="body" sz="quarter" idx="16"/>
          </p:nvPr>
        </p:nvSpPr>
        <p:spPr/>
        <p:txBody>
          <a:bodyPr/>
          <a:lstStyle/>
          <a:p>
            <a:r>
              <a:rPr lang="en-US" altLang="en-US" dirty="0">
                <a:ea typeface="맑은 고딕" panose="020B0503020000020004" pitchFamily="50" charset="-127"/>
              </a:rPr>
              <a:t>Inventory Stock-take</a:t>
            </a:r>
          </a:p>
        </p:txBody>
      </p:sp>
      <p:sp>
        <p:nvSpPr>
          <p:cNvPr id="20" name="내용 개체 틀 19">
            <a:extLst>
              <a:ext uri="{FF2B5EF4-FFF2-40B4-BE49-F238E27FC236}">
                <a16:creationId xmlns:a16="http://schemas.microsoft.com/office/drawing/2014/main" id="{40F7342D-7B38-E4F7-FB0E-601171281FC2}"/>
              </a:ext>
            </a:extLst>
          </p:cNvPr>
          <p:cNvSpPr>
            <a:spLocks noGrp="1"/>
          </p:cNvSpPr>
          <p:nvPr>
            <p:ph sz="quarter" idx="17"/>
          </p:nvPr>
        </p:nvSpPr>
        <p:spPr/>
        <p:txBody>
          <a:bodyPr/>
          <a:lstStyle/>
          <a:p>
            <a:r>
              <a:rPr lang="en-US" altLang="en-US" sz="1200" b="1" dirty="0">
                <a:ea typeface="맑은 고딕" panose="020B0503020000020004" pitchFamily="50" charset="-127"/>
              </a:rPr>
              <a:t>Gunpo Warehouse [TBC]</a:t>
            </a:r>
          </a:p>
          <a:p>
            <a:r>
              <a:rPr lang="en-US" altLang="en-US" sz="1200" b="1" dirty="0">
                <a:ea typeface="맑은 고딕" panose="020B0503020000020004" pitchFamily="50" charset="-127"/>
              </a:rPr>
              <a:t>December 2026 (date to be agreed)</a:t>
            </a:r>
          </a:p>
          <a:p>
            <a:r>
              <a:rPr lang="en-US" altLang="en-US" sz="1200" b="1" dirty="0">
                <a:ea typeface="맑은 고딕" panose="020B0503020000020004" pitchFamily="50" charset="-127"/>
              </a:rPr>
              <a:t>Description of Work</a:t>
            </a:r>
          </a:p>
          <a:p>
            <a:pPr lvl="1"/>
            <a:r>
              <a:rPr lang="en-US" altLang="en-US" sz="1150" dirty="0">
                <a:ea typeface="맑은 고딕" panose="020B0503020000020004" pitchFamily="50" charset="-127"/>
              </a:rPr>
              <a:t>Attendance at the company's year-end inventory count</a:t>
            </a:r>
          </a:p>
          <a:p>
            <a:pPr lvl="1"/>
            <a:r>
              <a:rPr lang="en-US" altLang="en-US" sz="1150" dirty="0">
                <a:ea typeface="맑은 고딕" panose="020B0503020000020004" pitchFamily="50" charset="-127"/>
              </a:rPr>
              <a:t>Independent test counts of selected items</a:t>
            </a:r>
          </a:p>
          <a:p>
            <a:pPr lvl="1"/>
            <a:r>
              <a:rPr lang="en-US" altLang="en-US" sz="1150" dirty="0">
                <a:ea typeface="맑은 고딕" panose="020B0503020000020004" pitchFamily="50" charset="-127"/>
              </a:rPr>
              <a:t>Observation of returned, expired and divested-product stock</a:t>
            </a:r>
          </a:p>
        </p:txBody>
      </p:sp>
      <p:sp>
        <p:nvSpPr>
          <p:cNvPr id="21" name="텍스트 개체 틀 20">
            <a:extLst>
              <a:ext uri="{FF2B5EF4-FFF2-40B4-BE49-F238E27FC236}">
                <a16:creationId xmlns:a16="http://schemas.microsoft.com/office/drawing/2014/main" id="{16FF46CB-4837-4BAE-A586-05760A65B7EE}"/>
              </a:ext>
            </a:extLst>
          </p:cNvPr>
          <p:cNvSpPr>
            <a:spLocks noGrp="1"/>
          </p:cNvSpPr>
          <p:nvPr>
            <p:ph type="body" sz="quarter" idx="21"/>
          </p:nvPr>
        </p:nvSpPr>
        <p:spPr/>
        <p:txBody>
          <a:bodyPr/>
          <a:lstStyle/>
          <a:p>
            <a:r>
              <a:rPr lang="en-US" altLang="en-US" dirty="0">
                <a:ea typeface="맑은 고딕" panose="020B0503020000020004" pitchFamily="50" charset="-127"/>
              </a:rPr>
              <a:t>Year-end Audit</a:t>
            </a:r>
          </a:p>
        </p:txBody>
      </p:sp>
      <p:sp>
        <p:nvSpPr>
          <p:cNvPr id="22" name="내용 개체 틀 21">
            <a:extLst>
              <a:ext uri="{FF2B5EF4-FFF2-40B4-BE49-F238E27FC236}">
                <a16:creationId xmlns:a16="http://schemas.microsoft.com/office/drawing/2014/main" id="{92381973-E2E0-8BF5-80DC-B909AA1C9B62}"/>
              </a:ext>
            </a:extLst>
          </p:cNvPr>
          <p:cNvSpPr>
            <a:spLocks noGrp="1"/>
          </p:cNvSpPr>
          <p:nvPr>
            <p:ph sz="quarter" idx="22"/>
          </p:nvPr>
        </p:nvSpPr>
        <p:spPr/>
        <p:txBody>
          <a:bodyPr/>
          <a:lstStyle/>
          <a:p>
            <a:r>
              <a:rPr lang="en-US" altLang="en-US" sz="1200" b="1" dirty="0">
                <a:ea typeface="맑은 고딕" panose="020B0503020000020004" pitchFamily="50" charset="-127"/>
              </a:rPr>
              <a:t>SAK Head Office and Remote</a:t>
            </a:r>
          </a:p>
          <a:p>
            <a:r>
              <a:rPr lang="en-US" altLang="en-US" sz="1200" b="1" dirty="0">
                <a:ea typeface="맑은 고딕" panose="020B0503020000020004" pitchFamily="50" charset="-127"/>
              </a:rPr>
              <a:t>February 2027 (dates to be agreed)</a:t>
            </a:r>
          </a:p>
          <a:p>
            <a:r>
              <a:rPr lang="en-US" altLang="en-US" sz="1200" b="1" dirty="0">
                <a:ea typeface="맑은 고딕" panose="020B0503020000020004" pitchFamily="50" charset="-127"/>
              </a:rPr>
              <a:t>Description of Work</a:t>
            </a:r>
          </a:p>
          <a:p>
            <a:pPr lvl="1"/>
            <a:r>
              <a:rPr lang="en-US" altLang="en-US" sz="1150" dirty="0">
                <a:ea typeface="맑은 고딕" panose="020B0503020000020004" pitchFamily="50" charset="-127"/>
              </a:rPr>
              <a:t>Follow-up on interim findings and pending items</a:t>
            </a:r>
          </a:p>
          <a:p>
            <a:pPr lvl="1"/>
            <a:r>
              <a:rPr lang="en-US" altLang="en-US" sz="1150" dirty="0">
                <a:ea typeface="맑은 고딕" panose="020B0503020000020004" pitchFamily="50" charset="-127"/>
              </a:rPr>
              <a:t>Substantive audit procedures</a:t>
            </a:r>
          </a:p>
          <a:p>
            <a:pPr lvl="1"/>
            <a:r>
              <a:rPr lang="en-US" altLang="en-US" sz="1150" dirty="0">
                <a:ea typeface="맑은 고딕" panose="020B0503020000020004" pitchFamily="50" charset="-127"/>
              </a:rPr>
              <a:t>Bank (incl. change of main bank) and legal confirmations</a:t>
            </a:r>
          </a:p>
          <a:p>
            <a:pPr lvl="1"/>
            <a:r>
              <a:rPr lang="en-US" altLang="en-US" sz="1150" dirty="0">
                <a:ea typeface="맑은 고딕" panose="020B0503020000020004" pitchFamily="50" charset="-127"/>
              </a:rPr>
              <a:t>AR/AP confirmations and follow-up</a:t>
            </a:r>
          </a:p>
        </p:txBody>
      </p:sp>
      <p:sp>
        <p:nvSpPr>
          <p:cNvPr id="23" name="텍스트 개체 틀 22">
            <a:extLst>
              <a:ext uri="{FF2B5EF4-FFF2-40B4-BE49-F238E27FC236}">
                <a16:creationId xmlns:a16="http://schemas.microsoft.com/office/drawing/2014/main" id="{7CE08BE2-C19B-446C-6396-B9980B9285CC}"/>
              </a:ext>
            </a:extLst>
          </p:cNvPr>
          <p:cNvSpPr>
            <a:spLocks noGrp="1"/>
          </p:cNvSpPr>
          <p:nvPr>
            <p:ph type="body" sz="quarter" idx="23"/>
          </p:nvPr>
        </p:nvSpPr>
        <p:spPr/>
        <p:txBody>
          <a:bodyPr/>
          <a:lstStyle/>
          <a:p>
            <a:endParaRPr lang="ko-KR" altLang="en-US"/>
          </a:p>
        </p:txBody>
      </p:sp>
    </p:spTree>
    <p:extLst>
      <p:ext uri="{BB962C8B-B14F-4D97-AF65-F5344CB8AC3E}">
        <p14:creationId xmlns:p14="http://schemas.microsoft.com/office/powerpoint/2010/main" val="3552158108"/>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altLang="en-US" dirty="0">
                <a:ea typeface="맑은 고딕" panose="020B0503020000020004" pitchFamily="50" charset="-127"/>
              </a:rPr>
              <a:t>Results of Walkthrough Tests and Tests of Controls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en-US" altLang="en-US" dirty="0">
                <a:ea typeface="맑은 고딕" panose="020B0503020000020004" pitchFamily="50" charset="-127"/>
              </a:rPr>
              <a:t>02</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Results of Walkthrough Tests and Tests of Controls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altLang="en-US" b="1" dirty="0">
                <a:ea typeface="맑은 고딕" panose="020B0503020000020004" pitchFamily="50" charset="-127"/>
              </a:rPr>
              <a:t>Summary by Process</a:t>
            </a:r>
          </a:p>
        </p:txBody>
      </p:sp>
      <p:graphicFrame>
        <p:nvGraphicFramePr>
          <p:cNvPr id="90" name="Table 90"/>
          <p:cNvGraphicFramePr>
            <a:graphicFrameLocks noGrp="1"/>
          </p:cNvGraphicFramePr>
          <p:nvPr/>
        </p:nvGraphicFramePr>
        <p:xfrm>
          <a:off x="301752" y="2011680"/>
          <a:ext cx="11585448" cy="3867912"/>
        </p:xfrm>
        <a:graphic>
          <a:graphicData uri="http://schemas.openxmlformats.org/drawingml/2006/table">
            <a:tbl>
              <a:tblPr firstRow="1" bandRow="1"/>
              <a:tblGrid>
                <a:gridCol w="1824480"/>
                <a:gridCol w="4561200"/>
                <a:gridCol w="912240"/>
                <a:gridCol w="1277136"/>
                <a:gridCol w="3010392"/>
              </a:tblGrid>
              <a:tr h="429768">
                <a:tc>
                  <a:txBody>
                    <a:bodyPr/>
                    <a:lstStyle/>
                    <a:p>
                      <a:pPr marL="0" indent="0" algn="ctr">
                        <a:buNone/>
                      </a:pPr>
                      <a:r>
                        <a:rPr lang="en-US" altLang="en-US" sz="1050" b="1" dirty="0">
                          <a:solidFill>
                            <a:srgbClr val="FFFFFF"/>
                          </a:solidFill>
                          <a:ea typeface="맑은 고딕" panose="020B0503020000020004" pitchFamily="50" charset="-127"/>
                        </a:rPr>
                        <a:t>Process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Key controls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WTT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TOC</a:t>
                      </a:r>
                    </a:p>
                    <a:p>
                      <a:pPr marL="0" indent="0" algn="ctr">
                        <a:buNone/>
                      </a:pPr>
                      <a:r>
                        <a:rPr lang="en-US" altLang="en-US" sz="1050" b="1" dirty="0">
                          <a:solidFill>
                            <a:srgbClr val="FFFFFF"/>
                          </a:solidFill>
                          <a:ea typeface="맑은 고딕" panose="020B0503020000020004" pitchFamily="50" charset="-127"/>
                        </a:rPr>
                        <a:t>(samples / exceptions)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Result / related observation</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r>
              <a:tr h="429768">
                <a:tc>
                  <a:txBody>
                    <a:bodyPr/>
                    <a:lstStyle/>
                    <a:p>
                      <a:pPr marL="0" indent="0" algn="l">
                        <a:buNone/>
                      </a:pPr>
                      <a:r>
                        <a:rPr lang="en-US" altLang="en-US" sz="1050" dirty="0">
                          <a:solidFill>
                            <a:srgbClr val="464B4B"/>
                          </a:solidFill>
                          <a:ea typeface="맑은 고딕" panose="020B0503020000020004" pitchFamily="50" charset="-127"/>
                        </a:rPr>
                        <a:t>Revenue &amp; Receivables</a:t>
                      </a:r>
                    </a:p>
                    <a:p>
                      <a:pPr marL="0" indent="0" algn="l">
                        <a:buNone/>
                      </a:pPr>
                      <a:r>
                        <a:rPr lang="en-US" altLang="en-US" sz="1050" dirty="0">
                          <a:solidFill>
                            <a:srgbClr val="464B4B"/>
                          </a:solidFill>
                          <a:ea typeface="맑은 고딕" panose="020B0503020000020004" pitchFamily="50" charset="-127"/>
                        </a:rPr>
                        <a:t>(incl. rebates / GTN)</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Order and credit limit approval; invoice–delivery matching; credit note approval; rebate / RSA accrual review</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  RSA accrual true-up (Obs. 4)</a:t>
                      </a:r>
                    </a:p>
                  </a:txBody>
                  <a:tcPr marL="54864" marR="54864" marT="27432" marB="27432" anchor="ctr">
                    <a:lnL w="0">
                      <a:noFill/>
                    </a:lnL>
                    <a:lnR w="0">
                      <a:noFill/>
                    </a:lnR>
                    <a:lnT w="6350">
                      <a:solidFill>
                        <a:srgbClr val="B1B3B3"/>
                      </a:solidFill>
                    </a:lnT>
                    <a:lnB w="6350">
                      <a:solidFill>
                        <a:srgbClr val="B1B3B3"/>
                      </a:solidFill>
                    </a:lnB>
                    <a:noFill/>
                  </a:tcPr>
                </a:tc>
              </a:tr>
              <a:tr h="429768">
                <a:tc>
                  <a:txBody>
                    <a:bodyPr/>
                    <a:lstStyle/>
                    <a:p>
                      <a:pPr marL="0" indent="0" algn="l">
                        <a:buNone/>
                      </a:pPr>
                      <a:r>
                        <a:rPr lang="en-US" altLang="en-US" sz="1050" dirty="0">
                          <a:solidFill>
                            <a:srgbClr val="464B4B"/>
                          </a:solidFill>
                          <a:ea typeface="맑은 고딕" panose="020B0503020000020004" pitchFamily="50" charset="-127"/>
                        </a:rPr>
                        <a:t>Purchases &amp; Payables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PO approval; 3-way match (PO / GR / invoice); vendor master changes; payment approval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429768">
                <a:tc>
                  <a:txBody>
                    <a:bodyPr/>
                    <a:lstStyle/>
                    <a:p>
                      <a:pPr marL="0" indent="0" algn="l">
                        <a:buNone/>
                      </a:pPr>
                      <a:r>
                        <a:rPr lang="en-US" altLang="en-US" sz="1050" dirty="0">
                          <a:solidFill>
                            <a:srgbClr val="464B4B"/>
                          </a:solidFill>
                          <a:ea typeface="맑은 고딕" panose="020B0503020000020004" pitchFamily="50" charset="-127"/>
                        </a:rPr>
                        <a:t>Inventory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Goods receipt; cycle counts; returns and destruction approval; expiry / slow-moving review</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r>
              <a:tr h="429768">
                <a:tc>
                  <a:txBody>
                    <a:bodyPr/>
                    <a:lstStyle/>
                    <a:p>
                      <a:pPr marL="0" indent="0" algn="l">
                        <a:buNone/>
                      </a:pPr>
                      <a:r>
                        <a:rPr lang="en-US" altLang="en-US" sz="1050" dirty="0">
                          <a:solidFill>
                            <a:srgbClr val="464B4B"/>
                          </a:solidFill>
                          <a:ea typeface="맑은 고딕" panose="020B0503020000020004" pitchFamily="50" charset="-127"/>
                        </a:rPr>
                        <a:t>Payroll &amp; HR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Payroll calculation review and approval; HR master data changes; VRP payment approval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  Payroll JE error (Obs. 1), VRP (Obs. 5)</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429768">
                <a:tc>
                  <a:txBody>
                    <a:bodyPr/>
                    <a:lstStyle/>
                    <a:p>
                      <a:pPr marL="0" indent="0" algn="l">
                        <a:buNone/>
                      </a:pPr>
                      <a:r>
                        <a:rPr lang="en-US" altLang="en-US" sz="1050" dirty="0">
                          <a:solidFill>
                            <a:srgbClr val="464B4B"/>
                          </a:solidFill>
                          <a:ea typeface="맑은 고딕" panose="020B0503020000020004" pitchFamily="50" charset="-127"/>
                        </a:rPr>
                        <a:t>Treasury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Bank payment authorisation (dual approval); bank reconciliation review</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r>
              <a:tr h="429768">
                <a:tc>
                  <a:txBody>
                    <a:bodyPr/>
                    <a:lstStyle/>
                    <a:p>
                      <a:pPr marL="0" indent="0" algn="l">
                        <a:buNone/>
                      </a:pPr>
                      <a:r>
                        <a:rPr lang="en-US" altLang="en-US" sz="1050" dirty="0">
                          <a:solidFill>
                            <a:srgbClr val="464B4B"/>
                          </a:solidFill>
                          <a:ea typeface="맑은 고딕" panose="020B0503020000020004" pitchFamily="50" charset="-127"/>
                        </a:rPr>
                        <a:t>Financial Closing &amp; Reporting</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Manual JE review and approval; statutory (K-GAAP) adjustment review; account reconciliations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  Statutory adj. / CRU (Obs. 2, 3)</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429768">
                <a:tc>
                  <a:txBody>
                    <a:bodyPr/>
                    <a:lstStyle/>
                    <a:p>
                      <a:pPr marL="0" indent="0" algn="l">
                        <a:buNone/>
                      </a:pPr>
                      <a:r>
                        <a:rPr lang="en-US" altLang="en-US" sz="1050" dirty="0">
                          <a:solidFill>
                            <a:srgbClr val="464B4B"/>
                          </a:solidFill>
                          <a:ea typeface="맑은 고딕" panose="020B0503020000020004" pitchFamily="50" charset="-127"/>
                        </a:rPr>
                        <a:t>Fixed Assets &amp; Leases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Capex approval; useful life review; lease contract review</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r>
              <a:tr h="429768">
                <a:tc>
                  <a:txBody>
                    <a:bodyPr/>
                    <a:lstStyle/>
                    <a:p>
                      <a:pPr marL="0" indent="0" algn="l">
                        <a:buNone/>
                      </a:pPr>
                      <a:r>
                        <a:rPr lang="en-US" altLang="en-US" sz="1050" dirty="0">
                          <a:solidFill>
                            <a:srgbClr val="464B4B"/>
                          </a:solidFill>
                          <a:ea typeface="맑은 고딕" panose="020B0503020000020004" pitchFamily="50" charset="-127"/>
                        </a:rPr>
                        <a:t>IT General Controls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User access (joiners / leavers); change management; privileged access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bl>
          </a:graphicData>
        </a:graphic>
      </p:graphicFrame>
      <p:sp>
        <p:nvSpPr>
          <p:cNvPr id="91" name="Note 91"/>
          <p:cNvSpPr txBox="1"/>
          <p:nvPr/>
        </p:nvSpPr>
        <p:spPr>
          <a:xfrm>
            <a:off x="301752" y="5788152"/>
            <a:ext cx="8778240" cy="292608"/>
          </a:xfrm>
          <a:prstGeom prst="rect">
            <a:avLst/>
          </a:prstGeom>
          <a:noFill/>
        </p:spPr>
        <p:txBody>
          <a:bodyPr wrap="square" lIns="0" tIns="0" rIns="0" bIns="0" anchor="t">
            <a:normAutofit/>
          </a:bodyPr>
          <a:lstStyle/>
          <a:p>
            <a:pPr marL="0" indent="0">
              <a:buNone/>
            </a:pPr>
            <a:r>
              <a:rPr lang="en-US" altLang="en-US" sz="900" dirty="0">
                <a:solidFill>
                  <a:srgbClr val="464B4B"/>
                </a:solidFill>
                <a:ea typeface="맑은 고딕" panose="020B0503020000020004" pitchFamily="50" charset="-127"/>
              </a:rPr>
              <a:t>[●] To be completed by the engagement team from the final interim working papers. Observations are listed on the next page.</a:t>
            </a:r>
          </a:p>
        </p:txBody>
      </p:sp>
    </p:spTree>
    <p:extLst>
      <p:ext uri="{BB962C8B-B14F-4D97-AF65-F5344CB8AC3E}">
        <p14:creationId xmlns:p14="http://schemas.microsoft.com/office/powerpoint/2010/main" val="426986721"/>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Results of Walkthrough Tests and Tests of Controls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altLang="en-US" b="1" dirty="0">
                <a:ea typeface="맑은 고딕" panose="020B0503020000020004" pitchFamily="50" charset="-127"/>
              </a:rPr>
              <a:t>Control Observations Noted During the Interim Audit</a:t>
            </a:r>
          </a:p>
        </p:txBody>
      </p:sp>
      <p:graphicFrame>
        <p:nvGraphicFramePr>
          <p:cNvPr id="90" name="Table 90"/>
          <p:cNvGraphicFramePr>
            <a:graphicFrameLocks noGrp="1"/>
          </p:cNvGraphicFramePr>
          <p:nvPr/>
        </p:nvGraphicFramePr>
        <p:xfrm>
          <a:off x="301752" y="2011680"/>
          <a:ext cx="11585448" cy="3401568"/>
        </p:xfrm>
        <a:graphic>
          <a:graphicData uri="http://schemas.openxmlformats.org/drawingml/2006/table">
            <a:tbl>
              <a:tblPr firstRow="1" bandRow="1"/>
              <a:tblGrid>
                <a:gridCol w="364896"/>
                <a:gridCol w="1733256"/>
                <a:gridCol w="5108544"/>
                <a:gridCol w="4378752"/>
              </a:tblGrid>
              <a:tr h="566928">
                <a:tc>
                  <a:txBody>
                    <a:bodyPr/>
                    <a:lstStyle/>
                    <a:p>
                      <a:pPr marL="0" indent="0" algn="ctr">
                        <a:buNone/>
                      </a:pPr>
                      <a:r>
                        <a:rPr lang="en-US" altLang="en-US" sz="1050" b="1" dirty="0">
                          <a:solidFill>
                            <a:srgbClr val="FFFFFF"/>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Process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Observation</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Recommendation</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r>
              <a:tr h="566928">
                <a:tc>
                  <a:txBody>
                    <a:bodyPr/>
                    <a:lstStyle/>
                    <a:p>
                      <a:pPr marL="0" indent="0" algn="ctr">
                        <a:buNone/>
                      </a:pPr>
                      <a:r>
                        <a:rPr lang="en-US" altLang="en-US" sz="1050" dirty="0">
                          <a:solidFill>
                            <a:srgbClr val="464B4B"/>
                          </a:solidFill>
                          <a:ea typeface="맑은 고딕" panose="020B0503020000020004" pitchFamily="50" charset="-127"/>
                        </a:rPr>
                        <a:t>1</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Payroll &amp; HR</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September 2026 payroll JE: a payroll system error grossed up advance payments (26000810) and income tax withholdings by KRW 809.6 million each. The root cause and correction were not documented.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Document the root cause and fix; review payroll interface entries for unusual balances before posting.</a:t>
                      </a:r>
                    </a:p>
                  </a:txBody>
                  <a:tcPr marL="54864" marR="54864" marT="27432" marB="27432" anchor="ctr">
                    <a:lnL w="0">
                      <a:noFill/>
                    </a:lnL>
                    <a:lnR w="0">
                      <a:noFill/>
                    </a:lnR>
                    <a:lnT w="6350">
                      <a:solidFill>
                        <a:srgbClr val="B1B3B3"/>
                      </a:solidFill>
                    </a:lnT>
                    <a:lnB w="6350">
                      <a:solidFill>
                        <a:srgbClr val="B1B3B3"/>
                      </a:solidFill>
                    </a:lnB>
                    <a:noFill/>
                  </a:tcPr>
                </a:tc>
              </a:tr>
              <a:tr h="566928">
                <a:tc>
                  <a:txBody>
                    <a:bodyPr/>
                    <a:lstStyle/>
                    <a:p>
                      <a:pPr marL="0" indent="0" algn="ctr">
                        <a:buNone/>
                      </a:pPr>
                      <a:r>
                        <a:rPr lang="en-US" altLang="en-US" sz="1050" dirty="0">
                          <a:solidFill>
                            <a:srgbClr val="464B4B"/>
                          </a:solidFill>
                          <a:ea typeface="맑은 고딕" panose="020B0503020000020004" pitchFamily="50" charset="-127"/>
                        </a:rPr>
                        <a:t>2</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Financial Closing</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FY2025 statutory adjustments were reversed to accounts different from the related 2026 SAP entries (#10 TP KRW 408.0m; #13 Hanmi KRW 253.3m). KRW 1,132.9m was debited directly to retained earnings without support.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Reverse statutory adjustments in the same accounts as the current-year SAP entries; review P16 reversals against support.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566928">
                <a:tc>
                  <a:txBody>
                    <a:bodyPr/>
                    <a:lstStyle/>
                    <a:p>
                      <a:pPr marL="0" indent="0" algn="ctr">
                        <a:buNone/>
                      </a:pPr>
                      <a:r>
                        <a:rPr lang="en-US" altLang="en-US" sz="1050" dirty="0">
                          <a:solidFill>
                            <a:srgbClr val="464B4B"/>
                          </a:solidFill>
                          <a:ea typeface="맑은 고딕" panose="020B0503020000020004" pitchFamily="50" charset="-127"/>
                        </a:rPr>
                        <a:t>3</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Financial Closing</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CRU rebilling statutory JE allocated amounts to the wrong expense accounts (insurance expense negative KRW 3.0bn) and also deducted the markup from expenses.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Reconcile the JE to the CRU calculation by account; evidence reviewer sign-off.</a:t>
                      </a:r>
                    </a:p>
                  </a:txBody>
                  <a:tcPr marL="54864" marR="54864" marT="27432" marB="27432" anchor="ctr">
                    <a:lnL w="0">
                      <a:noFill/>
                    </a:lnL>
                    <a:lnR w="0">
                      <a:noFill/>
                    </a:lnR>
                    <a:lnT w="6350">
                      <a:solidFill>
                        <a:srgbClr val="B1B3B3"/>
                      </a:solidFill>
                    </a:lnT>
                    <a:lnB w="6350">
                      <a:solidFill>
                        <a:srgbClr val="B1B3B3"/>
                      </a:solidFill>
                    </a:lnB>
                    <a:noFill/>
                  </a:tcPr>
                </a:tc>
              </a:tr>
              <a:tr h="566928">
                <a:tc>
                  <a:txBody>
                    <a:bodyPr/>
                    <a:lstStyle/>
                    <a:p>
                      <a:pPr marL="0" indent="0" algn="ctr">
                        <a:buNone/>
                      </a:pPr>
                      <a:r>
                        <a:rPr lang="en-US" altLang="en-US" sz="1050" dirty="0">
                          <a:solidFill>
                            <a:srgbClr val="464B4B"/>
                          </a:solidFill>
                          <a:ea typeface="맑은 고딕" panose="020B0503020000020004" pitchFamily="50" charset="-127"/>
                        </a:rPr>
                        <a:t>4</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Revenue (estimates)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Dupixent RSA accrual is not trued-up to NHIS refund notices; the excess is released about 17–18 months later. No interim CAP accrual.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True-up quarterly to actual notices; accrue the CAP pro rata; document the estimate review.</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566928">
                <a:tc>
                  <a:txBody>
                    <a:bodyPr/>
                    <a:lstStyle/>
                    <a:p>
                      <a:pPr marL="0" indent="0" algn="ctr">
                        <a:buNone/>
                      </a:pPr>
                      <a:r>
                        <a:rPr lang="en-US" altLang="en-US" sz="1050" dirty="0">
                          <a:solidFill>
                            <a:srgbClr val="464B4B"/>
                          </a:solidFill>
                          <a:ea typeface="맑은 고딕" panose="020B0503020000020004" pitchFamily="50" charset="-127"/>
                        </a:rPr>
                        <a:t>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Payroll &amp; HR (estimates)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VRP provision is kept on planned headcount; unrealised amounts are not reversed on a timely basis (KRW 2.9bn unsupported at September).</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Reconcile the provision to individual agreements each quarter.</a:t>
                      </a:r>
                    </a:p>
                  </a:txBody>
                  <a:tcPr marL="54864" marR="54864" marT="27432" marB="27432" anchor="ctr">
                    <a:lnL w="0">
                      <a:noFill/>
                    </a:lnL>
                    <a:lnR w="0">
                      <a:noFill/>
                    </a:lnR>
                    <a:lnT w="6350">
                      <a:solidFill>
                        <a:srgbClr val="B1B3B3"/>
                      </a:solidFill>
                    </a:lnT>
                    <a:lnB w="6350">
                      <a:solidFill>
                        <a:srgbClr val="B1B3B3"/>
                      </a:solidFill>
                    </a:lnB>
                    <a:noFill/>
                  </a:tcPr>
                </a:tc>
              </a:tr>
            </a:tbl>
          </a:graphicData>
        </a:graphic>
      </p:graphicFrame>
    </p:spTree>
    <p:extLst>
      <p:ext uri="{BB962C8B-B14F-4D97-AF65-F5344CB8AC3E}">
        <p14:creationId xmlns:p14="http://schemas.microsoft.com/office/powerpoint/2010/main" val="426986721"/>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altLang="en-US" dirty="0">
                <a:ea typeface="맑은 고딕" panose="020B0503020000020004" pitchFamily="50" charset="-127"/>
              </a:rPr>
              <a:t>Follow-up of Prior Year-end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en-US" altLang="en-US" dirty="0">
                <a:ea typeface="맑은 고딕" panose="020B0503020000020004" pitchFamily="50" charset="-127"/>
              </a:rPr>
              <a:t>03</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Follow-up of Prior Year-end Audit Findings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altLang="en-US" b="1" dirty="0">
                <a:ea typeface="맑은 고딕" panose="020B0503020000020004" pitchFamily="50" charset="-127"/>
              </a:rPr>
              <a:t>Status Summary</a:t>
            </a:r>
          </a:p>
        </p:txBody>
      </p:sp>
      <p:graphicFrame>
        <p:nvGraphicFramePr>
          <p:cNvPr id="90" name="Table 90"/>
          <p:cNvGraphicFramePr>
            <a:graphicFrameLocks noGrp="1"/>
          </p:cNvGraphicFramePr>
          <p:nvPr/>
        </p:nvGraphicFramePr>
        <p:xfrm>
          <a:off x="301752" y="2011680"/>
          <a:ext cx="11585447" cy="3063240"/>
        </p:xfrm>
        <a:graphic>
          <a:graphicData uri="http://schemas.openxmlformats.org/drawingml/2006/table">
            <a:tbl>
              <a:tblPr firstRow="1" bandRow="1"/>
              <a:tblGrid>
                <a:gridCol w="367792"/>
                <a:gridCol w="2114804"/>
                <a:gridCol w="3585971"/>
                <a:gridCol w="4321556"/>
                <a:gridCol w="1195324"/>
              </a:tblGrid>
              <a:tr h="612648">
                <a:tc>
                  <a:txBody>
                    <a:bodyPr/>
                    <a:lstStyle/>
                    <a:p>
                      <a:pPr marL="0" indent="0" algn="ctr">
                        <a:buNone/>
                      </a:pPr>
                      <a:r>
                        <a:rPr lang="en-US" altLang="en-US" sz="1050" b="1" dirty="0">
                          <a:solidFill>
                            <a:srgbClr val="FFFFFF"/>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FY2025 year-end finding</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Status at FY2025 year-end closing</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Status at interim (September 2026)</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Status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r>
              <a:tr h="612648">
                <a:tc>
                  <a:txBody>
                    <a:bodyPr/>
                    <a:lstStyle/>
                    <a:p>
                      <a:pPr marL="0" indent="0" algn="ctr">
                        <a:buNone/>
                      </a:pPr>
                      <a:r>
                        <a:rPr lang="en-US" altLang="en-US" sz="1050" dirty="0">
                          <a:solidFill>
                            <a:srgbClr val="464B4B"/>
                          </a:solidFill>
                          <a:ea typeface="맑은 고딕" panose="020B0503020000020004" pitchFamily="50" charset="-127"/>
                        </a:rPr>
                        <a:t>1</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Restructuring (VRP)</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KRW 17.0bn accrued; program expected to continue into 2026 (19 of 29 planned participants retired)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January payment (KRW 9.0bn) agreed. September balance KRW 4.5bn, of which KRW 2.9bn is not supported by the company VRP file. New 2026 programs KRW 1.0bn</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Open</a:t>
                      </a:r>
                    </a:p>
                  </a:txBody>
                  <a:tcPr marL="54864" marR="54864" marT="27432" marB="27432" anchor="ctr">
                    <a:lnL w="0">
                      <a:noFill/>
                    </a:lnL>
                    <a:lnR w="0">
                      <a:noFill/>
                    </a:lnR>
                    <a:lnT w="6350">
                      <a:solidFill>
                        <a:srgbClr val="B1B3B3"/>
                      </a:solidFill>
                    </a:lnT>
                    <a:lnB w="6350">
                      <a:solidFill>
                        <a:srgbClr val="B1B3B3"/>
                      </a:solidFill>
                    </a:lnB>
                    <a:noFill/>
                  </a:tcPr>
                </a:tc>
              </a:tr>
              <a:tr h="612648">
                <a:tc>
                  <a:txBody>
                    <a:bodyPr/>
                    <a:lstStyle/>
                    <a:p>
                      <a:pPr marL="0" indent="0" algn="ctr">
                        <a:buNone/>
                      </a:pPr>
                      <a:r>
                        <a:rPr lang="en-US" altLang="en-US" sz="1050" dirty="0">
                          <a:solidFill>
                            <a:srgbClr val="464B4B"/>
                          </a:solidFill>
                          <a:ea typeface="맑은 고딕" panose="020B0503020000020004" pitchFamily="50" charset="-127"/>
                        </a:rPr>
                        <a:t>2</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Useful life of Banpo leasehold improvements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Useful life shortened to the lease end (November 2026)</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Lease extended to May 31, 2027. Useful life, restoration provision and deposit classification to be re-assessed</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Open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612648">
                <a:tc>
                  <a:txBody>
                    <a:bodyPr/>
                    <a:lstStyle/>
                    <a:p>
                      <a:pPr marL="0" indent="0" algn="ctr">
                        <a:buNone/>
                      </a:pPr>
                      <a:r>
                        <a:rPr lang="en-US" altLang="en-US" sz="1050" dirty="0">
                          <a:solidFill>
                            <a:srgbClr val="464B4B"/>
                          </a:solidFill>
                          <a:ea typeface="맑은 고딕" panose="020B0503020000020004" pitchFamily="50" charset="-127"/>
                        </a:rPr>
                        <a:t>3</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Customs audit (FY2020–2025)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Expected to be finalised in August 2026; disclosed as a contingent liability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Final result and any assessment notice not yet provided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Open</a:t>
                      </a:r>
                    </a:p>
                  </a:txBody>
                  <a:tcPr marL="54864" marR="54864" marT="27432" marB="27432" anchor="ctr">
                    <a:lnL w="0">
                      <a:noFill/>
                    </a:lnL>
                    <a:lnR w="0">
                      <a:noFill/>
                    </a:lnR>
                    <a:lnT w="6350">
                      <a:solidFill>
                        <a:srgbClr val="B1B3B3"/>
                      </a:solidFill>
                    </a:lnT>
                    <a:lnB w="6350">
                      <a:solidFill>
                        <a:srgbClr val="B1B3B3"/>
                      </a:solidFill>
                    </a:lnB>
                    <a:noFill/>
                  </a:tcPr>
                </a:tc>
              </a:tr>
              <a:tr h="612648">
                <a:tc>
                  <a:txBody>
                    <a:bodyPr/>
                    <a:lstStyle/>
                    <a:p>
                      <a:pPr marL="0" indent="0" algn="ctr">
                        <a:buNone/>
                      </a:pPr>
                      <a:r>
                        <a:rPr lang="en-US" altLang="en-US" sz="1050" dirty="0">
                          <a:solidFill>
                            <a:srgbClr val="464B4B"/>
                          </a:solidFill>
                          <a:ea typeface="맑은 고딕" panose="020B0503020000020004" pitchFamily="50" charset="-127"/>
                        </a:rPr>
                        <a:t>4</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Zemiglo litigation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Concluded at the second instance; legal confirmations sent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No new proceedings noted. Zemiglo co-promotion right (NBV KRW 470m) disposed in 2026, offset by an impairment reversal (net nil)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Monitor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bl>
          </a:graphicData>
        </a:graphic>
      </p:graphicFrame>
      <p:sp>
        <p:nvSpPr>
          <p:cNvPr id="91" name="Note 91"/>
          <p:cNvSpPr txBox="1"/>
          <p:nvPr/>
        </p:nvSpPr>
        <p:spPr>
          <a:xfrm>
            <a:off x="301752" y="5788152"/>
            <a:ext cx="8778240" cy="292608"/>
          </a:xfrm>
          <a:prstGeom prst="rect">
            <a:avLst/>
          </a:prstGeom>
          <a:noFill/>
        </p:spPr>
        <p:txBody>
          <a:bodyPr wrap="square" lIns="0" tIns="0" rIns="0" bIns="0" anchor="t">
            <a:normAutofit/>
          </a:bodyPr>
          <a:lstStyle/>
          <a:p>
            <a:pPr marL="0" indent="0">
              <a:buNone/>
            </a:pPr>
            <a:r>
              <a:rPr lang="en-US" altLang="en-US" sz="900" dirty="0">
                <a:solidFill>
                  <a:srgbClr val="464B4B"/>
                </a:solidFill>
                <a:ea typeface="맑은 고딕" panose="020B0503020000020004" pitchFamily="50" charset="-127"/>
              </a:rPr>
              <a:t>Excluded: change in OHK share transfer agreement (closed at the FY2025 year-end closing) and FY2025 pending items (completed before the audit report).</a:t>
            </a:r>
          </a:p>
        </p:txBody>
      </p:sp>
    </p:spTree>
    <p:extLst>
      <p:ext uri="{BB962C8B-B14F-4D97-AF65-F5344CB8AC3E}">
        <p14:creationId xmlns:p14="http://schemas.microsoft.com/office/powerpoint/2010/main" val="42698672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Current status and 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The January payment of KRW 9,020.4m agreed to the retiree list for all 11 cost centres.</a:t>
            </a:r>
          </a:p>
          <a:p>
            <a:pPr lvl="1" algn="just">
              <a:lnSpc>
                <a:spcPct val="100000"/>
              </a:lnSpc>
            </a:pPr>
            <a:r>
              <a:rPr lang="en-US" altLang="en-US" sz="1200" dirty="0">
                <a:ea typeface="맑은 고딕" panose="020B0503020000020004" pitchFamily="50" charset="-127"/>
              </a:rPr>
              <a:t>Of the '25 Drive 2 balance of KRW 3,513.6m, only KRW 641.0m (employee retired on September 30) is supported. The rest is unsupported:</a:t>
            </a:r>
          </a:p>
          <a:p>
            <a:pPr lvl="2" algn="just">
              <a:lnSpc>
                <a:spcPct val="100000"/>
              </a:lnSpc>
            </a:pPr>
            <a:r>
              <a:rPr lang="en-US" altLang="en-US" sz="1100" dirty="0">
                <a:ea typeface="맑은 고딕" panose="020B0503020000020004" pitchFamily="50" charset="-127"/>
              </a:rPr>
              <a:t>KRW 1,547.3m for planned participants who did not retire and was not reversed</a:t>
            </a:r>
          </a:p>
          <a:p>
            <a:pPr lvl="2" algn="just">
              <a:lnSpc>
                <a:spcPct val="100000"/>
              </a:lnSpc>
            </a:pPr>
            <a:r>
              <a:rPr lang="en-US" altLang="en-US" sz="1100" dirty="0">
                <a:ea typeface="맑은 고딕" panose="020B0503020000020004" pitchFamily="50" charset="-127"/>
              </a:rPr>
              <a:t>KRW 1,325.4m outside the prior-year plan</a:t>
            </a:r>
          </a:p>
          <a:p>
            <a:pPr lvl="1" algn="just">
              <a:lnSpc>
                <a:spcPct val="100000"/>
              </a:lnSpc>
            </a:pPr>
            <a:r>
              <a:rPr lang="en-US" altLang="en-US" sz="1200" dirty="0">
                <a:ea typeface="맑은 고딕" panose="020B0503020000020004" pitchFamily="50" charset="-127"/>
              </a:rPr>
              <a:t>The company's 2026 VRP file lists only 2 participants, while 3 new programs (plus Argos) are provided. Recognition requires individual acceptance or a detailed plan communicated to the employees (K-GAAP Chapter 14).</a:t>
            </a:r>
          </a:p>
          <a:p>
            <a:pPr lvl="1" algn="just">
              <a:lnSpc>
                <a:spcPct val="100000"/>
              </a:lnSpc>
            </a:pPr>
            <a:r>
              <a:rPr lang="en-US" altLang="en-US" sz="1200" dirty="0">
                <a:ea typeface="맑은 고딕" panose="020B0503020000020004" pitchFamily="50" charset="-127"/>
              </a:rPr>
              <a:t>Request: participant listing and agreements, and reversal of balances for programs that have ended. Potential overstatement up to KRW 2.9bn (below PM of KRW 5.17bn).</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Restructuring (Voluntary Retirement Program, VRP)</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At the FY2025 year-end, a restructuring accrual of KRW 17.0 billion was recognised, including KRW 9.0 billion for the 19 employees who retired on December 31, 2025. The program was expected to continue into 2026 (29 participants planned).</a:t>
            </a:r>
          </a:p>
          <a:p>
            <a:pPr lvl="1" algn="just">
              <a:lnSpc>
                <a:spcPct val="100000"/>
              </a:lnSpc>
            </a:pPr>
            <a:r>
              <a:rPr lang="en-US" altLang="en-US" sz="1200" dirty="0">
                <a:ea typeface="맑은 고딕" panose="020B0503020000020004" pitchFamily="50" charset="-127"/>
              </a:rPr>
              <a:t>Jan–Sep 2026 movements (KRW million): beginning 16,996.1, new provisions 1,556.9, reversals (2,938.8), utilisation (11,099.1), ending </a:t>
            </a:r>
            <a:r>
              <a:rPr lang="en-US" altLang="en-US" sz="1200" b="1" dirty="0">
                <a:ea typeface="맑은 고딕" panose="020B0503020000020004" pitchFamily="50" charset="-127"/>
              </a:rPr>
              <a:t>4,515.2</a:t>
            </a:r>
            <a:r>
              <a:rPr lang="en-US" altLang="en-US" sz="1200" dirty="0">
                <a:ea typeface="맑은 고딕" panose="020B0503020000020004" pitchFamily="50" charset="-127"/>
              </a:rPr>
              <a:t> (VRP 4,473.2 and outplacement 42.0).</a:t>
            </a:r>
          </a:p>
          <a:p>
            <a:pPr lvl="1" algn="just">
              <a:lnSpc>
                <a:spcPct val="100000"/>
              </a:lnSpc>
            </a:pPr>
            <a:r>
              <a:rPr lang="en-US" altLang="en-US" sz="1200" dirty="0">
                <a:ea typeface="맑은 고딕" panose="020B0503020000020004" pitchFamily="50" charset="-127"/>
              </a:rPr>
              <a:t>New 2026 programs: Key market 386.2, Procurement transformation 290.8, DD&amp;O footprint 245.6, Argos 36.9 (total KRW 959.5m). 'Fit for purpose' (KRW 583.4m) was provided in April and fully reversed in September.</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The extension is another change in accounting estimate (K-GAAP Chapter 5). The remaining carrying amounts of the restoration asset and leasehold improvements should be depreciated prospectively to May 2027.</a:t>
            </a:r>
          </a:p>
          <a:p>
            <a:pPr lvl="1" algn="just">
              <a:lnSpc>
                <a:spcPct val="100000"/>
              </a:lnSpc>
            </a:pPr>
            <a:r>
              <a:rPr lang="en-US" altLang="en-US" sz="1200" dirty="0">
                <a:ea typeface="맑은 고딕" panose="020B0503020000020004" pitchFamily="50" charset="-127"/>
              </a:rPr>
              <a:t>The restoration provision should be remeasured to the expected cash settlement and the revised timing.</a:t>
            </a:r>
          </a:p>
          <a:p>
            <a:pPr lvl="1" algn="just">
              <a:lnSpc>
                <a:spcPct val="100000"/>
              </a:lnSpc>
            </a:pPr>
            <a:r>
              <a:rPr lang="en-US" altLang="en-US" sz="1200" dirty="0">
                <a:ea typeface="맑은 고딕" panose="020B0503020000020004" pitchFamily="50" charset="-127"/>
              </a:rPr>
              <a:t>The deposit is refundable within one year and should be reclassified to current (KRW 1,181.1m).</a:t>
            </a:r>
          </a:p>
          <a:p>
            <a:pPr lvl="1" algn="just">
              <a:lnSpc>
                <a:spcPct val="100000"/>
              </a:lnSpc>
            </a:pPr>
            <a:r>
              <a:rPr lang="en-US" altLang="en-US" sz="1200" dirty="0">
                <a:ea typeface="맑은 고딕" panose="020B0503020000020004" pitchFamily="50" charset="-127"/>
              </a:rPr>
              <a:t>IFRS 16 lease liability has not been remeasured in SAP; the K-GAAP elimination leaves KRW 333m in accrued expenses (see proposed adjustments).</a:t>
            </a:r>
          </a:p>
          <a:p>
            <a:pPr lvl="1" algn="just">
              <a:lnSpc>
                <a:spcPct val="100000"/>
              </a:lnSpc>
            </a:pPr>
            <a:r>
              <a:rPr lang="en-US" altLang="en-US" sz="1200" dirty="0">
                <a:ea typeface="맑은 고딕" panose="020B0503020000020004" pitchFamily="50" charset="-127"/>
              </a:rPr>
              <a:t>Request: signed acknowledgement or amendment, settlement estimate, and the revised depreciation schedule.</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Banpo Office Lease – Useful Life, Restoration Provision and Deposit</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In FY2025, the useful life of the Banpo leasehold improvements was shortened to the remaining lease term (to November 2026), adding KRW 340m of depreciation.</a:t>
            </a:r>
          </a:p>
          <a:p>
            <a:pPr lvl="1" algn="just">
              <a:lnSpc>
                <a:spcPct val="100000"/>
              </a:lnSpc>
            </a:pPr>
            <a:r>
              <a:rPr lang="en-US" altLang="en-US" sz="1200" dirty="0">
                <a:ea typeface="맑은 고딕" panose="020B0503020000020004" pitchFamily="50" charset="-127"/>
              </a:rPr>
              <a:t>In June 2026, the company exercised its extension option to May 31, 2027 (same deposit and rent). The landlord proposed a cash settlement instead of restoration works. The landlord acknowledgement is not yet signed.</a:t>
            </a:r>
          </a:p>
          <a:p>
            <a:pPr lvl="1" algn="just">
              <a:lnSpc>
                <a:spcPct val="100000"/>
              </a:lnSpc>
            </a:pPr>
            <a:r>
              <a:rPr lang="en-US" altLang="en-US" sz="1200" dirty="0">
                <a:ea typeface="맑은 고딕" panose="020B0503020000020004" pitchFamily="50" charset="-127"/>
              </a:rPr>
              <a:t>At September 30: restoration provision KRW 912.4m; restoration asset (cost KRW 844.1m) depreciated over 59 months to November 2026; deposit KRW 1,181.1m presented as non-current.</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Customs audit (FY2020–2025):</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Zemiglo litigation:</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At the FY2025 year-end, the litigation had been concluded at the second instance (March 2025). The provision reversal and receivable write-off were appropriate.</a:t>
            </a:r>
          </a:p>
          <a:p>
            <a:pPr lvl="1" algn="just">
              <a:lnSpc>
                <a:spcPct val="100000"/>
              </a:lnSpc>
            </a:pPr>
            <a:r>
              <a:rPr lang="en-US" altLang="en-US" sz="1200" dirty="0">
                <a:ea typeface="맑은 고딕" panose="020B0503020000020004" pitchFamily="50" charset="-127"/>
              </a:rPr>
              <a:t>No new proceedings were noted at the interim.</a:t>
            </a:r>
          </a:p>
          <a:p>
            <a:pPr lvl="1" algn="just">
              <a:lnSpc>
                <a:spcPct val="100000"/>
              </a:lnSpc>
            </a:pPr>
            <a:r>
              <a:rPr lang="en-US" altLang="en-US" sz="1200" dirty="0">
                <a:ea typeface="맑은 고딕" panose="020B0503020000020004" pitchFamily="50" charset="-127"/>
              </a:rPr>
              <a:t>In 2026, the Zemiglo co-promotion right (NBV KRW 470m) was disposed of; the loss was offset by an impairment reversal (net nil). We will confirm that no residual obligations remain.</a:t>
            </a:r>
          </a:p>
          <a:p>
            <a:pPr lvl="1" algn="just">
              <a:lnSpc>
                <a:spcPct val="100000"/>
              </a:lnSpc>
            </a:pPr>
            <a:r>
              <a:rPr lang="en-US" altLang="en-US" sz="1200" dirty="0">
                <a:ea typeface="맑은 고딕" panose="020B0503020000020004" pitchFamily="50" charset="-127"/>
              </a:rPr>
              <a:t>Legal confirmations will be obtained at the year-end to confirm that there are no new claims.</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Customs Audit and Zemiglo Litigation</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At the FY2025 year-end, the customs audit of SAK (FY2020–2025) was in progress. It was expected to be finalised in August 2026 and was disclosed as a contingent liability.</a:t>
            </a:r>
          </a:p>
          <a:p>
            <a:pPr lvl="1" algn="just">
              <a:lnSpc>
                <a:spcPct val="100000"/>
              </a:lnSpc>
            </a:pPr>
            <a:r>
              <a:rPr lang="en-US" altLang="en-US" sz="1200" dirty="0">
                <a:ea typeface="맑은 고딕" panose="020B0503020000020004" pitchFamily="50" charset="-127"/>
              </a:rPr>
              <a:t>The company has not yet provided the final result.</a:t>
            </a:r>
          </a:p>
          <a:p>
            <a:pPr lvl="1" algn="just">
              <a:lnSpc>
                <a:spcPct val="100000"/>
              </a:lnSpc>
            </a:pPr>
            <a:r>
              <a:rPr lang="en-US" altLang="en-US" sz="1200" dirty="0">
                <a:ea typeface="맑은 고딕" panose="020B0503020000020004" pitchFamily="50" charset="-127"/>
              </a:rPr>
              <a:t>Assessment: if finalised, additional duties and penalties should be recognised in the current year (expense or provision, K-GAAP Chapter 14) and the disclosure updated. If still in progress, the contingent liability disclosure should be maintained.</a:t>
            </a:r>
          </a:p>
          <a:p>
            <a:pPr lvl="1" algn="just">
              <a:lnSpc>
                <a:spcPct val="100000"/>
              </a:lnSpc>
            </a:pPr>
            <a:r>
              <a:rPr lang="en-US" altLang="en-US" sz="1200" dirty="0">
                <a:ea typeface="맑은 고딕" panose="020B0503020000020004" pitchFamily="50" charset="-127"/>
              </a:rPr>
              <a:t>Request: customs audit result notice, payment evidence and the latest status from the customs adviser.</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altLang="en-US" dirty="0">
                <a:ea typeface="맑은 고딕" panose="020B0503020000020004" pitchFamily="50" charset="-127"/>
              </a:rPr>
              <a:t>Interim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en-US" altLang="en-US" dirty="0">
                <a:ea typeface="맑은 고딕" panose="020B0503020000020004" pitchFamily="50" charset="-127"/>
              </a:rPr>
              <a:t>04</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altLang="en-US" b="1" dirty="0">
                <a:ea typeface="맑은 고딕" panose="020B0503020000020004" pitchFamily="50" charset="-127"/>
              </a:rPr>
              <a:t>Summary of New Issues Identified at the Interim Audit</a:t>
            </a:r>
          </a:p>
        </p:txBody>
      </p:sp>
      <p:graphicFrame>
        <p:nvGraphicFramePr>
          <p:cNvPr id="90" name="Table 90"/>
          <p:cNvGraphicFramePr>
            <a:graphicFrameLocks noGrp="1"/>
          </p:cNvGraphicFramePr>
          <p:nvPr/>
        </p:nvGraphicFramePr>
        <p:xfrm>
          <a:off x="301752" y="2011680"/>
          <a:ext cx="11585448" cy="4114800"/>
        </p:xfrm>
        <a:graphic>
          <a:graphicData uri="http://schemas.openxmlformats.org/drawingml/2006/table">
            <a:tbl>
              <a:tblPr firstRow="1" bandRow="1"/>
              <a:tblGrid>
                <a:gridCol w="364896"/>
                <a:gridCol w="2827944"/>
                <a:gridCol w="4378752"/>
                <a:gridCol w="2371824"/>
                <a:gridCol w="1642032"/>
              </a:tblGrid>
              <a:tr h="411480">
                <a:tc>
                  <a:txBody>
                    <a:bodyPr/>
                    <a:lstStyle/>
                    <a:p>
                      <a:pPr marL="0" indent="0" algn="ctr">
                        <a:buNone/>
                      </a:pPr>
                      <a:r>
                        <a:rPr lang="en-US" altLang="en-US" sz="1050" b="1" dirty="0">
                          <a:solidFill>
                            <a:srgbClr val="FFFFFF"/>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Issue</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Key amounts (KRW)</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Nature</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Status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r>
              <a:tr h="411480">
                <a:tc>
                  <a:txBody>
                    <a:bodyPr/>
                    <a:lstStyle/>
                    <a:p>
                      <a:pPr marL="0" indent="0" algn="ctr">
                        <a:buNone/>
                      </a:pPr>
                      <a:r>
                        <a:rPr lang="en-US" altLang="en-US" sz="1050" dirty="0">
                          <a:solidFill>
                            <a:srgbClr val="464B4B"/>
                          </a:solidFill>
                          <a:ea typeface="맑은 고딕" panose="020B0503020000020004" pitchFamily="50" charset="-127"/>
                        </a:rPr>
                        <a:t>1</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Taxotere divestment (Closing / TDA)</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Disposal loss 1,372m; September inventory 15.6bn; October transfer gain up to ~2.7bn</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Classification, subsequent event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Open</a:t>
                      </a:r>
                    </a:p>
                  </a:txBody>
                  <a:tcPr marL="54864" marR="54864" marT="27432" marB="27432" anchor="ctr">
                    <a:lnL w="0">
                      <a:noFill/>
                    </a:lnL>
                    <a:lnR w="0">
                      <a:noFill/>
                    </a:lnR>
                    <a:lnT w="6350">
                      <a:solidFill>
                        <a:srgbClr val="B1B3B3"/>
                      </a:solidFill>
                    </a:lnT>
                    <a:lnB w="6350">
                      <a:solidFill>
                        <a:srgbClr val="B1B3B3"/>
                      </a:solidFill>
                    </a:lnB>
                    <a:noFill/>
                  </a:tcPr>
                </a:tc>
              </a:tr>
              <a:tr h="411480">
                <a:tc>
                  <a:txBody>
                    <a:bodyPr/>
                    <a:lstStyle/>
                    <a:p>
                      <a:pPr marL="0" indent="0" algn="ctr">
                        <a:buNone/>
                      </a:pPr>
                      <a:r>
                        <a:rPr lang="en-US" altLang="en-US" sz="1050" dirty="0">
                          <a:solidFill>
                            <a:srgbClr val="464B4B"/>
                          </a:solidFill>
                          <a:ea typeface="맑은 고딕" panose="020B0503020000020004" pitchFamily="50" charset="-127"/>
                        </a:rPr>
                        <a:t>2</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Dupixent RSA accrual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Excess ~22.6bn at FY2025 year-end; ~18bn estimated at September; no 2026 CAP accrued</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Estimate (possible PY error)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Open – key</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411480">
                <a:tc>
                  <a:txBody>
                    <a:bodyPr/>
                    <a:lstStyle/>
                    <a:p>
                      <a:pPr marL="0" indent="0" algn="ctr">
                        <a:buNone/>
                      </a:pPr>
                      <a:r>
                        <a:rPr lang="en-US" altLang="en-US" sz="1050" dirty="0">
                          <a:solidFill>
                            <a:srgbClr val="464B4B"/>
                          </a:solidFill>
                          <a:ea typeface="맑은 고딕" panose="020B0503020000020004" pitchFamily="50" charset="-127"/>
                        </a:rPr>
                        <a:t>3</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Caprelsa / Rodogyl</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Caprelsa settlement up to ~383m if TDA-type terms apply; Rodogyl stock 12.5m</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Unrecorded settlement risk</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Open</a:t>
                      </a:r>
                    </a:p>
                  </a:txBody>
                  <a:tcPr marL="54864" marR="54864" marT="27432" marB="27432" anchor="ctr">
                    <a:lnL w="0">
                      <a:noFill/>
                    </a:lnL>
                    <a:lnR w="0">
                      <a:noFill/>
                    </a:lnR>
                    <a:lnT w="6350">
                      <a:solidFill>
                        <a:srgbClr val="B1B3B3"/>
                      </a:solidFill>
                    </a:lnT>
                    <a:lnB w="6350">
                      <a:solidFill>
                        <a:srgbClr val="B1B3B3"/>
                      </a:solidFill>
                    </a:lnB>
                    <a:noFill/>
                  </a:tcPr>
                </a:tc>
              </a:tr>
              <a:tr h="411480">
                <a:tc>
                  <a:txBody>
                    <a:bodyPr/>
                    <a:lstStyle/>
                    <a:p>
                      <a:pPr marL="0" indent="0" algn="ctr">
                        <a:buNone/>
                      </a:pPr>
                      <a:r>
                        <a:rPr lang="en-US" altLang="en-US" sz="1050" dirty="0">
                          <a:solidFill>
                            <a:srgbClr val="464B4B"/>
                          </a:solidFill>
                          <a:ea typeface="맑은 고딕" panose="020B0503020000020004" pitchFamily="50" charset="-127"/>
                        </a:rPr>
                        <a:t>4</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Reversal of FY2025 statutory adjustments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#10 408.0m; #13 253.3m; retained earnings 1,132.9m</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Classification, opening RE</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Adj. proposed</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411480">
                <a:tc>
                  <a:txBody>
                    <a:bodyPr/>
                    <a:lstStyle/>
                    <a:p>
                      <a:pPr marL="0" indent="0" algn="ctr">
                        <a:buNone/>
                      </a:pPr>
                      <a:r>
                        <a:rPr lang="en-US" altLang="en-US" sz="1050" dirty="0">
                          <a:solidFill>
                            <a:srgbClr val="464B4B"/>
                          </a:solidFill>
                          <a:ea typeface="맑은 고딕" panose="020B0503020000020004" pitchFamily="50" charset="-127"/>
                        </a:rPr>
                        <a:t>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CRU rebilling</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Reclass 3,916.3m; markup ~412m; unbilled CSU ~7.7bn</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Classification, accrual</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Adj. proposed</a:t>
                      </a:r>
                    </a:p>
                  </a:txBody>
                  <a:tcPr marL="54864" marR="54864" marT="27432" marB="27432" anchor="ctr">
                    <a:lnL w="0">
                      <a:noFill/>
                    </a:lnL>
                    <a:lnR w="0">
                      <a:noFill/>
                    </a:lnR>
                    <a:lnT w="6350">
                      <a:solidFill>
                        <a:srgbClr val="B1B3B3"/>
                      </a:solidFill>
                    </a:lnT>
                    <a:lnB w="6350">
                      <a:solidFill>
                        <a:srgbClr val="B1B3B3"/>
                      </a:solidFill>
                    </a:lnB>
                    <a:noFill/>
                  </a:tcPr>
                </a:tc>
              </a:tr>
              <a:tr h="411480">
                <a:tc>
                  <a:txBody>
                    <a:bodyPr/>
                    <a:lstStyle/>
                    <a:p>
                      <a:pPr marL="0" indent="0" algn="ctr">
                        <a:buNone/>
                      </a:pPr>
                      <a:r>
                        <a:rPr lang="en-US" altLang="en-US" sz="1050" dirty="0">
                          <a:solidFill>
                            <a:srgbClr val="464B4B"/>
                          </a:solidFill>
                          <a:ea typeface="맑은 고딕" panose="020B0503020000020004" pitchFamily="50" charset="-127"/>
                        </a:rPr>
                        <a:t>6</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Balance sheet classification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Payables 2,484.9m; deposit 1,181.1m; payroll 809.6m; IFRS 16 333.2m</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Presentation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Adj. proposed</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411480">
                <a:tc>
                  <a:txBody>
                    <a:bodyPr/>
                    <a:lstStyle/>
                    <a:p>
                      <a:pPr marL="0" indent="0" algn="ctr">
                        <a:buNone/>
                      </a:pPr>
                      <a:r>
                        <a:rPr lang="en-US" altLang="en-US" sz="1050" dirty="0">
                          <a:solidFill>
                            <a:srgbClr val="464B4B"/>
                          </a:solidFill>
                          <a:ea typeface="맑은 고딕" panose="020B0503020000020004" pitchFamily="50" charset="-127"/>
                        </a:rPr>
                        <a:t>7</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New office lease (Centerfield)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Minimum rent ~22.1bn (84 months); deposit balance 1,681.2m</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Commitments disclosure</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Year-end</a:t>
                      </a:r>
                    </a:p>
                  </a:txBody>
                  <a:tcPr marL="54864" marR="54864" marT="27432" marB="27432" anchor="ctr">
                    <a:lnL w="0">
                      <a:noFill/>
                    </a:lnL>
                    <a:lnR w="0">
                      <a:noFill/>
                    </a:lnR>
                    <a:lnT w="6350">
                      <a:solidFill>
                        <a:srgbClr val="B1B3B3"/>
                      </a:solidFill>
                    </a:lnT>
                    <a:lnB w="6350">
                      <a:solidFill>
                        <a:srgbClr val="B1B3B3"/>
                      </a:solidFill>
                    </a:lnB>
                    <a:noFill/>
                  </a:tcPr>
                </a:tc>
              </a:tr>
              <a:tr h="411480">
                <a:tc>
                  <a:txBody>
                    <a:bodyPr/>
                    <a:lstStyle/>
                    <a:p>
                      <a:pPr marL="0" indent="0" algn="ctr">
                        <a:buNone/>
                      </a:pPr>
                      <a:r>
                        <a:rPr lang="en-US" altLang="en-US" sz="1050" dirty="0">
                          <a:solidFill>
                            <a:srgbClr val="464B4B"/>
                          </a:solidFill>
                          <a:ea typeface="맑은 고딕" panose="020B0503020000020004" pitchFamily="50" charset="-127"/>
                        </a:rPr>
                        <a:t>8</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Share-based payment (Action 2026)</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Discount ~261m plus free shares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Expense / capital surplus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en-US" sz="1050" dirty="0">
                          <a:solidFill>
                            <a:srgbClr val="464B4B"/>
                          </a:solidFill>
                          <a:ea typeface="맑은 고딕" panose="020B0503020000020004" pitchFamily="50" charset="-127"/>
                        </a:rPr>
                        <a:t>Open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411480">
                <a:tc>
                  <a:txBody>
                    <a:bodyPr/>
                    <a:lstStyle/>
                    <a:p>
                      <a:pPr marL="0" indent="0" algn="ctr">
                        <a:buNone/>
                      </a:pPr>
                      <a:r>
                        <a:rPr lang="en-US" altLang="en-US" sz="1050" dirty="0">
                          <a:solidFill>
                            <a:srgbClr val="464B4B"/>
                          </a:solidFill>
                          <a:ea typeface="맑은 고딕" panose="020B0503020000020004" pitchFamily="50" charset="-127"/>
                        </a:rPr>
                        <a:t>9</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Partner incentives (Handok)</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2024/2025 incentives 2.4bn unsettled (dispute)</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Estimate</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en-US" sz="1050" dirty="0">
                          <a:solidFill>
                            <a:srgbClr val="464B4B"/>
                          </a:solidFill>
                          <a:ea typeface="맑은 고딕" panose="020B0503020000020004" pitchFamily="50" charset="-127"/>
                        </a:rPr>
                        <a:t>Subsequent check</a:t>
                      </a:r>
                    </a:p>
                  </a:txBody>
                  <a:tcPr marL="54864" marR="54864" marT="27432" marB="27432" anchor="ctr">
                    <a:lnL w="0">
                      <a:noFill/>
                    </a:lnL>
                    <a:lnR w="0">
                      <a:noFill/>
                    </a:lnR>
                    <a:lnT w="6350">
                      <a:solidFill>
                        <a:srgbClr val="B1B3B3"/>
                      </a:solidFill>
                    </a:lnT>
                    <a:lnB w="6350">
                      <a:solidFill>
                        <a:srgbClr val="B1B3B3"/>
                      </a:solidFill>
                    </a:lnB>
                    <a:noFill/>
                  </a:tcPr>
                </a:tc>
              </a:tr>
            </a:tbl>
          </a:graphicData>
        </a:graphic>
      </p:graphicFrame>
    </p:spTree>
    <p:extLst>
      <p:ext uri="{BB962C8B-B14F-4D97-AF65-F5344CB8AC3E}">
        <p14:creationId xmlns:p14="http://schemas.microsoft.com/office/powerpoint/2010/main" val="426986721"/>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Non-operating classification is acceptable (one-off loss from a business transfer). The account should be renamed "loss on business transfer" or "loss on disposal of inventories", because the asset sold is inventory, not an investment asset.</a:t>
            </a:r>
          </a:p>
          <a:p>
            <a:pPr lvl="1" algn="just">
              <a:lnSpc>
                <a:spcPct val="100000"/>
              </a:lnSpc>
            </a:pPr>
            <a:r>
              <a:rPr lang="en-US" altLang="en-US" sz="1200" dirty="0">
                <a:ea typeface="맑은 고딕" panose="020B0503020000020004" pitchFamily="50" charset="-127"/>
              </a:rPr>
              <a:t>The remaining capitalised PPV of KRW 94.3m relates to Closing stock sold by August and should be expensed to cost of sales.</a:t>
            </a:r>
          </a:p>
          <a:p>
            <a:pPr lvl="1" algn="just">
              <a:lnSpc>
                <a:spcPct val="100000"/>
              </a:lnSpc>
            </a:pPr>
            <a:r>
              <a:rPr lang="en-US" altLang="en-US" sz="1200" dirty="0">
                <a:ea typeface="맑은 고딕" panose="020B0503020000020004" pitchFamily="50" charset="-127"/>
              </a:rPr>
              <a:t>The group restates MARCO margin to offset the loss in management reporting only. No compensation to SAK has been identified.</a:t>
            </a:r>
          </a:p>
          <a:p>
            <a:pPr lvl="1" algn="just">
              <a:lnSpc>
                <a:spcPct val="100000"/>
              </a:lnSpc>
            </a:pPr>
            <a:r>
              <a:rPr lang="en-US" altLang="en-US" sz="1200" dirty="0">
                <a:ea typeface="맑은 고딕" panose="020B0503020000020004" pitchFamily="50" charset="-127"/>
              </a:rPr>
              <a:t>TDA true-ups (92% of net sales) are performed centrally by GBU Finance (Closing instructions, slide 7). Whether any amount is allocated to SAK is not documented. A potential credit of KRW 367.6m is unrecorded pending group confirmation.</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Divestment of TAXOTERE (1/2) – Closing Sale and Buy-back</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On May 29, 2026 (Closing), the global TAXOTERE business was sold to Boryung. Under the group closing instructions, Closing inventory was sold to Boryung at the MSA price and immediately bought back at the TDA price, with no physical movement. SAK continues to distribute under the Transitional Distribution Agreement (TDA) until the MA transfer.</a:t>
            </a:r>
          </a:p>
          <a:p>
            <a:pPr lvl="1" algn="just">
              <a:lnSpc>
                <a:spcPct val="100000"/>
              </a:lnSpc>
            </a:pPr>
            <a:r>
              <a:rPr lang="en-US" altLang="en-US" sz="1200" dirty="0">
                <a:ea typeface="맑은 고딕" panose="020B0503020000020004" pitchFamily="50" charset="-127"/>
              </a:rPr>
              <a:t>The Closing quantity was booked at 32,530 units in May and corrected to 22,592 units per the official Closing Date Inventory Statement (July true-up invoices: sale −EUR 504,382.74; buy-back −EUR 1,012,194.20).</a:t>
            </a:r>
          </a:p>
          <a:p>
            <a:pPr lvl="1" algn="just">
              <a:lnSpc>
                <a:spcPct val="100000"/>
              </a:lnSpc>
            </a:pPr>
            <a:r>
              <a:rPr lang="en-US" altLang="en-US" sz="1200" dirty="0">
                <a:ea typeface="맑은 고딕" panose="020B0503020000020004" pitchFamily="50" charset="-127"/>
              </a:rPr>
              <a:t>Loss on sale: carrying amount KRW 3,246.9m less proceeds KRW 1,874.5m = </a:t>
            </a:r>
            <a:r>
              <a:rPr lang="en-US" altLang="en-US" sz="1200" b="1" dirty="0">
                <a:ea typeface="맑은 고딕" panose="020B0503020000020004" pitchFamily="50" charset="-127"/>
              </a:rPr>
              <a:t>KRW 1,372.4m</a:t>
            </a:r>
            <a:r>
              <a:rPr lang="en-US" altLang="en-US" sz="1200" dirty="0">
                <a:ea typeface="맑은 고딕" panose="020B0503020000020004" pitchFamily="50" charset="-127"/>
              </a:rPr>
              <a:t>, recorded as a non-operating "loss on disposal of investment assets". The excess of the buy-back price over standard cost was capitalised (PPV).</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Gross (principal) presentation is appropriate for the SAK standalone K-GAAP FS: SAK holds title and inventory risk. The group (IFRS 15) does not treat these as market sales, so the rationale should be documented.</a:t>
            </a:r>
          </a:p>
          <a:p>
            <a:pPr lvl="1" algn="just">
              <a:lnSpc>
                <a:spcPct val="100000"/>
              </a:lnSpc>
            </a:pPr>
            <a:r>
              <a:rPr lang="en-US" altLang="en-US" sz="1200" dirty="0">
                <a:ea typeface="맑은 고딕" panose="020B0503020000020004" pitchFamily="50" charset="-127"/>
              </a:rPr>
              <a:t>The October transfer is a non-adjusting subsequent event for the interim FS. No impairment is required at September 30 (TDA price &gt; cost).</a:t>
            </a:r>
          </a:p>
          <a:p>
            <a:pPr lvl="1" algn="just">
              <a:lnSpc>
                <a:spcPct val="100000"/>
              </a:lnSpc>
            </a:pPr>
            <a:r>
              <a:rPr lang="en-US" altLang="en-US" sz="1200" dirty="0">
                <a:ea typeface="맑은 고딕" panose="020B0503020000020004" pitchFamily="50" charset="-127"/>
              </a:rPr>
              <a:t>If SAK invoiced Boryung at the TDA price, the estimated gain is up to ~KRW 2.7bn (proceeds ~KRW 18.3bn vs cost KRW 15.6bn, before October sales; EUR/KRW 1,761.7 assumed). It would be recognised in Q4, subject to any group recharge.</a:t>
            </a:r>
          </a:p>
          <a:p>
            <a:pPr lvl="1" algn="just">
              <a:lnSpc>
                <a:spcPct val="100000"/>
              </a:lnSpc>
            </a:pPr>
            <a:r>
              <a:rPr lang="en-US" altLang="en-US" sz="1200" dirty="0">
                <a:ea typeface="맑은 고딕" panose="020B0503020000020004" pitchFamily="50" charset="-127"/>
              </a:rPr>
              <a:t>Requests: group written confirmation (true-up allocation and recharge), the October invoice with quantities and VAT, and evidence of the MA transfer.</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Divestment of TAXOTERE (2/2) – Post-closing Supply and October Transfer</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After Closing, SAK continued to buy TAXOTERE from SWI (Singapore) at the group transfer price: 126,868 units (KRW 19.5bn) in July–September. This is consistent with the group instructions (replenishment unchanged; the monthly sell/buy-back with the partner is performed by SWI).</a:t>
            </a:r>
          </a:p>
          <a:p>
            <a:pPr lvl="1" algn="just">
              <a:lnSpc>
                <a:spcPct val="100000"/>
              </a:lnSpc>
            </a:pPr>
            <a:r>
              <a:rPr lang="en-US" altLang="en-US" sz="1200" dirty="0">
                <a:ea typeface="맑은 고딕" panose="020B0503020000020004" pitchFamily="50" charset="-127"/>
              </a:rPr>
              <a:t>June–September TAXOTERE sales of KRW 9.4bn were recognised gross. At September 30, </a:t>
            </a:r>
            <a:r>
              <a:rPr lang="en-US" altLang="en-US" sz="1200" b="1" dirty="0">
                <a:ea typeface="맑은 고딕" panose="020B0503020000020004" pitchFamily="50" charset="-127"/>
              </a:rPr>
              <a:t>103,041 units (KRW 15,620m)</a:t>
            </a:r>
            <a:r>
              <a:rPr lang="en-US" altLang="en-US" sz="1200" dirty="0">
                <a:ea typeface="맑은 고딕" panose="020B0503020000020004" pitchFamily="50" charset="-127"/>
              </a:rPr>
              <a:t> remained, all sourced from Singapore.</a:t>
            </a:r>
          </a:p>
          <a:p>
            <a:pPr lvl="1" algn="just">
              <a:lnSpc>
                <a:spcPct val="100000"/>
              </a:lnSpc>
            </a:pPr>
            <a:r>
              <a:rPr lang="en-US" altLang="en-US" sz="1200" dirty="0">
                <a:ea typeface="맑은 고딕" panose="020B0503020000020004" pitchFamily="50" charset="-127"/>
              </a:rPr>
              <a:t>According to the company, Boryung's MA was completed in October 2026 and all remaining inventory was transferred to Boryung. Under the instructions, the transfer is at the TDA price (20mg EUR 48.52 / 80mg EUR 155.44).</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Accruals exceeded actual refunds by 13–22% each year (2023–2025). At December 2025, </a:t>
            </a:r>
            <a:r>
              <a:rPr lang="en-US" altLang="en-US" sz="1200" b="1" dirty="0">
                <a:ea typeface="맑은 고딕" panose="020B0503020000020004" pitchFamily="50" charset="-127"/>
              </a:rPr>
              <a:t>KRW 22.6bn</a:t>
            </a:r>
            <a:r>
              <a:rPr lang="en-US" altLang="en-US" sz="1200" dirty="0">
                <a:ea typeface="맑은 고딕" panose="020B0503020000020004" pitchFamily="50" charset="-127"/>
              </a:rPr>
              <a:t> of the Dupixent balance (51.3bn) had no corresponding obligation (2025 obligations paid in 2026: 28.7bn). This exceeds PM, so we need to assess whether it is a PY error or a change in estimate.</a:t>
            </a:r>
          </a:p>
          <a:p>
            <a:pPr lvl="1" algn="just">
              <a:lnSpc>
                <a:spcPct val="100000"/>
              </a:lnSpc>
            </a:pPr>
            <a:r>
              <a:rPr lang="en-US" altLang="en-US" sz="1200" dirty="0">
                <a:ea typeface="맑은 고딕" panose="020B0503020000020004" pitchFamily="50" charset="-127"/>
              </a:rPr>
              <a:t>September 2026: the estimated required provision is ~KRW 24.3bn (Q3 RSA ~12.2bn, September co-payment ~0.6bn, 2026 CAP for 9 months ~11.5bn) against KRW 42.6bn booked. The </a:t>
            </a:r>
            <a:r>
              <a:rPr lang="en-US" altLang="en-US" sz="1200" b="1" dirty="0">
                <a:ea typeface="맑은 고딕" panose="020B0503020000020004" pitchFamily="50" charset="-127"/>
              </a:rPr>
              <a:t>potential excess is ~KRW 18bn</a:t>
            </a:r>
            <a:r>
              <a:rPr lang="en-US" altLang="en-US" sz="1200" dirty="0">
                <a:ea typeface="맑은 고딕" panose="020B0503020000020004" pitchFamily="50" charset="-127"/>
              </a:rPr>
              <a:t>, depending on the CAP estimate.</a:t>
            </a:r>
          </a:p>
          <a:p>
            <a:pPr lvl="1" algn="just">
              <a:lnSpc>
                <a:spcPct val="100000"/>
              </a:lnSpc>
            </a:pPr>
            <a:r>
              <a:rPr lang="en-US" altLang="en-US" sz="1200" dirty="0">
                <a:ea typeface="맑은 고딕" panose="020B0503020000020004" pitchFamily="50" charset="-127"/>
              </a:rPr>
              <a:t>No 2026 CAP is accrued at the interim; historically the CAP is accrued only in Q4.</a:t>
            </a:r>
          </a:p>
          <a:p>
            <a:pPr lvl="1" algn="just">
              <a:lnSpc>
                <a:spcPct val="100000"/>
              </a:lnSpc>
            </a:pPr>
            <a:r>
              <a:rPr lang="en-US" altLang="en-US" sz="1200" dirty="0">
                <a:ea typeface="맑은 고딕" panose="020B0503020000020004" pitchFamily="50" charset="-127"/>
              </a:rPr>
              <a:t>Requests: accrual calculation files, NHIS refund notices (2024 Q1–2026 Q3), cumulative claims and the CAP estimate, and a reconciliation of accruals, refunds and releases.</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Dupixent Risk-Sharing Agreement (RSA) Accrual</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Under the RSA with NHIS, SAK refunds 19.01% of claims. The first 5 doses are free of charge, and a CAP refunds 50% of annual claims above KRW 45bn.</a:t>
            </a:r>
          </a:p>
          <a:p>
            <a:pPr lvl="1" algn="just">
              <a:lnSpc>
                <a:spcPct val="100000"/>
              </a:lnSpc>
            </a:pPr>
            <a:r>
              <a:rPr lang="en-US" altLang="en-US" sz="1200" dirty="0">
                <a:ea typeface="맑은 고딕" panose="020B0503020000020004" pitchFamily="50" charset="-127"/>
              </a:rPr>
              <a:t>Accrual = cumulative insured patients × KRW 341,920 per month. Actual refunds (quarterly RSA, co-payment and CAP) are offset against it, and the residual is released about 17–18 months later.</a:t>
            </a:r>
          </a:p>
          <a:p>
            <a:pPr lvl="1" algn="just">
              <a:lnSpc>
                <a:spcPct val="100000"/>
              </a:lnSpc>
            </a:pPr>
            <a:r>
              <a:rPr lang="en-US" altLang="en-US" sz="1200" dirty="0">
                <a:ea typeface="맑은 고딕" panose="020B0503020000020004" pitchFamily="50" charset="-127"/>
              </a:rPr>
              <a:t>September 2026: provision for rebates KRW 50.0bn (Dupixent 42.6bn). Jan–Sep revenue deductions include KRW 5.5bn of releases of prior-year accruals.</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Caprelsa:</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Rodogyl:</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Domestic sales were discontinued and the MA was voluntarily withdrawn in August 2026. There were no 2026 sales; returns were 16,166 units (−KRW 37.2m net sales).</a:t>
            </a:r>
          </a:p>
          <a:p>
            <a:pPr lvl="1" algn="just">
              <a:lnSpc>
                <a:spcPct val="100000"/>
              </a:lnSpc>
            </a:pPr>
            <a:r>
              <a:rPr lang="en-US" altLang="en-US" sz="1200" dirty="0">
                <a:ea typeface="맑은 고딕" panose="020B0503020000020004" pitchFamily="50" charset="-127"/>
              </a:rPr>
              <a:t>September inventory is 7,214 units (KRW 12.5m), all returned goods. It cannot be sold and should be fully written down or destroyed.</a:t>
            </a:r>
          </a:p>
          <a:p>
            <a:pPr lvl="1" algn="just">
              <a:lnSpc>
                <a:spcPct val="100000"/>
              </a:lnSpc>
            </a:pPr>
            <a:r>
              <a:rPr lang="en-US" altLang="en-US" sz="1200" dirty="0">
                <a:ea typeface="맑은 고딕" panose="020B0503020000020004" pitchFamily="50" charset="-127"/>
              </a:rPr>
              <a:t>Further market returns are estimated at KRW 25–50m (below CTM of KRW 194m). Confirm the returns provision.</a:t>
            </a:r>
          </a:p>
          <a:p>
            <a:pPr lvl="1" algn="just">
              <a:lnSpc>
                <a:spcPct val="100000"/>
              </a:lnSpc>
            </a:pPr>
            <a:r>
              <a:rPr lang="en-US" altLang="en-US" sz="1200" dirty="0">
                <a:ea typeface="맑은 고딕" panose="020B0503020000020004" pitchFamily="50" charset="-127"/>
              </a:rPr>
              <a:t>Presentation: this is a discontinuation, not an HQ divestment. The analytical review comment should be revised.</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Other Global Divestments – Caprelsa and Rodogyl</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Divested globally to Esteve. Korean rights are to be granted to KIMS Pharma, and the MA transfer is expected in April 2027. The company has not received HQ guidance.</a:t>
            </a:r>
          </a:p>
          <a:p>
            <a:pPr lvl="1" algn="just">
              <a:lnSpc>
                <a:spcPct val="100000"/>
              </a:lnSpc>
            </a:pPr>
            <a:r>
              <a:rPr lang="en-US" altLang="en-US" sz="1200" dirty="0">
                <a:ea typeface="맑은 고딕" panose="020B0503020000020004" pitchFamily="50" charset="-127"/>
              </a:rPr>
              <a:t>SAK still buys from the group at the transfer price and sells on its own account: Jan–Sep net sales KRW 1,488m, COGS KRW 986m; September inventory KRW 782m.</a:t>
            </a:r>
          </a:p>
          <a:p>
            <a:pPr lvl="1" algn="just">
              <a:lnSpc>
                <a:spcPct val="100000"/>
              </a:lnSpc>
            </a:pPr>
            <a:r>
              <a:rPr lang="en-US" altLang="en-US" sz="1200" dirty="0">
                <a:ea typeface="맑은 고딕" panose="020B0503020000020004" pitchFamily="50" charset="-127"/>
              </a:rPr>
              <a:t>If TDA-type terms apply (92% of net sales payable to the buyer), the unrecorded settlement could be up to ~KRW 383m (from January 2026; the actual amount depends on the closing date).</a:t>
            </a:r>
          </a:p>
          <a:p>
            <a:pPr lvl="1" algn="just">
              <a:lnSpc>
                <a:spcPct val="100000"/>
              </a:lnSpc>
            </a:pPr>
            <a:r>
              <a:rPr lang="en-US" altLang="en-US" sz="1200" dirty="0">
                <a:ea typeface="맑은 고딕" panose="020B0503020000020004" pitchFamily="50" charset="-127"/>
              </a:rPr>
              <a:t>Request: APA and closing date, transitional distribution terms, and HQ accounting guidance.</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#10 reclassification: Dr COGS 408.0m / Cr other non-operating loss 408.0m. Gross profit and operating profit are currently overstated by KRW 0.4bn; no NI impact.</a:t>
            </a:r>
          </a:p>
          <a:p>
            <a:pPr lvl="1" algn="just">
              <a:lnSpc>
                <a:spcPct val="100000"/>
              </a:lnSpc>
            </a:pPr>
            <a:r>
              <a:rPr lang="en-US" altLang="en-US" sz="1200" dirty="0">
                <a:ea typeface="맑은 고딕" panose="020B0503020000020004" pitchFamily="50" charset="-127"/>
              </a:rPr>
              <a:t>#13 reclassification: Dr commission 230.3m, Dr miscellaneous loss 23.0m / Cr miscellaneous income 253.3m; no NI impact.</a:t>
            </a:r>
          </a:p>
          <a:p>
            <a:pPr lvl="1" algn="just">
              <a:lnSpc>
                <a:spcPct val="100000"/>
              </a:lnSpc>
            </a:pPr>
            <a:r>
              <a:rPr lang="en-US" altLang="en-US" sz="1200" dirty="0">
                <a:ea typeface="맑은 고딕" panose="020B0503020000020004" pitchFamily="50" charset="-127"/>
              </a:rPr>
              <a:t>Retained earnings: opening RE in SAP is KRW 1,132.9m lower than the audited FY2025 balance. Obtain the JE and support and correct the opening balance, or assess it as a prior-period error.</a:t>
            </a:r>
          </a:p>
          <a:p>
            <a:pPr lvl="1" algn="just">
              <a:lnSpc>
                <a:spcPct val="100000"/>
              </a:lnSpc>
            </a:pPr>
            <a:r>
              <a:rPr lang="en-US" altLang="en-US" sz="1200" dirty="0">
                <a:ea typeface="맑은 고딕" panose="020B0503020000020004" pitchFamily="50" charset="-127"/>
              </a:rPr>
              <a:t>Recommendation: reverse statutory adjustments in the same accounts as the related current-year SAP entries.</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Reversal of FY2025 Statutory Adjustments</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Of the 14 FY2025 statutory (K-GAAP) adjustments, #9 (CRU true-up KRW 2,256.9m), #10 (TP adjustment KRW 408.0m), #13 (Hanmi credit KRW 253.3m) and #14 were posted in P16 and reversed in 2026.</a:t>
            </a:r>
          </a:p>
          <a:p>
            <a:pPr lvl="1" algn="just">
              <a:lnSpc>
                <a:spcPct val="100000"/>
              </a:lnSpc>
            </a:pPr>
            <a:r>
              <a:rPr lang="en-US" altLang="en-US" sz="1200" dirty="0">
                <a:ea typeface="맑은 고딕" panose="020B0503020000020004" pitchFamily="50" charset="-127"/>
              </a:rPr>
              <a:t>#10: the FY2025 TP adjustment was recognised in COGS. The 2026 SAP actual entry was booked in other non-operating loss, but the P16 reversal credited COGS.</a:t>
            </a:r>
          </a:p>
          <a:p>
            <a:pPr lvl="1" algn="just">
              <a:lnSpc>
                <a:spcPct val="100000"/>
              </a:lnSpc>
            </a:pPr>
            <a:r>
              <a:rPr lang="en-US" altLang="en-US" sz="1200" dirty="0">
                <a:ea typeface="맑은 고딕" panose="020B0503020000020004" pitchFamily="50" charset="-127"/>
              </a:rPr>
              <a:t>#13: the Hanmi credit (incl. VAT KRW 23.0m) was recognised as FY2025 income. The 2026 SAP entry reduced commission expense (KRW 230.3m), but the reversal debited miscellaneous income.</a:t>
            </a:r>
          </a:p>
          <a:p>
            <a:pPr lvl="1" algn="just">
              <a:lnSpc>
                <a:spcPct val="100000"/>
              </a:lnSpc>
            </a:pPr>
            <a:r>
              <a:rPr lang="en-US" altLang="en-US" sz="1200" dirty="0">
                <a:ea typeface="맑은 고딕" panose="020B0503020000020004" pitchFamily="50" charset="-127"/>
              </a:rPr>
              <a:t>KRW 1,132.9m was debited directly to retained earnings (86322000) in 2026. The amount equals the FY2025 P16 income tax payable adjustment (86429307).</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Allocation error: amounts were swapped between commission (61.7m deducted vs 3,977.9m), insurance (3,977.9m vs 128.2m) and travel, so insurance expense is negative KRW 3.0bn. Reclass: Dr insurance 3,849.7m, Dr travel 66.5m / Cr commission 3,916.3m.</a:t>
            </a:r>
          </a:p>
          <a:p>
            <a:pPr lvl="1" algn="just">
              <a:lnSpc>
                <a:spcPct val="100000"/>
              </a:lnSpc>
            </a:pPr>
            <a:r>
              <a:rPr lang="en-US" altLang="en-US" sz="1200" dirty="0">
                <a:ea typeface="맑은 고딕" panose="020B0503020000020004" pitchFamily="50" charset="-127"/>
              </a:rPr>
              <a:t>Miscellaneous income in the company's FS and schedules is understated by KRW 101.2m (sign error).</a:t>
            </a:r>
          </a:p>
          <a:p>
            <a:pPr lvl="1" algn="just">
              <a:lnSpc>
                <a:spcPct val="100000"/>
              </a:lnSpc>
            </a:pPr>
            <a:r>
              <a:rPr lang="en-US" altLang="en-US" sz="1200" dirty="0">
                <a:ea typeface="맑은 고딕" panose="020B0503020000020004" pitchFamily="50" charset="-127"/>
              </a:rPr>
              <a:t>The markup (~KRW 412m) was also deducted from expenses, contrary to policy (markup retained in miscellaneous income). The VX deduction exceeds spend by KRW 22.7m.</a:t>
            </a:r>
          </a:p>
          <a:p>
            <a:pPr lvl="1" algn="just">
              <a:lnSpc>
                <a:spcPct val="100000"/>
              </a:lnSpc>
            </a:pPr>
            <a:r>
              <a:rPr lang="en-US" altLang="en-US" sz="1200" dirty="0">
                <a:ea typeface="맑은 고딕" panose="020B0503020000020004" pitchFamily="50" charset="-127"/>
              </a:rPr>
              <a:t>Unbilled CSU costs are ~KRW 7.7bn (Pharma spend 28.3bn vs billed 20.6bn). The predecessor workpapers describe a monthly CRU accrual, so assess a receivable accrual at September.</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CRU (Country Resource Unit) Rebilling</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CSU costs incurred on behalf of the group are recharged quarterly (74250001, KRW 23,051.8m for Jan–Sep). Under K-GAAP, statutory adjustment #2 reclassifies KRW 20,794.9m from miscellaneous income to reduce the related expenses.</a:t>
            </a:r>
          </a:p>
          <a:p>
            <a:pPr lvl="1" algn="just">
              <a:lnSpc>
                <a:spcPct val="100000"/>
              </a:lnSpc>
            </a:pPr>
            <a:r>
              <a:rPr lang="en-US" altLang="en-US" sz="1200" dirty="0">
                <a:ea typeface="맑은 고딕" panose="020B0503020000020004" pitchFamily="50" charset="-127"/>
              </a:rPr>
              <a:t>CSU spend for Jan–Sep was KRW 28,481.6m (Pharma 28,325.0m; VX 156.6m).</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New office lease (Centerfield):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Share-based payment (Action 2026):</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Sanofi (parent) grants SAK employees a 20% discount and free shares; the group does not recharge SAK.</a:t>
            </a:r>
          </a:p>
          <a:p>
            <a:pPr lvl="1" algn="just">
              <a:lnSpc>
                <a:spcPct val="100000"/>
              </a:lnSpc>
            </a:pPr>
            <a:r>
              <a:rPr lang="en-US" altLang="en-US" sz="1200" dirty="0">
                <a:ea typeface="맑은 고딕" panose="020B0503020000020004" pitchFamily="50" charset="-127"/>
              </a:rPr>
              <a:t>K-GAAP 19.3 and 19.A60 (Example 14): the subsidiary recognises the full compensation cost as an expense with a corresponding capital contribution from the parent (capital surplus). Not recorded by SAK.</a:t>
            </a:r>
          </a:p>
          <a:p>
            <a:pPr lvl="1" algn="just">
              <a:lnSpc>
                <a:spcPct val="100000"/>
              </a:lnSpc>
            </a:pPr>
            <a:r>
              <a:rPr lang="en-US" altLang="en-US" sz="1200" dirty="0">
                <a:ea typeface="맑은 고딕" panose="020B0503020000020004" pitchFamily="50" charset="-127"/>
              </a:rPr>
              <a:t>Estimated discount ~KRW 260.8m plus free shares (grant-date fair value), vested immediately (19.12); no reversal later (19.18). Total equity is unchanged.</a:t>
            </a:r>
          </a:p>
          <a:p>
            <a:pPr lvl="1" algn="just">
              <a:lnSpc>
                <a:spcPct val="100000"/>
              </a:lnSpc>
            </a:pPr>
            <a:r>
              <a:rPr lang="en-US" altLang="en-US" sz="1200" dirty="0">
                <a:ea typeface="맑은 고딕" panose="020B0503020000020004" pitchFamily="50" charset="-127"/>
              </a:rPr>
              <a:t>Request the Korean share of the group IFRS 2 cost. Prior rounds have not been recorded either: assess the cumulative amount and materiality.</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New Office Lease (Centerfield) and Share-based Payment (Action 2026)</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Contract dated May 29, 2026: Centerfield West 12F. Term December 16, 2026 to December 15, 2033 (84 months, non-cancellable). Monthly rent KRW 240.2m and fixed management fee KRW 60.9m, escalating by the higher of 3% or CPI.</a:t>
            </a:r>
          </a:p>
          <a:p>
            <a:pPr lvl="1" algn="just">
              <a:lnSpc>
                <a:spcPct val="100000"/>
              </a:lnSpc>
            </a:pPr>
            <a:r>
              <a:rPr lang="en-US" altLang="en-US" sz="1200" dirty="0">
                <a:ea typeface="맑은 고딕" panose="020B0503020000020004" pitchFamily="50" charset="-127"/>
              </a:rPr>
              <a:t>Deposit KRW 2,401.7m: 30% (KRW 720.5m) paid in June; the balance of KRW 1,681.2m is due December 15, 2026.</a:t>
            </a:r>
          </a:p>
          <a:p>
            <a:pPr lvl="1" algn="just">
              <a:lnSpc>
                <a:spcPct val="100000"/>
              </a:lnSpc>
            </a:pPr>
            <a:r>
              <a:rPr lang="en-US" altLang="en-US" sz="1200" dirty="0">
                <a:ea typeface="맑은 고딕" panose="020B0503020000020004" pitchFamily="50" charset="-127"/>
              </a:rPr>
              <a:t>Disclose commitments: minimum rent ~KRW 22.1bn and management fees ~KRW 5.6bn.</a:t>
            </a:r>
          </a:p>
          <a:p>
            <a:pPr lvl="1" algn="just">
              <a:lnSpc>
                <a:spcPct val="100000"/>
              </a:lnSpc>
            </a:pPr>
            <a:r>
              <a:rPr lang="en-US" altLang="en-US" sz="1200" dirty="0">
                <a:ea typeface="맑은 고딕" panose="020B0503020000020004" pitchFamily="50" charset="-127"/>
              </a:rPr>
              <a:t>Fit-out costs to be split between capital and expense. A new restoration provision is to be recognised when the fit-out is installed (2027). Rent during the fit-out period is expensed (no rent-free clause).</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Handok partner incentive:</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Other accrued expenses to be supported:</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OneCASA clinical accrual KRW 13.1bn: basis of estimate (progress, visits) and subsequent invoices.</a:t>
            </a:r>
          </a:p>
          <a:p>
            <a:pPr lvl="1" algn="just">
              <a:lnSpc>
                <a:spcPct val="100000"/>
              </a:lnSpc>
            </a:pPr>
            <a:r>
              <a:rPr lang="en-US" altLang="en-US" sz="1200" dirty="0">
                <a:ea typeface="맑은 고딕" panose="020B0503020000020004" pitchFamily="50" charset="-127"/>
              </a:rPr>
              <a:t>Non-PO accruals KRW 5.0bn: item listing and subsequent invoices.</a:t>
            </a:r>
          </a:p>
          <a:p>
            <a:pPr lvl="1" algn="just">
              <a:lnSpc>
                <a:spcPct val="100000"/>
              </a:lnSpc>
            </a:pPr>
            <a:r>
              <a:rPr lang="en-US" altLang="en-US" sz="1200" dirty="0">
                <a:ea typeface="맑은 고딕" panose="020B0503020000020004" pitchFamily="50" charset="-127"/>
              </a:rPr>
              <a:t>Vaccine opex "commitment" accrual KRW 1.27bn: exclude unperformed commitments.</a:t>
            </a:r>
          </a:p>
          <a:p>
            <a:pPr lvl="1" algn="just">
              <a:lnSpc>
                <a:spcPct val="100000"/>
              </a:lnSpc>
            </a:pPr>
            <a:r>
              <a:rPr lang="en-US" altLang="en-US" sz="1200" dirty="0">
                <a:ea typeface="맑은 고딕" panose="020B0503020000020004" pitchFamily="50" charset="-127"/>
              </a:rPr>
              <a:t>Rezurock royalty KRW 1.79bn: contract rate and calculation.</a:t>
            </a:r>
          </a:p>
          <a:p>
            <a:pPr lvl="1" algn="just">
              <a:lnSpc>
                <a:spcPct val="100000"/>
              </a:lnSpc>
            </a:pPr>
            <a:r>
              <a:rPr lang="en-US" altLang="en-US" sz="1200" dirty="0">
                <a:ea typeface="맑은 고딕" panose="020B0503020000020004" pitchFamily="50" charset="-127"/>
              </a:rPr>
              <a:t>Offset of AR with accrued incentives KRW 12.4bn: confirm the right of set-off by counterparty.</a:t>
            </a:r>
          </a:p>
          <a:p>
            <a:pPr lvl="1" algn="just">
              <a:lnSpc>
                <a:spcPct val="100000"/>
              </a:lnSpc>
            </a:pPr>
            <a:r>
              <a:rPr lang="en-US" altLang="en-US" sz="1200" dirty="0">
                <a:ea typeface="맑은 고딕" panose="020B0503020000020004" pitchFamily="50" charset="-127"/>
              </a:rPr>
              <a:t>STI KRW 3.5bn and sales incentive KRW 1.1bn: compare with prior-year actual payments.</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Partner Incentives (Handok) and Other Accrued Expenses</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Partner incentive accrual (42910852) for Handok is KRW 5.15bn: 2024/2025 incentives of KRW 2.4bn and 2026 of KRW 2.7bn.</a:t>
            </a:r>
          </a:p>
          <a:p>
            <a:pPr lvl="1" algn="just">
              <a:lnSpc>
                <a:spcPct val="100000"/>
              </a:lnSpc>
            </a:pPr>
            <a:r>
              <a:rPr lang="en-US" altLang="en-US" sz="1200" dirty="0">
                <a:ea typeface="맑은 고딕" panose="020B0503020000020004" pitchFamily="50" charset="-127"/>
              </a:rPr>
              <a:t>The 2025 settlement of KRW 557.7m was posted and reversed on the same day (March 31) because of a dispute and delayed market data. KRW 326.0m was released to revenue in March.</a:t>
            </a:r>
          </a:p>
          <a:p>
            <a:pPr lvl="1" algn="just">
              <a:lnSpc>
                <a:spcPct val="100000"/>
              </a:lnSpc>
            </a:pPr>
            <a:r>
              <a:rPr lang="en-US" altLang="en-US" sz="1200" dirty="0">
                <a:ea typeface="맑은 고딕" panose="020B0503020000020004" pitchFamily="50" charset="-127"/>
              </a:rPr>
              <a:t>Settlement is expected in October. Compare the settled amount with the accrual (subsequent event); if the release reflects over-accrual, it is a FY2025 estimate error.</a:t>
            </a:r>
          </a:p>
          <a:p>
            <a:pPr lvl="1" algn="just">
              <a:lnSpc>
                <a:spcPct val="100000"/>
              </a:lnSpc>
            </a:pPr>
            <a:r>
              <a:rPr lang="en-US" altLang="en-US" sz="1200" dirty="0">
                <a:ea typeface="맑은 고딕" panose="020B0503020000020004" pitchFamily="50" charset="-127"/>
              </a:rPr>
              <a:t>Request: details of the dispute (claims vs. amount accepted), settlement documents and the item/year breakdown.</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altLang="en-US" b="1" dirty="0">
                <a:ea typeface="맑은 고딕" panose="020B0503020000020004" pitchFamily="50" charset="-127"/>
              </a:rPr>
              <a:t>Proposed Adjustments (Reclassifications) – September 2026</a:t>
            </a:r>
          </a:p>
        </p:txBody>
      </p:sp>
      <p:graphicFrame>
        <p:nvGraphicFramePr>
          <p:cNvPr id="90" name="Table 90"/>
          <p:cNvGraphicFramePr>
            <a:graphicFrameLocks noGrp="1"/>
          </p:cNvGraphicFramePr>
          <p:nvPr/>
        </p:nvGraphicFramePr>
        <p:xfrm>
          <a:off x="301752" y="2011680"/>
          <a:ext cx="11585448" cy="3383280"/>
        </p:xfrm>
        <a:graphic>
          <a:graphicData uri="http://schemas.openxmlformats.org/drawingml/2006/table">
            <a:tbl>
              <a:tblPr firstRow="1" bandRow="1"/>
              <a:tblGrid>
                <a:gridCol w="365760"/>
                <a:gridCol w="3749040"/>
                <a:gridCol w="4754880"/>
                <a:gridCol w="1737360"/>
                <a:gridCol w="978408"/>
              </a:tblGrid>
              <a:tr h="338328">
                <a:tc>
                  <a:txBody>
                    <a:bodyPr/>
                    <a:lstStyle/>
                    <a:p>
                      <a:pPr marL="0" indent="0" algn="ctr">
                        <a:buNone/>
                      </a:pPr>
                      <a:r>
                        <a:rPr lang="en-US" altLang="en-US" sz="1050" b="1" dirty="0">
                          <a:solidFill>
                            <a:srgbClr val="FFFFFF"/>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Item</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Proposed entry</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Amount (KRW)</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NI effect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r>
              <a:tr h="338328">
                <a:tc>
                  <a:txBody>
                    <a:bodyPr/>
                    <a:lstStyle/>
                    <a:p>
                      <a:pPr marL="0" indent="0" algn="ctr">
                        <a:buNone/>
                      </a:pPr>
                      <a:r>
                        <a:rPr lang="en-US" altLang="en-US" sz="1050" dirty="0">
                          <a:solidFill>
                            <a:srgbClr val="464B4B"/>
                          </a:solidFill>
                          <a:ea typeface="맑은 고딕" panose="020B0503020000020004" pitchFamily="50" charset="-127"/>
                        </a:rPr>
                        <a:t>1</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Sanofi Pasteur Inc. vaccine import invoice (inventory)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Dr Other payables / Cr Trade payables (related party)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2,484,939,960</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r>
              <a:tr h="338328">
                <a:tc>
                  <a:txBody>
                    <a:bodyPr/>
                    <a:lstStyle/>
                    <a:p>
                      <a:pPr marL="0" indent="0" algn="ctr">
                        <a:buNone/>
                      </a:pPr>
                      <a:r>
                        <a:rPr lang="en-US" altLang="en-US" sz="1050" dirty="0">
                          <a:solidFill>
                            <a:srgbClr val="464B4B"/>
                          </a:solidFill>
                          <a:ea typeface="맑은 고딕" panose="020B0503020000020004" pitchFamily="50" charset="-127"/>
                        </a:rPr>
                        <a:t>2</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Banpo deposit refundable May 2027</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Dr Current deposits / Cr Non-current deposits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1,181,134,090</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338328">
                <a:tc>
                  <a:txBody>
                    <a:bodyPr/>
                    <a:lstStyle/>
                    <a:p>
                      <a:pPr marL="0" indent="0" algn="ctr">
                        <a:buNone/>
                      </a:pPr>
                      <a:r>
                        <a:rPr lang="en-US" altLang="en-US" sz="1050" dirty="0">
                          <a:solidFill>
                            <a:srgbClr val="464B4B"/>
                          </a:solidFill>
                          <a:ea typeface="맑은 고딕" panose="020B0503020000020004" pitchFamily="50" charset="-127"/>
                        </a:rPr>
                        <a:t>3</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Payroll system error (September)</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Dr Withholdings / Cr Advance payments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809,597,490</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r>
              <a:tr h="338328">
                <a:tc>
                  <a:txBody>
                    <a:bodyPr/>
                    <a:lstStyle/>
                    <a:p>
                      <a:pPr marL="0" indent="0" algn="ctr">
                        <a:buNone/>
                      </a:pPr>
                      <a:r>
                        <a:rPr lang="en-US" altLang="en-US" sz="1050" dirty="0">
                          <a:solidFill>
                            <a:srgbClr val="464B4B"/>
                          </a:solidFill>
                          <a:ea typeface="맑은 고딕" panose="020B0503020000020004" pitchFamily="50" charset="-127"/>
                        </a:rPr>
                        <a:t>4</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CRU rebilling allocation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Dr Insurance 3,849.7m, Dr Travel 66.5m / Cr Commission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3,916,266,299</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338328">
                <a:tc>
                  <a:txBody>
                    <a:bodyPr/>
                    <a:lstStyle/>
                    <a:p>
                      <a:pPr marL="0" indent="0" algn="ctr">
                        <a:buNone/>
                      </a:pPr>
                      <a:r>
                        <a:rPr lang="en-US" altLang="en-US" sz="1050" dirty="0">
                          <a:solidFill>
                            <a:srgbClr val="464B4B"/>
                          </a:solidFill>
                          <a:ea typeface="맑은 고딕" panose="020B0503020000020004" pitchFamily="50" charset="-127"/>
                        </a:rPr>
                        <a:t>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FY2025 TP adjustment reversal (#10)</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Dr COGS / Cr Other non-operating loss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408,043,000</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r>
              <a:tr h="338328">
                <a:tc>
                  <a:txBody>
                    <a:bodyPr/>
                    <a:lstStyle/>
                    <a:p>
                      <a:pPr marL="0" indent="0" algn="ctr">
                        <a:buNone/>
                      </a:pPr>
                      <a:r>
                        <a:rPr lang="en-US" altLang="en-US" sz="1050" dirty="0">
                          <a:solidFill>
                            <a:srgbClr val="464B4B"/>
                          </a:solidFill>
                          <a:ea typeface="맑은 고딕" panose="020B0503020000020004" pitchFamily="50" charset="-127"/>
                        </a:rPr>
                        <a:t>6</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Hanmi credit reversal (#13)</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Dr Commission 230.3m, Dr Misc. loss 23.0m / Cr Misc. income</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253,337,519</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338328">
                <a:tc>
                  <a:txBody>
                    <a:bodyPr/>
                    <a:lstStyle/>
                    <a:p>
                      <a:pPr marL="0" indent="0" algn="ctr">
                        <a:buNone/>
                      </a:pPr>
                      <a:r>
                        <a:rPr lang="en-US" altLang="en-US" sz="1050" dirty="0">
                          <a:solidFill>
                            <a:srgbClr val="464B4B"/>
                          </a:solidFill>
                          <a:ea typeface="맑은 고딕" panose="020B0503020000020004" pitchFamily="50" charset="-127"/>
                        </a:rPr>
                        <a:t>7</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IFRS 16 residual in accrued expenses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Eliminate lease liability; recalculate rent and depreciation</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333,152,298</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+50.3m</a:t>
                      </a:r>
                    </a:p>
                  </a:txBody>
                  <a:tcPr marL="54864" marR="54864" marT="27432" marB="27432" anchor="ctr">
                    <a:lnL w="0">
                      <a:noFill/>
                    </a:lnL>
                    <a:lnR w="0">
                      <a:noFill/>
                    </a:lnR>
                    <a:lnT w="6350">
                      <a:solidFill>
                        <a:srgbClr val="B1B3B3"/>
                      </a:solidFill>
                    </a:lnT>
                    <a:lnB w="6350">
                      <a:solidFill>
                        <a:srgbClr val="B1B3B3"/>
                      </a:solidFill>
                    </a:lnB>
                    <a:noFill/>
                  </a:tcPr>
                </a:tc>
              </a:tr>
              <a:tr h="338328">
                <a:tc>
                  <a:txBody>
                    <a:bodyPr/>
                    <a:lstStyle/>
                    <a:p>
                      <a:pPr marL="0" indent="0" algn="ctr">
                        <a:buNone/>
                      </a:pPr>
                      <a:r>
                        <a:rPr lang="en-US" altLang="en-US" sz="1050" dirty="0">
                          <a:solidFill>
                            <a:srgbClr val="464B4B"/>
                          </a:solidFill>
                          <a:ea typeface="맑은 고딕" panose="020B0503020000020004" pitchFamily="50" charset="-127"/>
                        </a:rPr>
                        <a:t>8</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Taxotere disposal loss – account name</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"Investment assets" → "business transfer / inventories"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1,372,357,643</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338328">
                <a:tc>
                  <a:txBody>
                    <a:bodyPr/>
                    <a:lstStyle/>
                    <a:p>
                      <a:pPr marL="0" indent="0" algn="ctr">
                        <a:buNone/>
                      </a:pPr>
                      <a:r>
                        <a:rPr lang="en-US" altLang="en-US" sz="1050" dirty="0">
                          <a:solidFill>
                            <a:srgbClr val="464B4B"/>
                          </a:solidFill>
                          <a:ea typeface="맑은 고딕" panose="020B0503020000020004" pitchFamily="50" charset="-127"/>
                        </a:rPr>
                        <a:t>9</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FX gain on TDA payments mapped to FX loss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Present FX gain and FX loss gross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~148.6m</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r>
            </a:tbl>
          </a:graphicData>
        </a:graphic>
      </p:graphicFrame>
      <p:sp>
        <p:nvSpPr>
          <p:cNvPr id="91" name="Note 91"/>
          <p:cNvSpPr txBox="1"/>
          <p:nvPr/>
        </p:nvSpPr>
        <p:spPr>
          <a:xfrm>
            <a:off x="301752" y="5669280"/>
            <a:ext cx="8778240" cy="292608"/>
          </a:xfrm>
          <a:prstGeom prst="rect">
            <a:avLst/>
          </a:prstGeom>
          <a:noFill/>
        </p:spPr>
        <p:txBody>
          <a:bodyPr wrap="square" lIns="0" tIns="0" rIns="0" bIns="0" anchor="t">
            <a:normAutofit/>
          </a:bodyPr>
          <a:lstStyle/>
          <a:p>
            <a:pPr marL="0" indent="0">
              <a:buNone/>
            </a:pPr>
            <a:r>
              <a:rPr lang="en-US" altLang="en-US" sz="900" dirty="0">
                <a:solidFill>
                  <a:srgbClr val="464B4B"/>
                </a:solidFill>
                <a:ea typeface="맑은 고딕" panose="020B0503020000020004" pitchFamily="50" charset="-127"/>
              </a:rPr>
              <a:t>Items 1–6 and 8–9 are reclassifications with no NI effect. Item 7 increases PBT by KRW 50.3m.</a:t>
            </a:r>
          </a:p>
        </p:txBody>
      </p:sp>
    </p:spTree>
    <p:extLst>
      <p:ext uri="{BB962C8B-B14F-4D97-AF65-F5344CB8AC3E}">
        <p14:creationId xmlns:p14="http://schemas.microsoft.com/office/powerpoint/2010/main" val="426986721"/>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Interim Audit Findings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altLang="en-US" b="1" dirty="0">
                <a:ea typeface="맑은 고딕" panose="020B0503020000020004" pitchFamily="50" charset="-127"/>
              </a:rPr>
              <a:t>Potential Adjustments under Evaluation</a:t>
            </a:r>
          </a:p>
        </p:txBody>
      </p:sp>
      <p:graphicFrame>
        <p:nvGraphicFramePr>
          <p:cNvPr id="90" name="Table 90"/>
          <p:cNvGraphicFramePr>
            <a:graphicFrameLocks noGrp="1"/>
          </p:cNvGraphicFramePr>
          <p:nvPr/>
        </p:nvGraphicFramePr>
        <p:xfrm>
          <a:off x="301752" y="2011680"/>
          <a:ext cx="11585448" cy="3291840"/>
        </p:xfrm>
        <a:graphic>
          <a:graphicData uri="http://schemas.openxmlformats.org/drawingml/2006/table">
            <a:tbl>
              <a:tblPr firstRow="1" bandRow="1"/>
              <a:tblGrid>
                <a:gridCol w="365760"/>
                <a:gridCol w="3383280"/>
                <a:gridCol w="2011680"/>
                <a:gridCol w="5824728"/>
              </a:tblGrid>
              <a:tr h="365760">
                <a:tc>
                  <a:txBody>
                    <a:bodyPr/>
                    <a:lstStyle/>
                    <a:p>
                      <a:pPr marL="0" indent="0" algn="ctr">
                        <a:buNone/>
                      </a:pPr>
                      <a:r>
                        <a:rPr lang="en-US" altLang="en-US" sz="1050" b="1" dirty="0">
                          <a:solidFill>
                            <a:srgbClr val="FFFFFF"/>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Item</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Potential amount (KRW)</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altLang="en-US" sz="1050" b="1" dirty="0">
                          <a:solidFill>
                            <a:srgbClr val="FFFFFF"/>
                          </a:solidFill>
                          <a:ea typeface="맑은 고딕" panose="020B0503020000020004" pitchFamily="50" charset="-127"/>
                        </a:rPr>
                        <a:t>Basis / information required</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r>
              <a:tr h="365760">
                <a:tc>
                  <a:txBody>
                    <a:bodyPr/>
                    <a:lstStyle/>
                    <a:p>
                      <a:pPr marL="0" indent="0" algn="ctr">
                        <a:buNone/>
                      </a:pPr>
                      <a:r>
                        <a:rPr lang="en-US" altLang="en-US" sz="1050" dirty="0">
                          <a:solidFill>
                            <a:srgbClr val="464B4B"/>
                          </a:solidFill>
                          <a:ea typeface="맑은 고딕" panose="020B0503020000020004" pitchFamily="50" charset="-127"/>
                        </a:rPr>
                        <a:t>1</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Dupixent RSA over-accrual</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~18bn (Sep)</a:t>
                      </a:r>
                    </a:p>
                    <a:p>
                      <a:pPr marL="0" indent="0" algn="r">
                        <a:buNone/>
                      </a:pPr>
                      <a:r>
                        <a:rPr lang="en-US" altLang="en-US" sz="1050" dirty="0">
                          <a:solidFill>
                            <a:srgbClr val="464B4B"/>
                          </a:solidFill>
                          <a:ea typeface="맑은 고딕" panose="020B0503020000020004" pitchFamily="50" charset="-127"/>
                        </a:rPr>
                        <a:t>22.6bn (FY2025)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Re-measure to NHIS notices and CAP estimate; assess PY error vs change in estimate</a:t>
                      </a:r>
                    </a:p>
                  </a:txBody>
                  <a:tcPr marL="54864" marR="54864" marT="27432" marB="27432" anchor="ctr">
                    <a:lnL w="0">
                      <a:noFill/>
                    </a:lnL>
                    <a:lnR w="0">
                      <a:noFill/>
                    </a:lnR>
                    <a:lnT w="6350">
                      <a:solidFill>
                        <a:srgbClr val="B1B3B3"/>
                      </a:solidFill>
                    </a:lnT>
                    <a:lnB w="6350">
                      <a:solidFill>
                        <a:srgbClr val="B1B3B3"/>
                      </a:solidFill>
                    </a:lnB>
                    <a:noFill/>
                  </a:tcPr>
                </a:tc>
              </a:tr>
              <a:tr h="365760">
                <a:tc>
                  <a:txBody>
                    <a:bodyPr/>
                    <a:lstStyle/>
                    <a:p>
                      <a:pPr marL="0" indent="0" algn="ctr">
                        <a:buNone/>
                      </a:pPr>
                      <a:r>
                        <a:rPr lang="en-US" altLang="en-US" sz="1050" dirty="0">
                          <a:solidFill>
                            <a:srgbClr val="464B4B"/>
                          </a:solidFill>
                          <a:ea typeface="맑은 고딕" panose="020B0503020000020004" pitchFamily="50" charset="-127"/>
                        </a:rPr>
                        <a:t>2</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VRP provision without support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up to 2.9bn</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Participant listing and agreements; reverse ended programs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365760">
                <a:tc>
                  <a:txBody>
                    <a:bodyPr/>
                    <a:lstStyle/>
                    <a:p>
                      <a:pPr marL="0" indent="0" algn="ctr">
                        <a:buNone/>
                      </a:pPr>
                      <a:r>
                        <a:rPr lang="en-US" altLang="en-US" sz="1050" dirty="0">
                          <a:solidFill>
                            <a:srgbClr val="464B4B"/>
                          </a:solidFill>
                          <a:ea typeface="맑은 고딕" panose="020B0503020000020004" pitchFamily="50" charset="-127"/>
                        </a:rPr>
                        <a:t>3</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Taxotere PPV remaining (Closing stock sold)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94.3m</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Expense to COGS</a:t>
                      </a:r>
                    </a:p>
                  </a:txBody>
                  <a:tcPr marL="54864" marR="54864" marT="27432" marB="27432" anchor="ctr">
                    <a:lnL w="0">
                      <a:noFill/>
                    </a:lnL>
                    <a:lnR w="0">
                      <a:noFill/>
                    </a:lnR>
                    <a:lnT w="6350">
                      <a:solidFill>
                        <a:srgbClr val="B1B3B3"/>
                      </a:solidFill>
                    </a:lnT>
                    <a:lnB w="6350">
                      <a:solidFill>
                        <a:srgbClr val="B1B3B3"/>
                      </a:solidFill>
                    </a:lnB>
                    <a:noFill/>
                  </a:tcPr>
                </a:tc>
              </a:tr>
              <a:tr h="365760">
                <a:tc>
                  <a:txBody>
                    <a:bodyPr/>
                    <a:lstStyle/>
                    <a:p>
                      <a:pPr marL="0" indent="0" algn="ctr">
                        <a:buNone/>
                      </a:pPr>
                      <a:r>
                        <a:rPr lang="en-US" altLang="en-US" sz="1050" dirty="0">
                          <a:solidFill>
                            <a:srgbClr val="464B4B"/>
                          </a:solidFill>
                          <a:ea typeface="맑은 고딕" panose="020B0503020000020004" pitchFamily="50" charset="-127"/>
                        </a:rPr>
                        <a:t>4</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Taxotere TDA true-up credit (92% of NS)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367.6m</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Group confirmation of central settlement and allocation to SAK</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365760">
                <a:tc>
                  <a:txBody>
                    <a:bodyPr/>
                    <a:lstStyle/>
                    <a:p>
                      <a:pPr marL="0" indent="0" algn="ctr">
                        <a:buNone/>
                      </a:pPr>
                      <a:r>
                        <a:rPr lang="en-US" altLang="en-US" sz="1050" dirty="0">
                          <a:solidFill>
                            <a:srgbClr val="464B4B"/>
                          </a:solidFill>
                          <a:ea typeface="맑은 고딕" panose="020B0503020000020004" pitchFamily="50" charset="-127"/>
                        </a:rPr>
                        <a:t>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Caprelsa settlement with buyer</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up to ~383m</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APA / closing date and transitional terms</a:t>
                      </a:r>
                    </a:p>
                  </a:txBody>
                  <a:tcPr marL="54864" marR="54864" marT="27432" marB="27432" anchor="ctr">
                    <a:lnL w="0">
                      <a:noFill/>
                    </a:lnL>
                    <a:lnR w="0">
                      <a:noFill/>
                    </a:lnR>
                    <a:lnT w="6350">
                      <a:solidFill>
                        <a:srgbClr val="B1B3B3"/>
                      </a:solidFill>
                    </a:lnT>
                    <a:lnB w="6350">
                      <a:solidFill>
                        <a:srgbClr val="B1B3B3"/>
                      </a:solidFill>
                    </a:lnB>
                    <a:noFill/>
                  </a:tcPr>
                </a:tc>
              </a:tr>
              <a:tr h="365760">
                <a:tc>
                  <a:txBody>
                    <a:bodyPr/>
                    <a:lstStyle/>
                    <a:p>
                      <a:pPr marL="0" indent="0" algn="ctr">
                        <a:buNone/>
                      </a:pPr>
                      <a:r>
                        <a:rPr lang="en-US" altLang="en-US" sz="1050" dirty="0">
                          <a:solidFill>
                            <a:srgbClr val="464B4B"/>
                          </a:solidFill>
                          <a:ea typeface="맑은 고딕" panose="020B0503020000020004" pitchFamily="50" charset="-127"/>
                        </a:rPr>
                        <a:t>6</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Share-based payment (Action 2026)</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~261m + free shares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Group IFRS 2 cost for Korea; Dr expense / Cr capital surplus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r h="365760">
                <a:tc>
                  <a:txBody>
                    <a:bodyPr/>
                    <a:lstStyle/>
                    <a:p>
                      <a:pPr marL="0" indent="0" algn="ctr">
                        <a:buNone/>
                      </a:pPr>
                      <a:r>
                        <a:rPr lang="en-US" altLang="en-US" sz="1050" dirty="0">
                          <a:solidFill>
                            <a:srgbClr val="464B4B"/>
                          </a:solidFill>
                          <a:ea typeface="맑은 고딕" panose="020B0503020000020004" pitchFamily="50" charset="-127"/>
                        </a:rPr>
                        <a:t>7</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Unbilled CSU costs (CRU receivable)</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r">
                        <a:buNone/>
                      </a:pPr>
                      <a:r>
                        <a:rPr lang="en-US" altLang="en-US" sz="1050" dirty="0">
                          <a:solidFill>
                            <a:srgbClr val="464B4B"/>
                          </a:solidFill>
                          <a:ea typeface="맑은 고딕" panose="020B0503020000020004" pitchFamily="50" charset="-127"/>
                        </a:rPr>
                        <a:t>~7.7bn (gross)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en-US" sz="1050" dirty="0">
                          <a:solidFill>
                            <a:srgbClr val="464B4B"/>
                          </a:solidFill>
                          <a:ea typeface="맑은 고딕" panose="020B0503020000020004" pitchFamily="50" charset="-127"/>
                        </a:rPr>
                        <a:t>Contract terms and Q4 settlement; accrual method</a:t>
                      </a:r>
                    </a:p>
                  </a:txBody>
                  <a:tcPr marL="54864" marR="54864" marT="27432" marB="27432" anchor="ctr">
                    <a:lnL w="0">
                      <a:noFill/>
                    </a:lnL>
                    <a:lnR w="0">
                      <a:noFill/>
                    </a:lnR>
                    <a:lnT w="6350">
                      <a:solidFill>
                        <a:srgbClr val="B1B3B3"/>
                      </a:solidFill>
                    </a:lnT>
                    <a:lnB w="6350">
                      <a:solidFill>
                        <a:srgbClr val="B1B3B3"/>
                      </a:solidFill>
                    </a:lnB>
                    <a:noFill/>
                  </a:tcPr>
                </a:tc>
              </a:tr>
              <a:tr h="365760">
                <a:tc>
                  <a:txBody>
                    <a:bodyPr/>
                    <a:lstStyle/>
                    <a:p>
                      <a:pPr marL="0" indent="0" algn="ctr">
                        <a:buNone/>
                      </a:pPr>
                      <a:r>
                        <a:rPr lang="en-US" altLang="en-US" sz="1050" dirty="0">
                          <a:solidFill>
                            <a:srgbClr val="464B4B"/>
                          </a:solidFill>
                          <a:ea typeface="맑은 고딕" panose="020B0503020000020004" pitchFamily="50" charset="-127"/>
                        </a:rPr>
                        <a:t>8</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Retained earnings direct debit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en-US" altLang="en-US" sz="1050" dirty="0">
                          <a:solidFill>
                            <a:srgbClr val="464B4B"/>
                          </a:solidFill>
                          <a:ea typeface="맑은 고딕" panose="020B0503020000020004" pitchFamily="50" charset="-127"/>
                        </a:rPr>
                        <a:t>1,132.9m</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en-US" sz="1050" dirty="0">
                          <a:solidFill>
                            <a:srgbClr val="464B4B"/>
                          </a:solidFill>
                          <a:ea typeface="맑은 고딕" panose="020B0503020000020004" pitchFamily="50" charset="-127"/>
                        </a:rPr>
                        <a:t>JE and support; correct opening balance</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r>
            </a:tbl>
          </a:graphicData>
        </a:graphic>
      </p:graphicFrame>
      <p:sp>
        <p:nvSpPr>
          <p:cNvPr id="91" name="Note 91"/>
          <p:cNvSpPr txBox="1"/>
          <p:nvPr/>
        </p:nvSpPr>
        <p:spPr>
          <a:xfrm>
            <a:off x="301752" y="5669280"/>
            <a:ext cx="8778240" cy="292608"/>
          </a:xfrm>
          <a:prstGeom prst="rect">
            <a:avLst/>
          </a:prstGeom>
          <a:noFill/>
        </p:spPr>
        <p:txBody>
          <a:bodyPr wrap="square" lIns="0" tIns="0" rIns="0" bIns="0" anchor="t">
            <a:normAutofit/>
          </a:bodyPr>
          <a:lstStyle/>
          <a:p>
            <a:pPr marL="0" indent="0">
              <a:buNone/>
            </a:pPr>
            <a:r>
              <a:rPr lang="en-US" altLang="en-US" sz="900" dirty="0">
                <a:solidFill>
                  <a:srgbClr val="464B4B"/>
                </a:solidFill>
                <a:ea typeface="맑은 고딕" panose="020B0503020000020004" pitchFamily="50" charset="-127"/>
              </a:rPr>
              <a:t>Materiality: PM KRW 5.17bn, CTM KRW 194m.</a:t>
            </a:r>
          </a:p>
        </p:txBody>
      </p:sp>
    </p:spTree>
    <p:extLst>
      <p:ext uri="{BB962C8B-B14F-4D97-AF65-F5344CB8AC3E}">
        <p14:creationId xmlns:p14="http://schemas.microsoft.com/office/powerpoint/2010/main" val="426986721"/>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altLang="en-US" dirty="0">
                <a:ea typeface="맑은 고딕" panose="020B0503020000020004" pitchFamily="50" charset="-127"/>
              </a:rPr>
              <a:t>Pending Items &amp; Year-end Audit Preparation</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en-US" altLang="en-US" dirty="0">
                <a:ea typeface="맑은 고딕" panose="020B0503020000020004" pitchFamily="50" charset="-127"/>
              </a:rPr>
              <a:t>05</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altLang="en-US" dirty="0">
                <a:ea typeface="맑은 고딕" panose="020B0503020000020004"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altLang="en-US" dirty="0">
                <a:ea typeface="맑은 고딕" panose="020B0503020000020004" pitchFamily="50" charset="-127"/>
              </a:rPr>
              <a:t>Pending Items &amp; Year-end Audit Preparation</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altLang="en-US" dirty="0">
                <a:ea typeface="맑은 고딕" panose="020B0503020000020004" pitchFamily="50" charset="-127"/>
              </a:rPr>
              <a:t>Pending items (requested from the company):</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altLang="en-US" dirty="0">
                <a:ea typeface="맑은 고딕" panose="020B0503020000020004" pitchFamily="50" charset="-127"/>
              </a:rPr>
              <a:t>Year-end audit preparation:</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gn="just">
              <a:lnSpc>
                <a:spcPct val="100000"/>
              </a:lnSpc>
            </a:pPr>
            <a:r>
              <a:rPr lang="en-US" altLang="en-US" sz="1200" dirty="0">
                <a:ea typeface="맑은 고딕" panose="020B0503020000020004" pitchFamily="50" charset="-127"/>
              </a:rPr>
              <a:t>Bank and legal confirmations – early January (reflect the change of main bank; review guarantees, including the KRW 47bn bank guarantee for NHIS)</a:t>
            </a:r>
          </a:p>
          <a:p>
            <a:pPr lvl="1" algn="just">
              <a:lnSpc>
                <a:spcPct val="100000"/>
              </a:lnSpc>
            </a:pPr>
            <a:r>
              <a:rPr lang="en-US" altLang="en-US" sz="1200" dirty="0">
                <a:ea typeface="맑은 고딕" panose="020B0503020000020004" pitchFamily="50" charset="-127"/>
              </a:rPr>
              <a:t>AR/AP confirmations – early January (detailed listings to be prepared for sampling)</a:t>
            </a:r>
          </a:p>
          <a:p>
            <a:pPr lvl="1" algn="just">
              <a:lnSpc>
                <a:spcPct val="100000"/>
              </a:lnSpc>
            </a:pPr>
            <a:r>
              <a:rPr lang="en-US" altLang="en-US" sz="1200" dirty="0">
                <a:ea typeface="맑은 고딕" panose="020B0503020000020004" pitchFamily="50" charset="-127"/>
              </a:rPr>
              <a:t>Year-end inventory count – December (including returned, expired and divested-product stock)</a:t>
            </a:r>
          </a:p>
          <a:p>
            <a:pPr lvl="1" algn="just">
              <a:lnSpc>
                <a:spcPct val="100000"/>
              </a:lnSpc>
            </a:pPr>
            <a:r>
              <a:rPr lang="en-US" altLang="en-US" sz="1200" dirty="0">
                <a:ea typeface="맑은 고딕" panose="020B0503020000020004" pitchFamily="50" charset="-127"/>
              </a:rPr>
              <a:t>Re-measurement of the RSA, VRP and restoration provisions at year-end</a:t>
            </a:r>
          </a:p>
          <a:p>
            <a:pPr lvl="1" algn="just">
              <a:lnSpc>
                <a:spcPct val="100000"/>
              </a:lnSpc>
            </a:pPr>
            <a:r>
              <a:rPr lang="en-US" altLang="en-US" sz="1200" dirty="0">
                <a:ea typeface="맑은 고딕" panose="020B0503020000020004" pitchFamily="50" charset="-127"/>
              </a:rPr>
              <a:t>Centerfield lease commitments note and fit-out cost split</a:t>
            </a:r>
          </a:p>
          <a:p>
            <a:pPr lvl="1" algn="just">
              <a:lnSpc>
                <a:spcPct val="100000"/>
              </a:lnSpc>
            </a:pPr>
            <a:r>
              <a:rPr lang="en-US" altLang="en-US" sz="1200" dirty="0">
                <a:ea typeface="맑은 고딕" panose="020B0503020000020004" pitchFamily="50" charset="-127"/>
              </a:rPr>
              <a:t>Financial statements and notes – before the year-end fieldwork (February 2027)</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altLang="en-US" b="1" dirty="0">
                <a:ea typeface="맑은 고딕" panose="020B0503020000020004" pitchFamily="50" charset="-127"/>
              </a:rPr>
              <a:t>Status as of October 23, 2026</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gn="just">
              <a:lnSpc>
                <a:spcPct val="100000"/>
              </a:lnSpc>
            </a:pPr>
            <a:r>
              <a:rPr lang="en-US" altLang="en-US" sz="1200" dirty="0">
                <a:ea typeface="맑은 고딕" panose="020B0503020000020004" pitchFamily="50" charset="-127"/>
              </a:rPr>
              <a:t>Taxotere: group confirmation of the TDA true-up and recharge; October transfer invoice and quantities; MA transfer evidence</a:t>
            </a:r>
          </a:p>
          <a:p>
            <a:pPr lvl="1" algn="just">
              <a:lnSpc>
                <a:spcPct val="100000"/>
              </a:lnSpc>
            </a:pPr>
            <a:r>
              <a:rPr lang="en-US" altLang="en-US" sz="1200" dirty="0">
                <a:ea typeface="맑은 고딕" panose="020B0503020000020004" pitchFamily="50" charset="-127"/>
              </a:rPr>
              <a:t>Dupixent RSA: calculation files, NHIS notices, cumulative claims and CAP estimate</a:t>
            </a:r>
          </a:p>
          <a:p>
            <a:pPr lvl="1" algn="just">
              <a:lnSpc>
                <a:spcPct val="100000"/>
              </a:lnSpc>
            </a:pPr>
            <a:r>
              <a:rPr lang="en-US" altLang="en-US" sz="1200" dirty="0">
                <a:ea typeface="맑은 고딕" panose="020B0503020000020004" pitchFamily="50" charset="-127"/>
              </a:rPr>
              <a:t>VRP: participant listing and agreements for the '25 Drive 2 balance and the 2026 programs</a:t>
            </a:r>
          </a:p>
          <a:p>
            <a:pPr lvl="1" algn="just">
              <a:lnSpc>
                <a:spcPct val="100000"/>
              </a:lnSpc>
            </a:pPr>
            <a:r>
              <a:rPr lang="en-US" altLang="en-US" sz="1200" dirty="0">
                <a:ea typeface="맑은 고딕" panose="020B0503020000020004" pitchFamily="50" charset="-127"/>
              </a:rPr>
              <a:t>Caprelsa: APA, closing date and transitional terms; HQ guidance</a:t>
            </a:r>
          </a:p>
          <a:p>
            <a:pPr lvl="1" algn="just">
              <a:lnSpc>
                <a:spcPct val="100000"/>
              </a:lnSpc>
            </a:pPr>
            <a:r>
              <a:rPr lang="en-US" altLang="en-US" sz="1200" dirty="0">
                <a:ea typeface="맑은 고딕" panose="020B0503020000020004" pitchFamily="50" charset="-127"/>
              </a:rPr>
              <a:t>Statutory adjustments: support for the retained earnings debit (KRW 1,132.9m)</a:t>
            </a:r>
          </a:p>
          <a:p>
            <a:pPr lvl="1" algn="just">
              <a:lnSpc>
                <a:spcPct val="100000"/>
              </a:lnSpc>
            </a:pPr>
            <a:r>
              <a:rPr lang="en-US" altLang="en-US" sz="1200" dirty="0">
                <a:ea typeface="맑은 고딕" panose="020B0503020000020004" pitchFamily="50" charset="-127"/>
              </a:rPr>
              <a:t>Handok incentive settlement (October); Action 2026 IFRS 2 cost for Korea</a:t>
            </a:r>
          </a:p>
          <a:p>
            <a:pPr lvl="1" algn="just">
              <a:lnSpc>
                <a:spcPct val="100000"/>
              </a:lnSpc>
            </a:pPr>
            <a:r>
              <a:rPr lang="en-US" altLang="en-US" sz="1200" dirty="0">
                <a:ea typeface="맑은 고딕" panose="020B0503020000020004" pitchFamily="50" charset="-127"/>
              </a:rPr>
              <a:t>Banpo lease extension (signed) and restoration settlement estimate; customs audit result</a:t>
            </a:r>
          </a:p>
          <a:p>
            <a:pPr lvl="1" algn="just">
              <a:lnSpc>
                <a:spcPct val="100000"/>
              </a:lnSpc>
            </a:pPr>
            <a:r>
              <a:rPr lang="en-US" altLang="en-US" sz="1200" dirty="0">
                <a:ea typeface="맑은 고딕" panose="020B0503020000020004" pitchFamily="50" charset="-127"/>
              </a:rPr>
              <a:t>Capital surplus support requested by the group (FY2019 Genzyme Korea merger, K-GAAP Chapter 32)</a:t>
            </a:r>
          </a:p>
        </p:txBody>
      </p:sp>
    </p:spTree>
    <p:extLst>
      <p:ext uri="{BB962C8B-B14F-4D97-AF65-F5344CB8AC3E}">
        <p14:creationId xmlns:p14="http://schemas.microsoft.com/office/powerpoint/2010/main" val="614940156"/>
      </p:ext>
    </p:extLst>
  </p:cSld>
  <p:clrMapOvr>
    <a:masterClrMapping/>
  </p:clrMapOvr>
  <p:transition>
    <p:fade/>
  </p:transition>
</p:sld>
</file>

<file path=ppt/theme/theme1.xml><?xml version="1.0" encoding="utf-8"?>
<a:theme xmlns:a="http://schemas.openxmlformats.org/drawingml/2006/main" name="Office 테마">
  <a:themeElements>
    <a:clrScheme name="Forvis_Mazars">
      <a:dk1>
        <a:srgbClr val="464B4B"/>
      </a:dk1>
      <a:lt1>
        <a:srgbClr val="FFFFFF"/>
      </a:lt1>
      <a:dk2>
        <a:srgbClr val="0072CE"/>
      </a:dk2>
      <a:lt2>
        <a:srgbClr val="F4F4F4"/>
      </a:lt2>
      <a:accent1>
        <a:srgbClr val="0072CE"/>
      </a:accent1>
      <a:accent2>
        <a:srgbClr val="4AA7B7"/>
      </a:accent2>
      <a:accent3>
        <a:srgbClr val="171C8F"/>
      </a:accent3>
      <a:accent4>
        <a:srgbClr val="27B093"/>
      </a:accent4>
      <a:accent5>
        <a:srgbClr val="B1B3B3"/>
      </a:accent5>
      <a:accent6>
        <a:srgbClr val="5D93CD"/>
      </a:accent6>
      <a:hlink>
        <a:srgbClr val="5D93CD"/>
      </a:hlink>
      <a:folHlink>
        <a:srgbClr val="84ADD8"/>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rvis Mazars_PPT Template_UK English.potx" id="{6D392853-B240-4CF1-B1E1-5559495C50FB}" vid="{2DE677F1-7F75-4A9D-B31D-2D526B3DAE9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0D6FC144151734F9C09BAEAD681CF33" ma:contentTypeVersion="14" ma:contentTypeDescription="Crée un document." ma:contentTypeScope="" ma:versionID="b9348d5c7bbb5715e1290f92a42e35d3">
  <xsd:schema xmlns:xsd="http://www.w3.org/2001/XMLSchema" xmlns:xs="http://www.w3.org/2001/XMLSchema" xmlns:p="http://schemas.microsoft.com/office/2006/metadata/properties" xmlns:ns2="6d13eecd-2e28-48af-b09a-eabd145800b6" xmlns:ns3="7704eb4b-7b49-41f0-8d03-7eb2706c8b88" targetNamespace="http://schemas.microsoft.com/office/2006/metadata/properties" ma:root="true" ma:fieldsID="ff07f6dce96a60f65dbd9b9356491132" ns2:_="" ns3:_="">
    <xsd:import namespace="6d13eecd-2e28-48af-b09a-eabd145800b6"/>
    <xsd:import namespace="7704eb4b-7b49-41f0-8d03-7eb2706c8b8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13eecd-2e28-48af-b09a-eabd145800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4ae0aa21-f092-4d7c-8480-48d435008a8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704eb4b-7b49-41f0-8d03-7eb2706c8b8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6d6f2df-ddfc-49eb-966c-b6e2e2089bda}" ma:internalName="TaxCatchAll" ma:showField="CatchAllData" ma:web="7704eb4b-7b49-41f0-8d03-7eb2706c8b88">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6d13eecd-2e28-48af-b09a-eabd145800b6">
      <Terms xmlns="http://schemas.microsoft.com/office/infopath/2007/PartnerControls"/>
    </lcf76f155ced4ddcb4097134ff3c332f>
    <TaxCatchAll xmlns="7704eb4b-7b49-41f0-8d03-7eb2706c8b88"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EFA218E-6FCD-4D4D-BFE1-A86DC6AF18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13eecd-2e28-48af-b09a-eabd145800b6"/>
    <ds:schemaRef ds:uri="7704eb4b-7b49-41f0-8d03-7eb2706c8b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E82A6A5-3555-4A44-A5D6-9A2B831D9C99}">
  <ds:schemaRefs>
    <ds:schemaRef ds:uri="http://schemas.microsoft.com/office/2006/metadata/properties"/>
    <ds:schemaRef ds:uri="http://purl.org/dc/dcmitype/"/>
    <ds:schemaRef ds:uri="http://schemas.microsoft.com/office/2006/documentManagement/types"/>
    <ds:schemaRef ds:uri="7704eb4b-7b49-41f0-8d03-7eb2706c8b88"/>
    <ds:schemaRef ds:uri="http://purl.org/dc/elements/1.1/"/>
    <ds:schemaRef ds:uri="http://schemas.microsoft.com/office/infopath/2007/PartnerControls"/>
    <ds:schemaRef ds:uri="http://www.w3.org/XML/1998/namespace"/>
    <ds:schemaRef ds:uri="6d13eecd-2e28-48af-b09a-eabd145800b6"/>
    <ds:schemaRef ds:uri="http://schemas.openxmlformats.org/package/2006/metadata/core-properties"/>
    <ds:schemaRef ds:uri="http://purl.org/dc/terms/"/>
  </ds:schemaRefs>
</ds:datastoreItem>
</file>

<file path=customXml/itemProps3.xml><?xml version="1.0" encoding="utf-8"?>
<ds:datastoreItem xmlns:ds="http://schemas.openxmlformats.org/officeDocument/2006/customXml" ds:itemID="{9C01069B-F8A4-4E57-8EF1-B6D8C1D287CA}">
  <ds:schemaRefs>
    <ds:schemaRef ds:uri="http://schemas.microsoft.com/sharepoint/v3/contenttype/forms"/>
  </ds:schemaRefs>
</ds:datastoreItem>
</file>

<file path=docMetadata/LabelInfo.xml><?xml version="1.0" encoding="utf-8"?>
<clbl:labelList xmlns:clbl="http://schemas.microsoft.com/office/2020/mipLabelMetadata">
  <clbl:label id="{b9e9ed43-edf4-4755-925b-76f18f50dbe7}" enabled="0" method="" siteId="{b9e9ed43-edf4-4755-925b-76f18f50dbe7}" removed="1"/>
</clbl:labelList>
</file>

<file path=docProps/app.xml><?xml version="1.0" encoding="utf-8"?>
<Properties xmlns="http://schemas.openxmlformats.org/officeDocument/2006/extended-properties" xmlns:vt="http://schemas.openxmlformats.org/officeDocument/2006/docPropsVTypes">
  <Template>Forvis Mazars_PPT Template_UK English</Template>
  <TotalTime>1127</TotalTime>
  <Words>1347</Words>
  <Application>Microsoft Office PowerPoint</Application>
  <PresentationFormat>와이드스크린</PresentationFormat>
  <Paragraphs>113</Paragraphs>
  <Slides>13</Slides>
  <Notes>2</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13</vt:i4>
      </vt:variant>
    </vt:vector>
  </HeadingPairs>
  <TitlesOfParts>
    <vt:vector size="20" baseType="lpstr">
      <vt:lpstr>넥슨Lv2고딕 OTF</vt:lpstr>
      <vt:lpstr>Malgun Gothic</vt:lpstr>
      <vt:lpstr>Malgun Gothic</vt:lpstr>
      <vt:lpstr>Aptos</vt:lpstr>
      <vt:lpstr>Arial</vt:lpstr>
      <vt:lpstr>Calibri</vt:lpstr>
      <vt:lpstr>Office 테마</vt:lpstr>
      <vt:lpstr>Sanofi Aventis Korea</vt:lpstr>
      <vt:lpstr>Agenda</vt:lpstr>
      <vt:lpstr>Audit Schedule</vt:lpstr>
      <vt:lpstr>Sanofi-Aventis Korea</vt:lpstr>
      <vt:lpstr>Follow-up of Interim Audit Findings</vt:lpstr>
      <vt:lpstr>Sanofi-Aventis Korea</vt:lpstr>
      <vt:lpstr>Sanofi-Aventis Korea</vt:lpstr>
      <vt:lpstr>Sanofi-Aventis Korea</vt:lpstr>
      <vt:lpstr>Sanofi-Aventis Korea</vt:lpstr>
      <vt:lpstr>Year-end Audit Findings</vt:lpstr>
      <vt:lpstr>Sanofi-Aventis Korea</vt:lpstr>
      <vt:lpstr>Pending Items</vt:lpstr>
      <vt:lpstr>Sanofi-Aventis Korea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Se-Hoon Han</dc:creator>
  <cp:lastModifiedBy>Se-Hoon Han</cp:lastModifiedBy>
  <cp:revision>7</cp:revision>
  <dcterms:created xsi:type="dcterms:W3CDTF">2025-10-15T06:15:58Z</dcterms:created>
  <dcterms:modified xsi:type="dcterms:W3CDTF">2026-02-13T05:39:21Z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0x01010070D6FC144151734F9C09BAEAD681CF33</vt:lpwstr>
  </property>
  <property fmtid="{D5CDD505-2E9C-101B-9397-08002B2CF9AE}" pid="3" name="MediaServiceImageTags">
    <vt:lpwstr/>
  </property>
</Properties>
</file>