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27" r:id="rId5"/>
    <p:sldId id="428" r:id="rId6"/>
    <p:sldId id="429" r:id="rId7"/>
    <p:sldId id="430" r:id="rId8"/>
    <p:sldId id="431" r:id="rId9"/>
    <p:sldId id="432" r:id="rId10"/>
    <p:sldId id="434" r:id="rId11"/>
    <p:sldId id="436" r:id="rId12"/>
    <p:sldId id="437" r:id="rId13"/>
    <p:sldId id="438" r:id="rId14"/>
    <p:sldId id="439" r:id="rId15"/>
    <p:sldId id="441" r:id="rId16"/>
    <p:sldId id="444" r:id="rId17"/>
    <p:sldId id="447" r:id="rId18"/>
    <p:sldId id="451" r:id="rId19"/>
    <p:sldId id="45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AC6ADA-467B-468C-B32B-BA7DFA751EC3}" v="3" dt="2026-10-27T01:31:33.8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6410" autoAdjust="0"/>
  </p:normalViewPr>
  <p:slideViewPr>
    <p:cSldViewPr snapToGrid="0" showGuides="1">
      <p:cViewPr varScale="1">
        <p:scale>
          <a:sx n="107" d="100"/>
          <a:sy n="107" d="100"/>
        </p:scale>
        <p:origin x="1194" y="10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-Hoon Han" userId="70263205-781f-48f0-a54e-469ab1d08896" providerId="ADAL" clId="{99A44C34-6DB4-4D28-A878-85AFF787F6DF}"/>
    <pc:docChg chg="undo custSel addSld delSld modSld">
      <pc:chgData name="Se-Hoon Han" userId="70263205-781f-48f0-a54e-469ab1d08896" providerId="ADAL" clId="{99A44C34-6DB4-4D28-A878-85AFF787F6DF}" dt="2026-10-27T05:07:27.354" v="9355" actId="20577"/>
      <pc:docMkLst>
        <pc:docMk/>
      </pc:docMkLst>
      <pc:sldChg chg="modSp mod">
        <pc:chgData name="Se-Hoon Han" userId="70263205-781f-48f0-a54e-469ab1d08896" providerId="ADAL" clId="{99A44C34-6DB4-4D28-A878-85AFF787F6DF}" dt="2026-10-23T07:28:21.602" v="4647" actId="2711"/>
        <pc:sldMkLst>
          <pc:docMk/>
          <pc:sldMk cId="3355258635" sldId="427"/>
        </pc:sldMkLst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2" creationId="{E094CE10-79AD-26BA-41DC-8049F38D70F1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3" creationId="{76F68C1A-150F-D860-04D8-67EBFC0925E7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4" creationId="{1A097BCA-DBD1-222E-9951-4B522670D864}"/>
          </ac:spMkLst>
        </pc:spChg>
      </pc:sldChg>
      <pc:sldChg chg="modSp mod">
        <pc:chgData name="Se-Hoon Han" userId="70263205-781f-48f0-a54e-469ab1d08896" providerId="ADAL" clId="{99A44C34-6DB4-4D28-A878-85AFF787F6DF}" dt="2026-10-23T07:28:29.833" v="4648" actId="2711"/>
        <pc:sldMkLst>
          <pc:docMk/>
          <pc:sldMk cId="2031370532" sldId="428"/>
        </pc:sldMkLst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4" creationId="{9BC76F8E-415A-FAB6-D611-26F88E3E40ED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5" creationId="{286A64C6-FD9B-6620-ACC1-98F12B3352A4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10" creationId="{4ECEA13A-71B7-C5DE-BF90-4B7FA22FA80A}"/>
          </ac:spMkLst>
        </pc:spChg>
      </pc:sldChg>
      <pc:sldChg chg="modSp mod">
        <pc:chgData name="Se-Hoon Han" userId="70263205-781f-48f0-a54e-469ab1d08896" providerId="ADAL" clId="{99A44C34-6DB4-4D28-A878-85AFF787F6DF}" dt="2026-10-23T07:28:39.908" v="4649" actId="2711"/>
        <pc:sldMkLst>
          <pc:docMk/>
          <pc:sldMk cId="488768465" sldId="429"/>
        </pc:sldMkLst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3T07:55:37.857" v="6069" actId="113"/>
        <pc:sldMkLst>
          <pc:docMk/>
          <pc:sldMk cId="3552158108" sldId="430"/>
        </pc:sldMkLst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5" creationId="{30FF76B2-23BB-F23D-5A03-1AB5147D2B8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6" creationId="{578F4448-CE93-81F2-77BC-2E76CBA5C5B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7" creationId="{76C6D597-8D20-5D51-9532-4BD1D7F7C529}"/>
          </ac:spMkLst>
        </pc:spChg>
        <pc:spChg chg="mod">
          <ac:chgData name="Se-Hoon Han" userId="70263205-781f-48f0-a54e-469ab1d08896" providerId="ADAL" clId="{99A44C34-6DB4-4D28-A878-85AFF787F6DF}" dt="2026-10-23T07:55:37.857" v="6069" actId="113"/>
          <ac:spMkLst>
            <pc:docMk/>
            <pc:sldMk cId="3552158108" sldId="430"/>
            <ac:spMk id="18" creationId="{F9497090-6619-6BCF-D6F5-AAC98A6DDE24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9" creationId="{8788F2E1-0703-8FE7-AD3B-7777CB634C62}"/>
          </ac:spMkLst>
        </pc:spChg>
        <pc:spChg chg="mod">
          <ac:chgData name="Se-Hoon Han" userId="70263205-781f-48f0-a54e-469ab1d08896" providerId="ADAL" clId="{99A44C34-6DB4-4D28-A878-85AFF787F6DF}" dt="2026-10-23T07:28:55.576" v="4652" actId="403"/>
          <ac:spMkLst>
            <pc:docMk/>
            <pc:sldMk cId="3552158108" sldId="430"/>
            <ac:spMk id="20" creationId="{40F7342D-7B38-E4F7-FB0E-601171281FC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1" creationId="{16FF46CB-4837-4BAE-A586-05760A65B7EE}"/>
          </ac:spMkLst>
        </pc:spChg>
        <pc:spChg chg="mod">
          <ac:chgData name="Se-Hoon Han" userId="70263205-781f-48f0-a54e-469ab1d08896" providerId="ADAL" clId="{99A44C34-6DB4-4D28-A878-85AFF787F6DF}" dt="2026-10-23T07:28:57.988" v="4653" actId="403"/>
          <ac:spMkLst>
            <pc:docMk/>
            <pc:sldMk cId="3552158108" sldId="430"/>
            <ac:spMk id="22" creationId="{92381973-E2E0-8BF5-80DC-B909AA1C9B6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3" creationId="{7CE08BE2-C19B-446C-6396-B9980B9285CC}"/>
          </ac:spMkLst>
        </pc:spChg>
      </pc:sldChg>
      <pc:sldChg chg="modSp mod">
        <pc:chgData name="Se-Hoon Han" userId="70263205-781f-48f0-a54e-469ab1d08896" providerId="ADAL" clId="{99A44C34-6DB4-4D28-A878-85AFF787F6DF}" dt="2026-10-23T07:29:05.465" v="4654" actId="2711"/>
        <pc:sldMkLst>
          <pc:docMk/>
          <pc:sldMk cId="488768465" sldId="431"/>
        </pc:sldMkLst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7T05:07:09.970" v="9316" actId="5793"/>
        <pc:sldMkLst>
          <pc:docMk/>
          <pc:sldMk cId="426986721" sldId="432"/>
        </pc:sldMkLst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2" creationId="{76177376-9F2C-7B83-B3A4-46E2A58E3F3E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3" creationId="{51FE68D4-DD01-DF6C-0EAA-B9859C5F3EA9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0" creationId="{ED207A9C-6D3C-3B5C-37B9-66BA4C43FD8B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1" creationId="{14A40072-9CD5-749A-912B-BED81473E8DD}"/>
          </ac:spMkLst>
        </pc:spChg>
        <pc:graphicFrameChg chg="mod modGraphic">
          <ac:chgData name="Se-Hoon Han" userId="70263205-781f-48f0-a54e-469ab1d08896" providerId="ADAL" clId="{99A44C34-6DB4-4D28-A878-85AFF787F6DF}" dt="2026-10-27T05:07:09.970" v="9316" actId="5793"/>
          <ac:graphicFrameMkLst>
            <pc:docMk/>
            <pc:sldMk cId="426986721" sldId="432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7:29:36.866" v="4657" actId="2711"/>
        <pc:sldMkLst>
          <pc:docMk/>
          <pc:sldMk cId="488768465" sldId="434"/>
        </pc:sldMkLst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7T01:42:02.799" v="7109" actId="20577"/>
        <pc:sldMkLst>
          <pc:docMk/>
          <pc:sldMk cId="614940156" sldId="436"/>
        </pc:sldMkLst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1:42:02.799" v="7109" actId="20577"/>
          <ac:spMkLst>
            <pc:docMk/>
            <pc:sldMk cId="614940156" sldId="436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1:36:12.085" v="6908" actId="20577"/>
          <ac:spMkLst>
            <pc:docMk/>
            <pc:sldMk cId="614940156" sldId="436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1" creationId="{825A1EA7-C8F5-E1F1-FC57-E4F1FE778ED1}"/>
          </ac:spMkLst>
        </pc:spChg>
        <pc:graphicFrameChg chg="mod modGraphic">
          <ac:chgData name="Se-Hoon Han" userId="70263205-781f-48f0-a54e-469ab1d08896" providerId="ADAL" clId="{99A44C34-6DB4-4D28-A878-85AFF787F6DF}" dt="2026-10-23T07:39:46.235" v="4764"/>
          <ac:graphicFrameMkLst>
            <pc:docMk/>
            <pc:sldMk cId="614940156" sldId="436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7T01:48:36.667" v="7763" actId="20577"/>
        <pc:sldMkLst>
          <pc:docMk/>
          <pc:sldMk cId="614940156" sldId="437"/>
        </pc:sldMkLst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1:48:36.667" v="7763" actId="20577"/>
          <ac:spMkLst>
            <pc:docMk/>
            <pc:sldMk cId="614940156" sldId="43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1:45:20.643" v="7441" actId="20577"/>
          <ac:spMkLst>
            <pc:docMk/>
            <pc:sldMk cId="614940156" sldId="43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1" creationId="{825A1EA7-C8F5-E1F1-FC57-E4F1FE778ED1}"/>
          </ac:spMkLst>
        </pc:spChg>
      </pc:sldChg>
      <pc:sldChg chg="addSp delSp modSp mod">
        <pc:chgData name="Se-Hoon Han" userId="70263205-781f-48f0-a54e-469ab1d08896" providerId="ADAL" clId="{99A44C34-6DB4-4D28-A878-85AFF787F6DF}" dt="2026-10-27T01:53:27.702" v="8005" actId="20577"/>
        <pc:sldMkLst>
          <pc:docMk/>
          <pc:sldMk cId="614940156" sldId="438"/>
        </pc:sldMkLst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7T01:50:30.512" v="7900" actId="20577"/>
          <ac:spMkLst>
            <pc:docMk/>
            <pc:sldMk cId="614940156" sldId="438"/>
            <ac:spMk id="8" creationId="{ABF4674E-9223-31E3-9C4E-FE8C39BF3D03}"/>
          </ac:spMkLst>
        </pc:spChg>
        <pc:spChg chg="add 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9" creationId="{360C5747-CF92-616A-A101-37B11D9CECC7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1" creationId="{825A1EA7-C8F5-E1F1-FC57-E4F1FE778ED1}"/>
          </ac:spMkLst>
        </pc:spChg>
        <pc:spChg chg="add mod">
          <ac:chgData name="Se-Hoon Han" userId="70263205-781f-48f0-a54e-469ab1d08896" providerId="ADAL" clId="{99A44C34-6DB4-4D28-A878-85AFF787F6DF}" dt="2026-10-27T01:53:27.702" v="8005" actId="20577"/>
          <ac:spMkLst>
            <pc:docMk/>
            <pc:sldMk cId="614940156" sldId="438"/>
            <ac:spMk id="13" creationId="{AB8AD063-1277-368B-D922-FDC36709273B}"/>
          </ac:spMkLst>
        </pc:spChg>
      </pc:sldChg>
      <pc:sldChg chg="modSp mod">
        <pc:chgData name="Se-Hoon Han" userId="70263205-781f-48f0-a54e-469ab1d08896" providerId="ADAL" clId="{99A44C34-6DB4-4D28-A878-85AFF787F6DF}" dt="2026-10-23T07:30:36.231" v="4669" actId="2711"/>
        <pc:sldMkLst>
          <pc:docMk/>
          <pc:sldMk cId="488768465" sldId="439"/>
        </pc:sldMkLst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4" creationId="{FDE9E218-F110-DA3C-DE6D-4687D76AC90D}"/>
          </ac:spMkLst>
        </pc:spChg>
      </pc:sldChg>
      <pc:sldChg chg="addSp delSp modSp mod">
        <pc:chgData name="Se-Hoon Han" userId="70263205-781f-48f0-a54e-469ab1d08896" providerId="ADAL" clId="{99A44C34-6DB4-4D28-A878-85AFF787F6DF}" dt="2026-10-27T01:56:21.465" v="8041" actId="20577"/>
        <pc:sldMkLst>
          <pc:docMk/>
          <pc:sldMk cId="614940156" sldId="441"/>
        </pc:sldMkLst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8:08:37.743" v="6587" actId="20577"/>
          <ac:spMkLst>
            <pc:docMk/>
            <pc:sldMk cId="614940156" sldId="441"/>
            <ac:spMk id="11" creationId="{825A1EA7-C8F5-E1F1-FC57-E4F1FE778ED1}"/>
          </ac:spMkLst>
        </pc:spChg>
        <pc:graphicFrameChg chg="add mod modGraphic">
          <ac:chgData name="Se-Hoon Han" userId="70263205-781f-48f0-a54e-469ab1d08896" providerId="ADAL" clId="{99A44C34-6DB4-4D28-A878-85AFF787F6DF}" dt="2026-10-27T01:56:21.465" v="8041" actId="20577"/>
          <ac:graphicFrameMkLst>
            <pc:docMk/>
            <pc:sldMk cId="614940156" sldId="441"/>
            <ac:graphicFrameMk id="23" creationId="{127FBFCC-F30B-562D-460A-C06D2413FAF6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7:45:04.315" v="5205" actId="20577"/>
        <pc:sldMkLst>
          <pc:docMk/>
          <pc:sldMk cId="614940156" sldId="444"/>
        </pc:sldMkLst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5:04.315" v="5205" actId="20577"/>
          <ac:spMkLst>
            <pc:docMk/>
            <pc:sldMk cId="614940156" sldId="444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44:22.363" v="5146" actId="20577"/>
          <ac:spMkLst>
            <pc:docMk/>
            <pc:sldMk cId="614940156" sldId="444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1" creationId="{825A1EA7-C8F5-E1F1-FC57-E4F1FE778ED1}"/>
          </ac:spMkLst>
        </pc:spChg>
      </pc:sldChg>
      <pc:sldChg chg="modSp mod">
        <pc:chgData name="Se-Hoon Han" userId="70263205-781f-48f0-a54e-469ab1d08896" providerId="ADAL" clId="{99A44C34-6DB4-4D28-A878-85AFF787F6DF}" dt="2026-10-27T04:54:18.868" v="9085" actId="20577"/>
        <pc:sldMkLst>
          <pc:docMk/>
          <pc:sldMk cId="614940156" sldId="447"/>
        </pc:sldMkLst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4:54:18.868" v="9085" actId="20577"/>
          <ac:spMkLst>
            <pc:docMk/>
            <pc:sldMk cId="614940156" sldId="44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4:49:31.808" v="8435" actId="20577"/>
          <ac:spMkLst>
            <pc:docMk/>
            <pc:sldMk cId="614940156" sldId="44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1" creationId="{825A1EA7-C8F5-E1F1-FC57-E4F1FE778ED1}"/>
          </ac:spMkLst>
        </pc:spChg>
      </pc:sldChg>
      <pc:sldChg chg="modSp mod">
        <pc:chgData name="Se-Hoon Han" userId="70263205-781f-48f0-a54e-469ab1d08896" providerId="ADAL" clId="{99A44C34-6DB4-4D28-A878-85AFF787F6DF}" dt="2026-10-23T07:31:17.634" v="4675" actId="2711"/>
        <pc:sldMkLst>
          <pc:docMk/>
          <pc:sldMk cId="488768465" sldId="451"/>
        </pc:sldMkLst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7T05:07:27.354" v="9355" actId="20577"/>
        <pc:sldMkLst>
          <pc:docMk/>
          <pc:sldMk cId="614940156" sldId="452"/>
        </pc:sldMkLst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5:07:27.354" v="9355" actId="20577"/>
          <ac:spMkLst>
            <pc:docMk/>
            <pc:sldMk cId="614940156" sldId="452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11" creationId="{825A1EA7-C8F5-E1F1-FC57-E4F1FE778ED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27/10/2026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27/10/2026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19일~23일 (5일)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9월 중간재무제표 분석적 검토 및 statutory(K-GAAP) 조정 검토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유의적 거래 분석 (Taxotere 사업양도, 구조조정, 리스)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군포 물류센터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 기말 재고실사 입회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표본 품목 독립적 재실사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 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2027년 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~16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계정과목별 실증절차 수행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6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177069"/>
              </p:ext>
            </p:extLst>
          </p:nvPr>
        </p:nvGraphicFramePr>
        <p:xfrm>
          <a:off x="301752" y="2011680"/>
          <a:ext cx="11585448" cy="4038120"/>
        </p:xfrm>
        <a:graphic>
          <a:graphicData uri="http://schemas.openxmlformats.org/drawingml/2006/table">
            <a:tbl>
              <a:tblPr firstRow="1" bandRow="1"/>
              <a:tblGrid>
                <a:gridCol w="182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7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59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TOC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매출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Recon(SD–FI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(*12</a:t>
                      </a:r>
                      <a:r>
                        <a:rPr lang="ko-KR" altLang="en-US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 후속검토 필요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12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월분은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기말감사 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생성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주문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출고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11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 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64B4B"/>
                        </a:solidFill>
                        <a:effectLst/>
                        <a:uLnTx/>
                        <a:uFillTx/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대손충당금 설정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(Credit report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검토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반품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 재고 입고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 증빙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입고확인서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 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재고수량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(SAP-WMS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 지출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급여대장 작성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 취득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구매요청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자산등록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증빙 일부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575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설정분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이월 잔액 3,545백만원 중 근거가 확인되는 금액은 9/30 퇴사자분 645백만원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(*10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지급 완료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뿐이며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나머지 2,901백만원은 대상자가 확인되지 않으므로 환입이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신규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설정분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총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970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대해서는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 이후 퇴직예정자 2인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총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808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사직서를 확인하였으며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퇴직 합의 완료되어 충당부채 인식요건(일반기업회계기준 제14장)을 충족함.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당기 신규 설정은 총 4건(970백만원)으로 퇴직예정자 2인 산정액(808백만원)과 162백만원 차이가 있으므로, 실제 구조조정 계획과 대응되지 않는 설정액은 기말 결산 시 환입이 필요함.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8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1752" y="2587752"/>
            <a:ext cx="5650992" cy="3314448"/>
          </a:xfrm>
        </p:spPr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전기말 구조조정 충당부채 잔액은 170억원(이 중 90억원은 2025.12.31 퇴사자 19명분)이며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구조조정은 2026년에도 계속될 예정이었음(계획 총 29명).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 구조조정 충당부채의 변동내역은 다음과 같음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816847"/>
              </p:ext>
            </p:extLst>
          </p:nvPr>
        </p:nvGraphicFramePr>
        <p:xfrm>
          <a:off x="658888" y="3384810"/>
          <a:ext cx="5289548" cy="2602992"/>
        </p:xfrm>
        <a:graphic>
          <a:graphicData uri="http://schemas.openxmlformats.org/drawingml/2006/table">
            <a:tbl>
              <a:tblPr firstRow="1" bandRow="1"/>
              <a:tblGrid>
                <a:gridCol w="1833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18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당기 변동내역 (백만원)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기초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설정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환입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9월말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전기 설정분 ('25 Drive 2 등)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3,545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Key market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Procurement</a:t>
                      </a: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transformation</a:t>
                      </a:r>
                      <a:endParaRPr lang="ko-KR" altLang="en-US" sz="11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DD&amp;O footprint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Argos 추가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합계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970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4,515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임차기간 연장은 다시 회계추정의 변경에 해당함(일반기업회계기준 제5장). 복구자산과 임차시설물의 잔여 장부금액은 2027년 5월(사용기간)까지 전진적으로 상각해야 함. 복구자산의 경우 2026년 7월부터 반영 시 9월말 약 23백만원, 2026년 약 33백만원 과대상각으로 금액 영향은 미미함.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복구충당부채는 기말 결산 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재측정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필요함. 기존 추정(3,780.6㎡ × 242,000원 = 915백만원, 할인율 2%, 복구시점 2026.12)을 최신 공사 견적과 복구시점(2027.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5)으로 갱신 필요함. 복구시점 연기에 따른 할인금액 변동 효과는 약 9백만원으로 미미할 것으로 예상됨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보증금은 1년 이내 반환 예정이므로 유동자산으로 재분류해야 함(1,181백만원).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원상복구 공사 견적(최신), 감가상각기간 변경 반영된 감가상각대장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9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전기에 반포 사무실 시설물의 내용연수를 잔여 임차기간(2026년 11월까지)으로 단축하여 감가상각비 340백만원이 추가 인식됨.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6.15 회사가 임차기간 연장권을 행사하였고, 임대인이 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6.28 회신하여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5.31까지 임차기간 연장을 승인함(보증금·임대료 동일).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임대인은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1자로 신규 임차인과 계약하였으므로, 회사는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5.31까지 원상복구 공사를 마치고 반환해야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잔액 현황: 복구충당부채 912백만원, 복구자산 취득원가 844백만원, 감가상각누계액 815백만원(*K-GAAP 기준 57개월분, 장부금액 29백만원, 감가상각대장 상 2026년 11월까지 상각 예정), 임차보증금 1,181백만원(*비유동자산 분류).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10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관세조사 (FY2020~2025)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심사 대상기간 2020.12.1~2025.11.30, 실시기간 2025.12.1~2026.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인천세관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으로 관세조사가 완료되었으며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전기말에는 조사 진행 중이어서 우발부채로 주석 공시하였음.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7.23 관세조사 결과 통지서 상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조사기간 중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보정·수정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19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백만원(관세 13, 부가세 14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가산세 39백만원)으로 종결되었음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법규 위반 사항은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쟁점별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추납액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Rezurock 로열티 과세가격 가산누락(부가세 109, 가산세 22), 임상의약품 R&amp;D 단가 오류(관세 12, 부가세 24, 가산세 14), Commercial TP(부가세 7, 가산세 3).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4월 수정신고와 납부를 완료함.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0C5747-CF92-616A-A101-37B11D9CEC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B8AD063-1277-368B-D922-FDC36709273B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결과가 확정되고 납부가 완료되었으므로 9월말 관련 부채 잔액은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관세와 가산세 5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백만원이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PL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법인세비용(Other tax based on income)으로 인식되었으며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법인세 성격이 아니므로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세금과공과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등 판매관리비로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재분류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141백만원은 매입세액 공제 대상이므로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BS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부가세대급금으로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처리되었고 실제로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신고 시 공제되어 특이사항 없음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</a:t>
            </a:r>
            <a:r>
              <a:rPr lang="en-US" altLang="ko-KR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axotere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사업양도에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따른 재고 이전 및 정산</a:t>
            </a:r>
          </a:p>
        </p:txBody>
      </p:sp>
      <p:graphicFrame>
        <p:nvGraphicFramePr>
          <p:cNvPr id="23" name="Table 90">
            <a:extLst>
              <a:ext uri="{FF2B5EF4-FFF2-40B4-BE49-F238E27FC236}">
                <a16:creationId xmlns:a16="http://schemas.microsoft.com/office/drawing/2014/main" id="{127FBFCC-F30B-562D-460A-C06D2413FA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919300"/>
              </p:ext>
            </p:extLst>
          </p:nvPr>
        </p:nvGraphicFramePr>
        <p:xfrm>
          <a:off x="301752" y="1965960"/>
          <a:ext cx="11585444" cy="4178832"/>
        </p:xfrm>
        <a:graphic>
          <a:graphicData uri="http://schemas.openxmlformats.org/drawingml/2006/table">
            <a:tbl>
              <a:tblPr firstRow="1" bandRow="1"/>
              <a:tblGrid>
                <a:gridCol w="2568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3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2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9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36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8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#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 (근거·시점)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금액 (백만원)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회사 처리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감사인 판단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후속 조치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매각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APA, 2026.5.29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(7월 수량 true-up 32,530 → 22,592개)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처분손실 1,372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장부가 3,247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처분대가 1,875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0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영업외비용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투자자산처분손실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사업양도 자산의 처분이므로 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영업외손익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분류 적정. 처분 대상은 투자자산이 아닌 재고자산이므로 계정과목을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재고자산처분손실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등으로 변경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계정과목 재분류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(손익 영향 없음)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재매입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잠정가, 2026.5.29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 3,718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(EUR 48.52 / 155.44)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 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표준원가와의 차이는 원가차이 자본화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6~8월 전량 판매되었으므로 BS의 원가차이 잔액은 매출원가로 비용 처리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원가차이 매출원가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보령 재매입분 외부판매</a:t>
                      </a:r>
                      <a:endParaRPr lang="ko-KR" altLang="en-US" sz="1100" b="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5.1.1·5.3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(6~8월 판매)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 3,642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*정산 credit 368 </a:t>
                      </a:r>
                      <a:r>
                        <a:rPr lang="en-US" altLang="ko-KR" sz="10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예상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(3,718(</a:t>
                      </a:r>
                      <a:r>
                        <a:rPr lang="ko-KR" altLang="en-US" sz="10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− 3,351(</a:t>
                      </a:r>
                      <a:r>
                        <a:rPr lang="ko-KR" altLang="en-US" sz="10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92%))</a:t>
                      </a:r>
                      <a:endParaRPr lang="ko-KR" altLang="en-US" sz="10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매출: SAK 명의 판매, 신용위험 부담 → 매출 총액 인식 수용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정산: 본사 확인 결과 6~9월 과도기 정산은 SWI–보령 간 진행(SAK 해당 없음). 다만 Closing 재고분은 SAK가 보령에 잠정가를 지급했으므로(TDA 5.2.2) 정산 credit 귀속 여부 확인 필요, 귀속 시 매출원가 조정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그룹 확인(Closing 재고분)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정산금액 귀속 시 매출원가 조정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싱가포르 매입분 외부판매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이후, Sanofi-Aventis Singapore에서 TP로 매입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7~9월 매입 19,540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(126,868개)</a:t>
                      </a:r>
                      <a:endParaRPr lang="en-US" altLang="ko-KR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판매 약 5,800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SAK가 TP로 매입하여 가격·재고 위험 부담 → 매출 총액 인식 적정. 본사 확인 결과 SAK는 기존과 동일하게 SAS에서 매입(보령과의 매각·재매입은 SWI가 수행)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종결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잔여재고 보령 이전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*TDA 13.3.2(d), 2026.10.19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(MA 이전 완료, 91,992개)</a:t>
                      </a:r>
                      <a:endParaRPr lang="ko-KR" altLang="en-US" sz="1000" b="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이전가액 약 15,270~17,350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재고원가 약 12,960~14,740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(이익 약 2,310~2,600 예상)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4분기 처리 예정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이후 매입한 상품을 TDA 가격으로 SAK가 보령에 직접 판매(현지 법인 간 청구, FCA) → 매출·매출원가 인식 적정(1번 처분 거래와 구분). 그룹의 이익 재청구(TP 조정) 여부 확인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인보이스·인도 증빙·환율, 그룹 재청구 여부 확인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은 국내 판매를 중단하고 2026년 8월 품목허가를 자진 취하함. 2026년 매출은 없고 반품 16,166개(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순매출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−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37.2백만원)만 있음.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재고 7,214개(1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백만원)는 모두 반품재고로 판매할 수 없으므로 전액 평가손실 또는 폐기 대상임.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향후 시장 반품은 50백만원에 미달할 것으로 추정됨: 1~9월 반품 추세(월평균 약 1,800개 × 개당 매출차감 약 2,300원 = 월 약 4백만원)가 6~12개월 더 이어진다고 가정함. 이는 중요한 금액에 해당하지는 않으며, 기말 반품충당부채 반영 여부를 확인 예정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13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기타 글로벌 양도 품목 –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는 글로벌에서 Esteve에 양도되었고, 국내 판권은 KIMS Pharma에 부여될 예정임. 국내 허가 이전은 2027년 4월 예정이며, 회사는 아직 본사 가이드를 받지 못함.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Taxotere 본사 확인 결과(과도기 정산은 그룹(SWI)과 매수인 간 진행, SAK는 기존 관계사 매입 유지)를 고려하면 Caprelsa도 같은 구조일 가능성이 높아 과도기 판매분에 대한 SAK의 정산 부담은 없을 것으로 예상됨.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국내 허가 이전 시(2027년 4월 예정) 잔여재고를 매수인에게 이전하는 거래는 SAK 손익에 영향을 미치므로(Taxotere 10월 이전과 유사) 이전 조건 확인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APA, Closing 기준일, TDA, 본사 회계 가이드.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(역삼 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주식기준보상 (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지배기업(Sanofi)이 SAK 등 그룹사 임직원의 본사 주식 구매 시, 참고가격(직전 20거래일 평균 시초가) 대비 20% 할인과 무상주를 제공하고 있으며, 관련 보상원가는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19.3, 19.A60(사례 14): 종속기업은 보상원가 전액을 비용으로 인식하고 같은 금액을 지배기업의 자본 출자(자본잉여금)로 처리함. 근무조건이 없어 청약일에 전액 인식(19.12)하며, 법인세는 손금불산입.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그룹은 연결재무제표에서 청약일에 IFRS 2 비용을 인식하고 있으나(Form 20-F 2025 Note B.24.2, D.15.3), SAK 장부에는 배분되지 않아 관련 회계처리가 없음.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 공시 단가 기준 보상원가는 373백만원(2024), 303백만원(2025), 185백만원(2026, 2025 단가비율 적용 추정)으로, 2026년분은 CTM 미만이고 2024·2025년분은 각 연도 중요성에 미달함. 자본 총계에 미치는 영향은 없음.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그룹의 회계처리 정책 및 계열사별 내역을 확인하여 누적 금액효과를 검토 예정임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14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및 주식기준보상(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년 상반기에 본사 사무실을 이전할 예정이며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사무실에 대한 임차계약을 체결하였음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5.29 계약 체결: 역삼 센터필드 WEST 12층. 임차기간 2026.12.16~2033.12.15(84개월, 최소 의무사용기간). 월 임대료 240백만원, 고정관리비 61백만원이며 매년 3%와 소비자물가상승률 중 높은 쪽으로 인상됨.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 2,402백만원: 30%(721백만원)는 6월 지급 완료, 잔금 1,681백만원은 2026.12.15 지급 예정.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약정사항 주석 공시: 운용리스의 미래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최소리스료를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기간별로 공시 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제13장). 연 3% 최저 인상률 가정 적용 및 부가세 제외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입주공사비는 유형자산과 비용으로 적절히 구분해야 하며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시설을 설치 완료하는 시점(2027년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이후 예상)에 복구충당부채를 새로 인식해야 함. 렌트프리 조항이 없으므로 공사기간 임대료는 비용 처리 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 재고실사 – 12월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(실사 이후 물류 이동시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roll-forward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절차 수행)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 – 1월 초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z="1300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16</a:t>
            </a:fld>
            <a:endParaRPr lang="en-GB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Taxotere: 10.19 보령 이전 인보이스·인도 증빙, Closing 재고분 정산 credit 귀속 및 이전 이익 재청구 여부 – 그룹 확인 후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APA,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Closing일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TDA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본사 가이드 등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그룹에서 입수되면 제공 요청</a:t>
            </a: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Action share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관련 그룹 회계처리 현황 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귀속분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계산내역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시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원상복구 공사 견적(최신)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시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매출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샘플 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매입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고정자산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(FA)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취득 프로세스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WTT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Props1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1693</TotalTime>
  <Words>1996</Words>
  <Application>Microsoft Office PowerPoint</Application>
  <PresentationFormat>와이드스크린</PresentationFormat>
  <Paragraphs>282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Aptos</vt:lpstr>
      <vt:lpstr>Arial</vt:lpstr>
      <vt:lpstr>Calibri</vt:lpstr>
      <vt:lpstr>Office 테마</vt:lpstr>
      <vt:lpstr>사노피-아벤티스 코리아</vt:lpstr>
      <vt:lpstr>목차</vt:lpstr>
      <vt:lpstr>감사 일정</vt:lpstr>
      <vt:lpstr>사노피-아벤티스 코리아</vt:lpstr>
      <vt:lpstr>프로세스별 WTT 및 TOC 진행결과</vt:lpstr>
      <vt:lpstr>사노피-아벤티스 코리아</vt:lpstr>
      <vt:lpstr>전기 기말감사 발견사항 Follow-up</vt:lpstr>
      <vt:lpstr>사노피-아벤티스 코리아</vt:lpstr>
      <vt:lpstr>사노피-아벤티스 코리아</vt:lpstr>
      <vt:lpstr>사노피-아벤티스 코리아</vt:lpstr>
      <vt:lpstr>당기 중간감사 발견사항</vt:lpstr>
      <vt:lpstr>사노피-아벤티스 코리아</vt:lpstr>
      <vt:lpstr>사노피-아벤티스 코리아</vt:lpstr>
      <vt:lpstr>사노피-아벤티스 코리아</vt:lpstr>
      <vt:lpstr>미결사항 및 기말감사 준비사항</vt:lpstr>
      <vt:lpstr>사노피-아벤티스 코리아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2026-10-27T05:07:34Z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